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Calibri (MS) Bold" charset="1" panose="020F0702030404030204"/>
      <p:regular r:id="rId25"/>
    </p:embeddedFont>
    <p:embeddedFont>
      <p:font typeface="Cambria Bold" charset="1" panose="02040803050406030204"/>
      <p:regular r:id="rId26"/>
    </p:embeddedFont>
    <p:embeddedFont>
      <p:font typeface="Calibri (MS) Italics" charset="1" panose="020F05020202040A0204"/>
      <p:regular r:id="rId27"/>
    </p:embeddedFont>
    <p:embeddedFont>
      <p:font typeface="Calibri (MS)" charset="1" panose="020F0502020204030204"/>
      <p:regular r:id="rId28"/>
    </p:embeddedFont>
    <p:embeddedFont>
      <p:font typeface="Cambria" charset="1" panose="02040503050406030204"/>
      <p:regular r:id="rId29"/>
    </p:embeddedFont>
    <p:embeddedFont>
      <p:font typeface="DM Sans" charset="1" panose="0000000000000000000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embeddings/oleObject1.bin" Type="http://schemas.openxmlformats.org/officeDocument/2006/relationships/oleObjec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14127480" y="-3017520"/>
            <a:ext cx="8915400" cy="8915400"/>
            <a:chOff x="0" y="0"/>
            <a:chExt cx="11887200" cy="11887200"/>
          </a:xfrm>
        </p:grpSpPr>
        <p:sp>
          <p:nvSpPr>
            <p:cNvPr name="Freeform 3" id="3"/>
            <p:cNvSpPr/>
            <p:nvPr/>
          </p:nvSpPr>
          <p:spPr>
            <a:xfrm flipH="false" flipV="false" rot="0">
              <a:off x="0" y="0"/>
              <a:ext cx="11887200" cy="11887200"/>
            </a:xfrm>
            <a:custGeom>
              <a:avLst/>
              <a:gdLst/>
              <a:ahLst/>
              <a:cxnLst/>
              <a:rect r="r" b="b" t="t" l="l"/>
              <a:pathLst>
                <a:path h="11887200" w="11887200">
                  <a:moveTo>
                    <a:pt x="0" y="5943600"/>
                  </a:moveTo>
                  <a:cubicBezTo>
                    <a:pt x="0" y="2661031"/>
                    <a:pt x="2661031" y="0"/>
                    <a:pt x="5943600" y="0"/>
                  </a:cubicBezTo>
                  <a:cubicBezTo>
                    <a:pt x="9226169" y="0"/>
                    <a:pt x="11887200" y="2661031"/>
                    <a:pt x="11887200" y="5943600"/>
                  </a:cubicBezTo>
                  <a:cubicBezTo>
                    <a:pt x="11887200" y="9226169"/>
                    <a:pt x="9226169" y="11887200"/>
                    <a:pt x="5943600" y="11887200"/>
                  </a:cubicBezTo>
                  <a:cubicBezTo>
                    <a:pt x="2661031" y="11887200"/>
                    <a:pt x="0" y="9226169"/>
                    <a:pt x="0" y="5943600"/>
                  </a:cubicBezTo>
                  <a:close/>
                </a:path>
              </a:pathLst>
            </a:custGeom>
            <a:solidFill>
              <a:srgbClr val="263172"/>
            </a:solidFill>
          </p:spPr>
        </p:sp>
      </p:grpSp>
      <p:grpSp>
        <p:nvGrpSpPr>
          <p:cNvPr name="Group 4" id="4"/>
          <p:cNvGrpSpPr/>
          <p:nvPr/>
        </p:nvGrpSpPr>
        <p:grpSpPr>
          <a:xfrm rot="0">
            <a:off x="15910560" y="6309360"/>
            <a:ext cx="4937760" cy="4937760"/>
            <a:chOff x="0" y="0"/>
            <a:chExt cx="6583680" cy="6583680"/>
          </a:xfrm>
        </p:grpSpPr>
        <p:sp>
          <p:nvSpPr>
            <p:cNvPr name="Freeform 5" id="5"/>
            <p:cNvSpPr/>
            <p:nvPr/>
          </p:nvSpPr>
          <p:spPr>
            <a:xfrm flipH="false" flipV="false" rot="0">
              <a:off x="0" y="0"/>
              <a:ext cx="6583680" cy="6583680"/>
            </a:xfrm>
            <a:custGeom>
              <a:avLst/>
              <a:gdLst/>
              <a:ahLst/>
              <a:cxnLst/>
              <a:rect r="r" b="b" t="t" l="l"/>
              <a:pathLst>
                <a:path h="6583680" w="6583680">
                  <a:moveTo>
                    <a:pt x="0" y="3291840"/>
                  </a:moveTo>
                  <a:cubicBezTo>
                    <a:pt x="0" y="1473835"/>
                    <a:pt x="1473835" y="0"/>
                    <a:pt x="3291840" y="0"/>
                  </a:cubicBezTo>
                  <a:cubicBezTo>
                    <a:pt x="5109845" y="0"/>
                    <a:pt x="6583680" y="1473835"/>
                    <a:pt x="6583680" y="3291840"/>
                  </a:cubicBezTo>
                  <a:cubicBezTo>
                    <a:pt x="6583680" y="5109845"/>
                    <a:pt x="5109845" y="6583680"/>
                    <a:pt x="3291840" y="6583680"/>
                  </a:cubicBezTo>
                  <a:cubicBezTo>
                    <a:pt x="1473835" y="6583680"/>
                    <a:pt x="0" y="5109845"/>
                    <a:pt x="0" y="3291840"/>
                  </a:cubicBezTo>
                  <a:close/>
                </a:path>
              </a:pathLst>
            </a:custGeom>
            <a:solidFill>
              <a:srgbClr val="263172"/>
            </a:solidFill>
          </p:spPr>
        </p:sp>
      </p:grpSp>
      <p:grpSp>
        <p:nvGrpSpPr>
          <p:cNvPr name="Group 6" id="6"/>
          <p:cNvGrpSpPr/>
          <p:nvPr/>
        </p:nvGrpSpPr>
        <p:grpSpPr>
          <a:xfrm rot="0">
            <a:off x="960120" y="1165860"/>
            <a:ext cx="10972800" cy="548640"/>
            <a:chOff x="0" y="0"/>
            <a:chExt cx="14630400" cy="731520"/>
          </a:xfrm>
        </p:grpSpPr>
        <p:sp>
          <p:nvSpPr>
            <p:cNvPr name="Freeform 7" id="7"/>
            <p:cNvSpPr/>
            <p:nvPr/>
          </p:nvSpPr>
          <p:spPr>
            <a:xfrm flipH="false" flipV="false" rot="0">
              <a:off x="0" y="0"/>
              <a:ext cx="14630400" cy="731520"/>
            </a:xfrm>
            <a:custGeom>
              <a:avLst/>
              <a:gdLst/>
              <a:ahLst/>
              <a:cxnLst/>
              <a:rect r="r" b="b" t="t" l="l"/>
              <a:pathLst>
                <a:path h="731520" w="14630400">
                  <a:moveTo>
                    <a:pt x="0" y="0"/>
                  </a:moveTo>
                  <a:lnTo>
                    <a:pt x="14630400" y="0"/>
                  </a:lnTo>
                  <a:lnTo>
                    <a:pt x="14630400" y="731520"/>
                  </a:lnTo>
                  <a:lnTo>
                    <a:pt x="0" y="731520"/>
                  </a:lnTo>
                  <a:close/>
                </a:path>
              </a:pathLst>
            </a:custGeom>
            <a:blipFill>
              <a:blip r:embed="rId2">
                <a:alphaModFix amt="0"/>
              </a:blip>
              <a:stretch>
                <a:fillRect l="0" t="-339700" r="0" b="-339700"/>
              </a:stretch>
            </a:blipFill>
          </p:spPr>
        </p:sp>
        <p:sp>
          <p:nvSpPr>
            <p:cNvPr name="TextBox 8" id="8"/>
            <p:cNvSpPr txBox="true"/>
            <p:nvPr/>
          </p:nvSpPr>
          <p:spPr>
            <a:xfrm>
              <a:off x="0" y="-47625"/>
              <a:ext cx="14630400" cy="779145"/>
            </a:xfrm>
            <a:prstGeom prst="rect">
              <a:avLst/>
            </a:prstGeom>
          </p:spPr>
          <p:txBody>
            <a:bodyPr anchor="ctr" rtlCol="false" tIns="0" lIns="0" bIns="0" rIns="0"/>
            <a:lstStyle/>
            <a:p>
              <a:pPr algn="l">
                <a:lnSpc>
                  <a:spcPts val="2340"/>
                </a:lnSpc>
              </a:pPr>
              <a:r>
                <a:rPr lang="en-US" b="true" sz="1950" spc="449">
                  <a:solidFill>
                    <a:srgbClr val="CADCFC"/>
                  </a:solidFill>
                  <a:latin typeface="Calibri (MS) Bold"/>
                  <a:ea typeface="Calibri (MS) Bold"/>
                  <a:cs typeface="Calibri (MS) Bold"/>
                  <a:sym typeface="Calibri (MS) Bold"/>
                </a:rPr>
                <a:t>DISSERTATION INTRODUCTION</a:t>
              </a:r>
            </a:p>
          </p:txBody>
        </p:sp>
      </p:grpSp>
      <p:grpSp>
        <p:nvGrpSpPr>
          <p:cNvPr name="Group 9" id="9"/>
          <p:cNvGrpSpPr/>
          <p:nvPr/>
        </p:nvGrpSpPr>
        <p:grpSpPr>
          <a:xfrm rot="0">
            <a:off x="811485" y="776525"/>
            <a:ext cx="13030200" cy="7033692"/>
            <a:chOff x="0" y="0"/>
            <a:chExt cx="17373600" cy="9378255"/>
          </a:xfrm>
        </p:grpSpPr>
        <p:sp>
          <p:nvSpPr>
            <p:cNvPr name="Freeform 10" id="10"/>
            <p:cNvSpPr/>
            <p:nvPr/>
          </p:nvSpPr>
          <p:spPr>
            <a:xfrm flipH="false" flipV="false" rot="0">
              <a:off x="0" y="0"/>
              <a:ext cx="17373600" cy="9378255"/>
            </a:xfrm>
            <a:custGeom>
              <a:avLst/>
              <a:gdLst/>
              <a:ahLst/>
              <a:cxnLst/>
              <a:rect r="r" b="b" t="t" l="l"/>
              <a:pathLst>
                <a:path h="9378255" w="17373600">
                  <a:moveTo>
                    <a:pt x="0" y="0"/>
                  </a:moveTo>
                  <a:lnTo>
                    <a:pt x="17373600" y="0"/>
                  </a:lnTo>
                  <a:lnTo>
                    <a:pt x="17373600" y="9378255"/>
                  </a:lnTo>
                  <a:lnTo>
                    <a:pt x="0" y="9378255"/>
                  </a:lnTo>
                  <a:close/>
                </a:path>
              </a:pathLst>
            </a:custGeom>
            <a:blipFill>
              <a:blip r:embed="rId2">
                <a:alphaModFix amt="0"/>
              </a:blip>
              <a:stretch>
                <a:fillRect l="0" t="-6846" r="0" b="34652"/>
              </a:stretch>
            </a:blipFill>
          </p:spPr>
        </p:sp>
        <p:sp>
          <p:nvSpPr>
            <p:cNvPr name="TextBox 11" id="11"/>
            <p:cNvSpPr txBox="true"/>
            <p:nvPr/>
          </p:nvSpPr>
          <p:spPr>
            <a:xfrm>
              <a:off x="0" y="19050"/>
              <a:ext cx="17373600" cy="9359205"/>
            </a:xfrm>
            <a:prstGeom prst="rect">
              <a:avLst/>
            </a:prstGeom>
          </p:spPr>
          <p:txBody>
            <a:bodyPr anchor="ctr" rtlCol="false" tIns="0" lIns="0" bIns="0" rIns="0"/>
            <a:lstStyle/>
            <a:p>
              <a:pPr algn="l">
                <a:lnSpc>
                  <a:spcPts val="6900"/>
                </a:lnSpc>
              </a:pPr>
              <a:r>
                <a:rPr lang="en-US" sz="6000" b="true">
                  <a:solidFill>
                    <a:srgbClr val="FFFFFF"/>
                  </a:solidFill>
                  <a:latin typeface="Cambria Bold"/>
                  <a:ea typeface="Cambria Bold"/>
                  <a:cs typeface="Cambria Bold"/>
                  <a:sym typeface="Cambria Bold"/>
                </a:rPr>
                <a:t>Hallucination Across</a:t>
              </a:r>
            </a:p>
            <a:p>
              <a:pPr algn="l">
                <a:lnSpc>
                  <a:spcPts val="6900"/>
                </a:lnSpc>
              </a:pPr>
              <a:r>
                <a:rPr lang="en-US" sz="6000" b="true">
                  <a:solidFill>
                    <a:srgbClr val="FFFFFF"/>
                  </a:solidFill>
                  <a:latin typeface="Cambria Bold"/>
                  <a:ea typeface="Cambria Bold"/>
                  <a:cs typeface="Cambria Bold"/>
                  <a:sym typeface="Cambria Bold"/>
                </a:rPr>
                <a:t>various Retrieval </a:t>
              </a:r>
            </a:p>
            <a:p>
              <a:pPr algn="l">
                <a:lnSpc>
                  <a:spcPts val="6900"/>
                </a:lnSpc>
              </a:pPr>
              <a:r>
                <a:rPr lang="en-US" sz="6000" b="true">
                  <a:solidFill>
                    <a:srgbClr val="FFFFFF"/>
                  </a:solidFill>
                  <a:latin typeface="Cambria Bold"/>
                  <a:ea typeface="Cambria Bold"/>
                  <a:cs typeface="Cambria Bold"/>
                  <a:sym typeface="Cambria Bold"/>
                </a:rPr>
                <a:t>Augmented Generation </a:t>
              </a:r>
            </a:p>
            <a:p>
              <a:pPr algn="l">
                <a:lnSpc>
                  <a:spcPts val="6900"/>
                </a:lnSpc>
              </a:pPr>
              <a:r>
                <a:rPr lang="en-US" sz="6000" b="true">
                  <a:solidFill>
                    <a:srgbClr val="FFFFFF"/>
                  </a:solidFill>
                  <a:latin typeface="Cambria Bold"/>
                  <a:ea typeface="Cambria Bold"/>
                  <a:cs typeface="Cambria Bold"/>
                  <a:sym typeface="Cambria Bold"/>
                </a:rPr>
                <a:t>(RAG) Strategies</a:t>
              </a:r>
            </a:p>
          </p:txBody>
        </p:sp>
      </p:grpSp>
      <p:grpSp>
        <p:nvGrpSpPr>
          <p:cNvPr name="Group 12" id="12"/>
          <p:cNvGrpSpPr/>
          <p:nvPr/>
        </p:nvGrpSpPr>
        <p:grpSpPr>
          <a:xfrm rot="0">
            <a:off x="960120" y="6240780"/>
            <a:ext cx="11384280" cy="960120"/>
            <a:chOff x="0" y="0"/>
            <a:chExt cx="15179040" cy="1280160"/>
          </a:xfrm>
        </p:grpSpPr>
        <p:sp>
          <p:nvSpPr>
            <p:cNvPr name="Freeform 13" id="13"/>
            <p:cNvSpPr/>
            <p:nvPr/>
          </p:nvSpPr>
          <p:spPr>
            <a:xfrm flipH="false" flipV="false" rot="0">
              <a:off x="0" y="0"/>
              <a:ext cx="15179039" cy="1280160"/>
            </a:xfrm>
            <a:custGeom>
              <a:avLst/>
              <a:gdLst/>
              <a:ahLst/>
              <a:cxnLst/>
              <a:rect r="r" b="b" t="t" l="l"/>
              <a:pathLst>
                <a:path h="1280160" w="15179039">
                  <a:moveTo>
                    <a:pt x="0" y="0"/>
                  </a:moveTo>
                  <a:lnTo>
                    <a:pt x="15179039" y="0"/>
                  </a:lnTo>
                  <a:lnTo>
                    <a:pt x="15179039" y="1280160"/>
                  </a:lnTo>
                  <a:lnTo>
                    <a:pt x="0" y="1280160"/>
                  </a:lnTo>
                  <a:close/>
                </a:path>
              </a:pathLst>
            </a:custGeom>
            <a:blipFill>
              <a:blip r:embed="rId2">
                <a:alphaModFix amt="0"/>
              </a:blip>
              <a:stretch>
                <a:fillRect l="0" t="-181036" r="0" b="-181036"/>
              </a:stretch>
            </a:blipFill>
          </p:spPr>
        </p:sp>
        <p:sp>
          <p:nvSpPr>
            <p:cNvPr name="TextBox 14" id="14"/>
            <p:cNvSpPr txBox="true"/>
            <p:nvPr/>
          </p:nvSpPr>
          <p:spPr>
            <a:xfrm>
              <a:off x="0" y="-38100"/>
              <a:ext cx="15179040" cy="1318260"/>
            </a:xfrm>
            <a:prstGeom prst="rect">
              <a:avLst/>
            </a:prstGeom>
          </p:spPr>
          <p:txBody>
            <a:bodyPr anchor="ctr" rtlCol="false" tIns="0" lIns="0" bIns="0" rIns="0"/>
            <a:lstStyle/>
            <a:p>
              <a:pPr algn="l">
                <a:lnSpc>
                  <a:spcPts val="2879"/>
                </a:lnSpc>
              </a:pPr>
              <a:r>
                <a:rPr lang="en-US" sz="2400" i="true">
                  <a:solidFill>
                    <a:srgbClr val="CADCFC"/>
                  </a:solidFill>
                  <a:latin typeface="Calibri (MS) Italics"/>
                  <a:ea typeface="Calibri (MS) Italics"/>
                  <a:cs typeface="Calibri (MS) Italics"/>
                  <a:sym typeface="Calibri (MS) Italics"/>
                </a:rPr>
                <a:t>A comparative study on how different RAG architecture influence LLM hallucinations.</a:t>
              </a:r>
            </a:p>
          </p:txBody>
        </p:sp>
      </p:grpSp>
      <p:sp>
        <p:nvSpPr>
          <p:cNvPr name="AutoShape 15" id="15"/>
          <p:cNvSpPr/>
          <p:nvPr/>
        </p:nvSpPr>
        <p:spPr>
          <a:xfrm rot="53400">
            <a:off x="936127" y="7598093"/>
            <a:ext cx="3065516" cy="0"/>
          </a:xfrm>
          <a:prstGeom prst="line">
            <a:avLst/>
          </a:prstGeom>
          <a:ln cap="rnd" w="28575">
            <a:solidFill>
              <a:srgbClr val="E8664F"/>
            </a:solidFill>
            <a:prstDash val="solid"/>
            <a:headEnd type="none" len="sm" w="sm"/>
            <a:tailEnd type="none" len="sm" w="sm"/>
          </a:ln>
        </p:spPr>
      </p:sp>
      <p:grpSp>
        <p:nvGrpSpPr>
          <p:cNvPr name="Group 16" id="16"/>
          <p:cNvGrpSpPr/>
          <p:nvPr/>
        </p:nvGrpSpPr>
        <p:grpSpPr>
          <a:xfrm rot="0">
            <a:off x="960120" y="7886700"/>
            <a:ext cx="8183880" cy="891540"/>
            <a:chOff x="0" y="0"/>
            <a:chExt cx="16459200" cy="1793041"/>
          </a:xfrm>
        </p:grpSpPr>
        <p:sp>
          <p:nvSpPr>
            <p:cNvPr name="Freeform 17" id="17"/>
            <p:cNvSpPr/>
            <p:nvPr/>
          </p:nvSpPr>
          <p:spPr>
            <a:xfrm flipH="false" flipV="false" rot="0">
              <a:off x="0" y="0"/>
              <a:ext cx="16459200" cy="1793041"/>
            </a:xfrm>
            <a:custGeom>
              <a:avLst/>
              <a:gdLst/>
              <a:ahLst/>
              <a:cxnLst/>
              <a:rect r="r" b="b" t="t" l="l"/>
              <a:pathLst>
                <a:path h="1793041" w="16459200">
                  <a:moveTo>
                    <a:pt x="0" y="0"/>
                  </a:moveTo>
                  <a:lnTo>
                    <a:pt x="16459200" y="0"/>
                  </a:lnTo>
                  <a:lnTo>
                    <a:pt x="16459200" y="1793041"/>
                  </a:lnTo>
                  <a:lnTo>
                    <a:pt x="0" y="1793041"/>
                  </a:lnTo>
                  <a:close/>
                </a:path>
              </a:pathLst>
            </a:custGeom>
            <a:blipFill>
              <a:blip r:embed="rId2">
                <a:alphaModFix amt="0"/>
              </a:blip>
              <a:stretch>
                <a:fillRect l="0" t="-158463" r="0" b="-99261"/>
              </a:stretch>
            </a:blipFill>
          </p:spPr>
        </p:sp>
        <p:sp>
          <p:nvSpPr>
            <p:cNvPr name="TextBox 18" id="18"/>
            <p:cNvSpPr txBox="true"/>
            <p:nvPr/>
          </p:nvSpPr>
          <p:spPr>
            <a:xfrm>
              <a:off x="0" y="-66675"/>
              <a:ext cx="16459200" cy="1859716"/>
            </a:xfrm>
            <a:prstGeom prst="rect">
              <a:avLst/>
            </a:prstGeom>
          </p:spPr>
          <p:txBody>
            <a:bodyPr anchor="ctr" rtlCol="false" tIns="0" lIns="0" bIns="0" rIns="0"/>
            <a:lstStyle/>
            <a:p>
              <a:pPr algn="l">
                <a:lnSpc>
                  <a:spcPts val="4079"/>
                </a:lnSpc>
              </a:pPr>
              <a:r>
                <a:rPr lang="en-US" sz="3399">
                  <a:solidFill>
                    <a:srgbClr val="9AA6D9"/>
                  </a:solidFill>
                  <a:latin typeface="Calibri (MS)"/>
                  <a:ea typeface="Calibri (MS)"/>
                  <a:cs typeface="Calibri (MS)"/>
                  <a:sym typeface="Calibri (MS)"/>
                </a:rPr>
                <a:t>ANKIT MAHTO - 13454</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33986" y="-951547"/>
            <a:ext cx="5051985" cy="3960494"/>
            <a:chOff x="0" y="0"/>
            <a:chExt cx="6735980" cy="5280658"/>
          </a:xfrm>
        </p:grpSpPr>
        <p:sp>
          <p:nvSpPr>
            <p:cNvPr name="Freeform 3" id="3"/>
            <p:cNvSpPr/>
            <p:nvPr/>
          </p:nvSpPr>
          <p:spPr>
            <a:xfrm flipH="false" flipV="false" rot="0">
              <a:off x="0" y="0"/>
              <a:ext cx="6735980" cy="5280658"/>
            </a:xfrm>
            <a:custGeom>
              <a:avLst/>
              <a:gdLst/>
              <a:ahLst/>
              <a:cxnLst/>
              <a:rect r="r" b="b" t="t" l="l"/>
              <a:pathLst>
                <a:path h="5280658" w="6735980">
                  <a:moveTo>
                    <a:pt x="0" y="0"/>
                  </a:moveTo>
                  <a:lnTo>
                    <a:pt x="6735980" y="0"/>
                  </a:lnTo>
                  <a:lnTo>
                    <a:pt x="6735980" y="5280658"/>
                  </a:lnTo>
                  <a:lnTo>
                    <a:pt x="0" y="5280658"/>
                  </a:lnTo>
                  <a:close/>
                </a:path>
              </a:pathLst>
            </a:custGeom>
            <a:blipFill>
              <a:blip r:embed="rId2">
                <a:alphaModFix amt="0"/>
              </a:blip>
              <a:stretch>
                <a:fillRect l="0" t="-43594" r="-117197" b="35625"/>
              </a:stretch>
            </a:blipFill>
          </p:spPr>
        </p:sp>
        <p:sp>
          <p:nvSpPr>
            <p:cNvPr name="TextBox 4" id="4"/>
            <p:cNvSpPr txBox="true"/>
            <p:nvPr/>
          </p:nvSpPr>
          <p:spPr>
            <a:xfrm>
              <a:off x="0" y="-9525"/>
              <a:ext cx="6735980" cy="5290183"/>
            </a:xfrm>
            <a:prstGeom prst="rect">
              <a:avLst/>
            </a:prstGeom>
          </p:spPr>
          <p:txBody>
            <a:bodyPr anchor="ctr" rtlCol="false" tIns="0" lIns="0" bIns="0" rIns="0"/>
            <a:lstStyle/>
            <a:p>
              <a:pPr algn="l">
                <a:lnSpc>
                  <a:spcPts val="6479"/>
                </a:lnSpc>
              </a:pPr>
              <a:r>
                <a:rPr lang="en-US" sz="5399" b="true">
                  <a:solidFill>
                    <a:srgbClr val="1E2761"/>
                  </a:solidFill>
                  <a:latin typeface="Cambria Bold"/>
                  <a:ea typeface="Cambria Bold"/>
                  <a:cs typeface="Cambria Bold"/>
                  <a:sym typeface="Cambria Bold"/>
                </a:rPr>
                <a:t>INTRODUCTION</a:t>
              </a:r>
            </a:p>
          </p:txBody>
        </p:sp>
      </p:grpSp>
      <p:grpSp>
        <p:nvGrpSpPr>
          <p:cNvPr name="Group 5" id="5"/>
          <p:cNvGrpSpPr/>
          <p:nvPr/>
        </p:nvGrpSpPr>
        <p:grpSpPr>
          <a:xfrm rot="0">
            <a:off x="502831" y="1797241"/>
            <a:ext cx="11085934" cy="8119427"/>
            <a:chOff x="0" y="0"/>
            <a:chExt cx="14781246" cy="10825902"/>
          </a:xfrm>
        </p:grpSpPr>
        <p:grpSp>
          <p:nvGrpSpPr>
            <p:cNvPr name="Group 6" id="6"/>
            <p:cNvGrpSpPr/>
            <p:nvPr/>
          </p:nvGrpSpPr>
          <p:grpSpPr>
            <a:xfrm rot="0">
              <a:off x="0" y="16600"/>
              <a:ext cx="14781246" cy="10166884"/>
              <a:chOff x="0" y="0"/>
              <a:chExt cx="14781246" cy="10166884"/>
            </a:xfrm>
          </p:grpSpPr>
          <p:sp>
            <p:nvSpPr>
              <p:cNvPr name="Freeform 7" id="7"/>
              <p:cNvSpPr/>
              <p:nvPr/>
            </p:nvSpPr>
            <p:spPr>
              <a:xfrm flipH="false" flipV="false" rot="0">
                <a:off x="0" y="0"/>
                <a:ext cx="14781247" cy="10166884"/>
              </a:xfrm>
              <a:custGeom>
                <a:avLst/>
                <a:gdLst/>
                <a:ahLst/>
                <a:cxnLst/>
                <a:rect r="r" b="b" t="t" l="l"/>
                <a:pathLst>
                  <a:path h="10166884" w="14781247">
                    <a:moveTo>
                      <a:pt x="0" y="271117"/>
                    </a:moveTo>
                    <a:cubicBezTo>
                      <a:pt x="0" y="121438"/>
                      <a:pt x="189165" y="0"/>
                      <a:pt x="422321" y="0"/>
                    </a:cubicBezTo>
                    <a:lnTo>
                      <a:pt x="14358925" y="0"/>
                    </a:lnTo>
                    <a:cubicBezTo>
                      <a:pt x="14592081" y="0"/>
                      <a:pt x="14781247" y="121438"/>
                      <a:pt x="14781247" y="271117"/>
                    </a:cubicBezTo>
                    <a:lnTo>
                      <a:pt x="14781247" y="9895767"/>
                    </a:lnTo>
                    <a:cubicBezTo>
                      <a:pt x="14781247" y="10045446"/>
                      <a:pt x="14592081" y="10166884"/>
                      <a:pt x="14358925" y="10166884"/>
                    </a:cubicBezTo>
                    <a:lnTo>
                      <a:pt x="422321" y="10166884"/>
                    </a:lnTo>
                    <a:cubicBezTo>
                      <a:pt x="189165" y="10166884"/>
                      <a:pt x="0" y="10045447"/>
                      <a:pt x="0" y="9895767"/>
                    </a:cubicBezTo>
                    <a:close/>
                  </a:path>
                </a:pathLst>
              </a:custGeom>
              <a:solidFill>
                <a:srgbClr val="1E2761"/>
              </a:solidFill>
            </p:spPr>
          </p:sp>
        </p:grpSp>
        <p:grpSp>
          <p:nvGrpSpPr>
            <p:cNvPr name="Group 8" id="8"/>
            <p:cNvGrpSpPr/>
            <p:nvPr/>
          </p:nvGrpSpPr>
          <p:grpSpPr>
            <a:xfrm rot="0">
              <a:off x="251255" y="0"/>
              <a:ext cx="13690298" cy="10825902"/>
              <a:chOff x="0" y="0"/>
              <a:chExt cx="13690298" cy="10825902"/>
            </a:xfrm>
          </p:grpSpPr>
          <p:sp>
            <p:nvSpPr>
              <p:cNvPr name="Freeform 9" id="9"/>
              <p:cNvSpPr/>
              <p:nvPr/>
            </p:nvSpPr>
            <p:spPr>
              <a:xfrm flipH="false" flipV="false" rot="0">
                <a:off x="0" y="0"/>
                <a:ext cx="13690298" cy="10825903"/>
              </a:xfrm>
              <a:custGeom>
                <a:avLst/>
                <a:gdLst/>
                <a:ahLst/>
                <a:cxnLst/>
                <a:rect r="r" b="b" t="t" l="l"/>
                <a:pathLst>
                  <a:path h="10825903" w="13690298">
                    <a:moveTo>
                      <a:pt x="0" y="0"/>
                    </a:moveTo>
                    <a:lnTo>
                      <a:pt x="13690298" y="0"/>
                    </a:lnTo>
                    <a:lnTo>
                      <a:pt x="13690298" y="10825903"/>
                    </a:lnTo>
                    <a:lnTo>
                      <a:pt x="0" y="10825903"/>
                    </a:lnTo>
                    <a:close/>
                  </a:path>
                </a:pathLst>
              </a:custGeom>
              <a:blipFill>
                <a:blip r:embed="rId2">
                  <a:alphaModFix amt="0"/>
                </a:blip>
                <a:stretch>
                  <a:fillRect l="-995" t="0" r="49578" b="74660"/>
                </a:stretch>
              </a:blipFill>
            </p:spPr>
          </p:sp>
          <p:sp>
            <p:nvSpPr>
              <p:cNvPr name="TextBox 10" id="10"/>
              <p:cNvSpPr txBox="true"/>
              <p:nvPr/>
            </p:nvSpPr>
            <p:spPr>
              <a:xfrm>
                <a:off x="0" y="-57150"/>
                <a:ext cx="13690298" cy="10883052"/>
              </a:xfrm>
              <a:prstGeom prst="rect">
                <a:avLst/>
              </a:prstGeom>
            </p:spPr>
            <p:txBody>
              <a:bodyPr anchor="ctr" rtlCol="false" tIns="0" lIns="0" bIns="0" rIns="0"/>
              <a:lstStyle/>
              <a:p>
                <a:pPr algn="l" marL="615310" indent="-307655" lvl="1">
                  <a:lnSpc>
                    <a:spcPts val="3419"/>
                  </a:lnSpc>
                  <a:buFont typeface="Arial"/>
                  <a:buChar char="•"/>
                </a:pPr>
                <a:r>
                  <a:rPr lang="en-US" sz="2849">
                    <a:solidFill>
                      <a:srgbClr val="CADCFC"/>
                    </a:solidFill>
                    <a:latin typeface="Calibri (MS)"/>
                    <a:ea typeface="Calibri (MS)"/>
                    <a:cs typeface="Calibri (MS)"/>
                    <a:sym typeface="Calibri (MS)"/>
                  </a:rPr>
                  <a:t>In modern times, advancement in Artificial intelligence has given birth to large language models have been revolutionary across all aspects of human life.</a:t>
                </a:r>
              </a:p>
              <a:p>
                <a:pPr algn="l" marL="615310" indent="-307655" lvl="1">
                  <a:lnSpc>
                    <a:spcPts val="3419"/>
                  </a:lnSpc>
                  <a:buFont typeface="Arial"/>
                  <a:buChar char="•"/>
                </a:pPr>
                <a:r>
                  <a:rPr lang="en-US" sz="2849">
                    <a:solidFill>
                      <a:srgbClr val="CADCFC"/>
                    </a:solidFill>
                    <a:latin typeface="Calibri (MS)"/>
                    <a:ea typeface="Calibri (MS)"/>
                    <a:cs typeface="Calibri (MS)"/>
                    <a:sym typeface="Calibri (MS)"/>
                  </a:rPr>
                  <a:t>Large language models are being adopted in various fields such as medical, banking, retail, corporate, academia...</a:t>
                </a:r>
              </a:p>
              <a:p>
                <a:pPr algn="l" marL="615310" indent="-307655" lvl="1">
                  <a:lnSpc>
                    <a:spcPts val="3419"/>
                  </a:lnSpc>
                  <a:buFont typeface="Arial"/>
                  <a:buChar char="•"/>
                </a:pPr>
                <a:r>
                  <a:rPr lang="en-US" sz="2849">
                    <a:solidFill>
                      <a:srgbClr val="CADCFC"/>
                    </a:solidFill>
                    <a:latin typeface="Calibri (MS)"/>
                    <a:ea typeface="Calibri (MS)"/>
                    <a:cs typeface="Calibri (MS)"/>
                    <a:sym typeface="Calibri (MS)"/>
                  </a:rPr>
                  <a:t>However, these LLMs have some underlying issues, most notable being LLM hallucinations.</a:t>
                </a:r>
              </a:p>
              <a:p>
                <a:pPr algn="l" marL="615310" indent="-307655" lvl="1">
                  <a:lnSpc>
                    <a:spcPts val="3419"/>
                  </a:lnSpc>
                  <a:buFont typeface="Arial"/>
                  <a:buChar char="•"/>
                </a:pPr>
                <a:r>
                  <a:rPr lang="en-US" sz="2849">
                    <a:solidFill>
                      <a:srgbClr val="CADCFC"/>
                    </a:solidFill>
                    <a:latin typeface="Calibri (MS)"/>
                    <a:ea typeface="Calibri (MS)"/>
                    <a:cs typeface="Calibri (MS)"/>
                    <a:sym typeface="Calibri (MS)"/>
                  </a:rPr>
                  <a:t>This is where RAG comes in, in recent years, RAG has proven to be a great method for mitigating LLM hallucinations along with other problems.</a:t>
                </a:r>
              </a:p>
              <a:p>
                <a:pPr algn="l" marL="615310" indent="-307655" lvl="1">
                  <a:lnSpc>
                    <a:spcPts val="3419"/>
                  </a:lnSpc>
                  <a:buFont typeface="Arial"/>
                  <a:buChar char="•"/>
                </a:pPr>
                <a:r>
                  <a:rPr lang="en-US" sz="2849">
                    <a:solidFill>
                      <a:srgbClr val="CADCFC"/>
                    </a:solidFill>
                    <a:latin typeface="Calibri (MS)"/>
                    <a:ea typeface="Calibri (MS)"/>
                    <a:cs typeface="Calibri (MS)"/>
                    <a:sym typeface="Calibri (MS)"/>
                  </a:rPr>
                  <a:t>This research paper will compare and contrast different architectures of Retrieval-Augmentation Generation to find correseponding hallucination rates in large language models (LLMs).</a:t>
                </a:r>
              </a:p>
              <a:p>
                <a:pPr algn="l" marL="615310" indent="-307655" lvl="1">
                  <a:lnSpc>
                    <a:spcPts val="3419"/>
                  </a:lnSpc>
                  <a:buFont typeface="Arial"/>
                  <a:buChar char="•"/>
                </a:pPr>
                <a:r>
                  <a:rPr lang="en-US" sz="2849">
                    <a:solidFill>
                      <a:srgbClr val="CADCFC"/>
                    </a:solidFill>
                    <a:latin typeface="Calibri (MS)"/>
                    <a:ea typeface="Calibri (MS)"/>
                    <a:cs typeface="Calibri (MS)"/>
                    <a:sym typeface="Calibri (MS)"/>
                  </a:rPr>
                  <a:t>This research paper will be descriptive/exploratory in nature.</a:t>
                </a:r>
              </a:p>
              <a:p>
                <a:pPr algn="l">
                  <a:lnSpc>
                    <a:spcPts val="3419"/>
                  </a:lnSpc>
                </a:pPr>
              </a:p>
            </p:txBody>
          </p:sp>
        </p:grpSp>
      </p:grpSp>
      <p:sp>
        <p:nvSpPr>
          <p:cNvPr name="AutoShape 11" id="11"/>
          <p:cNvSpPr/>
          <p:nvPr/>
        </p:nvSpPr>
        <p:spPr>
          <a:xfrm>
            <a:off x="13430023" y="5094209"/>
            <a:ext cx="4956812" cy="19033"/>
          </a:xfrm>
          <a:prstGeom prst="line">
            <a:avLst/>
          </a:prstGeom>
          <a:ln cap="rnd" w="9525">
            <a:solidFill>
              <a:srgbClr val="445090"/>
            </a:solidFill>
            <a:prstDash val="solid"/>
            <a:headEnd type="none" len="sm" w="sm"/>
            <a:tailEnd type="none" len="sm" w="sm"/>
          </a:ln>
        </p:spPr>
      </p:sp>
      <p:grpSp>
        <p:nvGrpSpPr>
          <p:cNvPr name="Group 12" id="12"/>
          <p:cNvGrpSpPr/>
          <p:nvPr/>
        </p:nvGrpSpPr>
        <p:grpSpPr>
          <a:xfrm rot="0">
            <a:off x="17282160" y="9710928"/>
            <a:ext cx="685800" cy="411480"/>
            <a:chOff x="0" y="0"/>
            <a:chExt cx="914400" cy="548640"/>
          </a:xfrm>
        </p:grpSpPr>
        <p:sp>
          <p:nvSpPr>
            <p:cNvPr name="Freeform 13" id="1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14" id="14"/>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E7591"/>
                  </a:solidFill>
                  <a:latin typeface="Calibri (MS)"/>
                  <a:ea typeface="Calibri (MS)"/>
                  <a:cs typeface="Calibri (MS)"/>
                  <a:sym typeface="Calibri (MS)"/>
                </a:rPr>
                <a:t>2</a:t>
              </a:r>
            </a:p>
          </p:txBody>
        </p:sp>
      </p:grpSp>
      <p:grpSp>
        <p:nvGrpSpPr>
          <p:cNvPr name="Group 15" id="15"/>
          <p:cNvGrpSpPr/>
          <p:nvPr/>
        </p:nvGrpSpPr>
        <p:grpSpPr>
          <a:xfrm rot="0">
            <a:off x="12035790" y="2440260"/>
            <a:ext cx="5246370" cy="5866794"/>
            <a:chOff x="0" y="0"/>
            <a:chExt cx="812800" cy="908920"/>
          </a:xfrm>
        </p:grpSpPr>
        <p:sp>
          <p:nvSpPr>
            <p:cNvPr name="Freeform 16" id="16"/>
            <p:cNvSpPr/>
            <p:nvPr/>
          </p:nvSpPr>
          <p:spPr>
            <a:xfrm flipH="false" flipV="false" rot="0">
              <a:off x="0" y="0"/>
              <a:ext cx="812800" cy="908920"/>
            </a:xfrm>
            <a:custGeom>
              <a:avLst/>
              <a:gdLst/>
              <a:ahLst/>
              <a:cxnLst/>
              <a:rect r="r" b="b" t="t" l="l"/>
              <a:pathLst>
                <a:path h="908920" w="812800">
                  <a:moveTo>
                    <a:pt x="33940" y="0"/>
                  </a:moveTo>
                  <a:lnTo>
                    <a:pt x="778860" y="0"/>
                  </a:lnTo>
                  <a:cubicBezTo>
                    <a:pt x="797604" y="0"/>
                    <a:pt x="812800" y="15196"/>
                    <a:pt x="812800" y="33940"/>
                  </a:cubicBezTo>
                  <a:lnTo>
                    <a:pt x="812800" y="874979"/>
                  </a:lnTo>
                  <a:cubicBezTo>
                    <a:pt x="812800" y="893724"/>
                    <a:pt x="797604" y="908920"/>
                    <a:pt x="778860" y="908920"/>
                  </a:cubicBezTo>
                  <a:lnTo>
                    <a:pt x="33940" y="908920"/>
                  </a:lnTo>
                  <a:cubicBezTo>
                    <a:pt x="15196" y="908920"/>
                    <a:pt x="0" y="893724"/>
                    <a:pt x="0" y="874979"/>
                  </a:cubicBezTo>
                  <a:lnTo>
                    <a:pt x="0" y="33940"/>
                  </a:lnTo>
                  <a:cubicBezTo>
                    <a:pt x="0" y="15196"/>
                    <a:pt x="15196" y="0"/>
                    <a:pt x="33940" y="0"/>
                  </a:cubicBezTo>
                  <a:close/>
                </a:path>
              </a:pathLst>
            </a:custGeom>
            <a:blipFill>
              <a:blip r:embed="rId3"/>
              <a:stretch>
                <a:fillRect l="-34348" t="0" r="-64453" b="0"/>
              </a:stretch>
            </a:blipFill>
          </p:spPr>
        </p:sp>
      </p:grpSp>
      <p:grpSp>
        <p:nvGrpSpPr>
          <p:cNvPr name="Group 17" id="17"/>
          <p:cNvGrpSpPr/>
          <p:nvPr/>
        </p:nvGrpSpPr>
        <p:grpSpPr>
          <a:xfrm rot="0">
            <a:off x="733986" y="1497262"/>
            <a:ext cx="8892642" cy="46196"/>
            <a:chOff x="0" y="0"/>
            <a:chExt cx="1860174" cy="9663"/>
          </a:xfrm>
        </p:grpSpPr>
        <p:sp>
          <p:nvSpPr>
            <p:cNvPr name="Freeform 18" id="18"/>
            <p:cNvSpPr/>
            <p:nvPr/>
          </p:nvSpPr>
          <p:spPr>
            <a:xfrm flipH="false" flipV="false" rot="0">
              <a:off x="0" y="0"/>
              <a:ext cx="1860174" cy="9663"/>
            </a:xfrm>
            <a:custGeom>
              <a:avLst/>
              <a:gdLst/>
              <a:ahLst/>
              <a:cxnLst/>
              <a:rect r="r" b="b" t="t" l="l"/>
              <a:pathLst>
                <a:path h="9663" w="1860174">
                  <a:moveTo>
                    <a:pt x="0" y="4832"/>
                  </a:moveTo>
                  <a:cubicBezTo>
                    <a:pt x="0" y="2163"/>
                    <a:pt x="416308" y="0"/>
                    <a:pt x="930087" y="0"/>
                  </a:cubicBezTo>
                  <a:cubicBezTo>
                    <a:pt x="1443866" y="0"/>
                    <a:pt x="1860174" y="2163"/>
                    <a:pt x="1860174" y="4832"/>
                  </a:cubicBezTo>
                  <a:cubicBezTo>
                    <a:pt x="1860174" y="7501"/>
                    <a:pt x="1443866" y="9663"/>
                    <a:pt x="930087" y="9663"/>
                  </a:cubicBezTo>
                  <a:cubicBezTo>
                    <a:pt x="416308" y="9663"/>
                    <a:pt x="0" y="7501"/>
                    <a:pt x="0" y="4832"/>
                  </a:cubicBezTo>
                  <a:close/>
                </a:path>
              </a:pathLst>
            </a:custGeom>
            <a:solidFill>
              <a:srgbClr val="E8664F"/>
            </a:solid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4F6FC"/>
        </a:solidFill>
      </p:bgPr>
    </p:bg>
    <p:spTree>
      <p:nvGrpSpPr>
        <p:cNvPr id="1" name=""/>
        <p:cNvGrpSpPr/>
        <p:nvPr/>
      </p:nvGrpSpPr>
      <p:grpSpPr>
        <a:xfrm>
          <a:off x="0" y="0"/>
          <a:ext cx="0" cy="0"/>
          <a:chOff x="0" y="0"/>
          <a:chExt cx="0" cy="0"/>
        </a:xfrm>
      </p:grpSpPr>
      <p:grpSp>
        <p:nvGrpSpPr>
          <p:cNvPr name="Group 2" id="2"/>
          <p:cNvGrpSpPr/>
          <p:nvPr/>
        </p:nvGrpSpPr>
        <p:grpSpPr>
          <a:xfrm rot="0">
            <a:off x="1205198" y="1878146"/>
            <a:ext cx="8818267" cy="2979505"/>
            <a:chOff x="0" y="0"/>
            <a:chExt cx="11757690" cy="3972673"/>
          </a:xfrm>
        </p:grpSpPr>
        <p:grpSp>
          <p:nvGrpSpPr>
            <p:cNvPr name="Group 3" id="3"/>
            <p:cNvGrpSpPr/>
            <p:nvPr/>
          </p:nvGrpSpPr>
          <p:grpSpPr>
            <a:xfrm rot="0">
              <a:off x="0" y="0"/>
              <a:ext cx="11704320" cy="2923816"/>
              <a:chOff x="0" y="0"/>
              <a:chExt cx="11704320" cy="2923816"/>
            </a:xfrm>
          </p:grpSpPr>
          <p:sp>
            <p:nvSpPr>
              <p:cNvPr name="Freeform 4" id="4"/>
              <p:cNvSpPr/>
              <p:nvPr/>
            </p:nvSpPr>
            <p:spPr>
              <a:xfrm flipH="false" flipV="false" rot="0">
                <a:off x="0" y="0"/>
                <a:ext cx="11704320" cy="2923816"/>
              </a:xfrm>
              <a:custGeom>
                <a:avLst/>
                <a:gdLst/>
                <a:ahLst/>
                <a:cxnLst/>
                <a:rect r="r" b="b" t="t" l="l"/>
                <a:pathLst>
                  <a:path h="2923816" w="11704320">
                    <a:moveTo>
                      <a:pt x="0" y="0"/>
                    </a:moveTo>
                    <a:lnTo>
                      <a:pt x="11704320" y="0"/>
                    </a:lnTo>
                    <a:lnTo>
                      <a:pt x="11704320" y="2923816"/>
                    </a:lnTo>
                    <a:lnTo>
                      <a:pt x="0" y="2923816"/>
                    </a:lnTo>
                    <a:close/>
                  </a:path>
                </a:pathLst>
              </a:custGeom>
              <a:blipFill>
                <a:blip r:embed="rId2">
                  <a:alphaModFix amt="0"/>
                </a:blip>
                <a:stretch>
                  <a:fillRect l="0" t="-65490" r="0" b="9489"/>
                </a:stretch>
              </a:blipFill>
              <a:ln cap="sq">
                <a:noFill/>
                <a:prstDash val="solid"/>
                <a:miter/>
              </a:ln>
            </p:spPr>
          </p:sp>
          <p:sp>
            <p:nvSpPr>
              <p:cNvPr name="TextBox 5" id="5"/>
              <p:cNvSpPr txBox="true"/>
              <p:nvPr/>
            </p:nvSpPr>
            <p:spPr>
              <a:xfrm>
                <a:off x="0" y="-9525"/>
                <a:ext cx="11704320" cy="2933341"/>
              </a:xfrm>
              <a:prstGeom prst="rect">
                <a:avLst/>
              </a:prstGeom>
            </p:spPr>
            <p:txBody>
              <a:bodyPr anchor="ctr" rtlCol="false" tIns="0" lIns="0" bIns="0" rIns="0"/>
              <a:lstStyle/>
              <a:p>
                <a:pPr algn="l">
                  <a:lnSpc>
                    <a:spcPts val="3599"/>
                  </a:lnSpc>
                </a:pPr>
                <a:r>
                  <a:rPr lang="en-US" sz="2999" b="true">
                    <a:solidFill>
                      <a:srgbClr val="1E2761"/>
                    </a:solidFill>
                    <a:latin typeface="Cambria Bold"/>
                    <a:ea typeface="Cambria Bold"/>
                    <a:cs typeface="Cambria Bold"/>
                    <a:sym typeface="Cambria Bold"/>
                  </a:rPr>
                  <a:t>What is retrieval-augmentation generation (RAG)</a:t>
                </a:r>
              </a:p>
            </p:txBody>
          </p:sp>
        </p:grpSp>
        <p:grpSp>
          <p:nvGrpSpPr>
            <p:cNvPr name="Group 6" id="6"/>
            <p:cNvGrpSpPr/>
            <p:nvPr/>
          </p:nvGrpSpPr>
          <p:grpSpPr>
            <a:xfrm rot="0">
              <a:off x="53370" y="1874959"/>
              <a:ext cx="11704320" cy="2097714"/>
              <a:chOff x="0" y="0"/>
              <a:chExt cx="11704320" cy="2097714"/>
            </a:xfrm>
          </p:grpSpPr>
          <p:sp>
            <p:nvSpPr>
              <p:cNvPr name="Freeform 7" id="7"/>
              <p:cNvSpPr/>
              <p:nvPr/>
            </p:nvSpPr>
            <p:spPr>
              <a:xfrm flipH="false" flipV="false" rot="0">
                <a:off x="0" y="0"/>
                <a:ext cx="11704320" cy="2097714"/>
              </a:xfrm>
              <a:custGeom>
                <a:avLst/>
                <a:gdLst/>
                <a:ahLst/>
                <a:cxnLst/>
                <a:rect r="r" b="b" t="t" l="l"/>
                <a:pathLst>
                  <a:path h="2097714" w="11704320">
                    <a:moveTo>
                      <a:pt x="0" y="0"/>
                    </a:moveTo>
                    <a:lnTo>
                      <a:pt x="11704320" y="0"/>
                    </a:lnTo>
                    <a:lnTo>
                      <a:pt x="11704320" y="2097714"/>
                    </a:lnTo>
                    <a:lnTo>
                      <a:pt x="0" y="2097714"/>
                    </a:lnTo>
                    <a:close/>
                  </a:path>
                </a:pathLst>
              </a:custGeom>
              <a:blipFill>
                <a:blip r:embed="rId2">
                  <a:alphaModFix amt="0"/>
                </a:blip>
                <a:stretch>
                  <a:fillRect l="0" t="-69486" r="0" b="-47949"/>
                </a:stretch>
              </a:blipFill>
              <a:ln cap="sq">
                <a:noFill/>
                <a:prstDash val="solid"/>
                <a:miter/>
              </a:ln>
            </p:spPr>
          </p:sp>
          <p:sp>
            <p:nvSpPr>
              <p:cNvPr name="TextBox 8" id="8"/>
              <p:cNvSpPr txBox="true"/>
              <p:nvPr/>
            </p:nvSpPr>
            <p:spPr>
              <a:xfrm>
                <a:off x="0" y="-76200"/>
                <a:ext cx="11704320" cy="2173914"/>
              </a:xfrm>
              <a:prstGeom prst="rect">
                <a:avLst/>
              </a:prstGeom>
            </p:spPr>
            <p:txBody>
              <a:bodyPr anchor="ctr" rtlCol="false" tIns="0" lIns="0" bIns="0" rIns="0"/>
              <a:lstStyle/>
              <a:p>
                <a:pPr algn="ctr">
                  <a:lnSpc>
                    <a:spcPts val="3423"/>
                  </a:lnSpc>
                </a:pPr>
                <a:r>
                  <a:rPr lang="en-US" sz="2674">
                    <a:solidFill>
                      <a:srgbClr val="2B2B38"/>
                    </a:solidFill>
                    <a:latin typeface="Calibri (MS)"/>
                    <a:ea typeface="Calibri (MS)"/>
                    <a:cs typeface="Calibri (MS)"/>
                    <a:sym typeface="Calibri (MS)"/>
                  </a:rPr>
                  <a:t>RAG is a AI architecture by which a LLM model can access private data.</a:t>
                </a:r>
              </a:p>
              <a:p>
                <a:pPr algn="l">
                  <a:lnSpc>
                    <a:spcPts val="3039"/>
                  </a:lnSpc>
                </a:pPr>
              </a:p>
            </p:txBody>
          </p:sp>
        </p:grpSp>
      </p:grpSp>
      <p:grpSp>
        <p:nvGrpSpPr>
          <p:cNvPr name="Group 9" id="9"/>
          <p:cNvGrpSpPr/>
          <p:nvPr/>
        </p:nvGrpSpPr>
        <p:grpSpPr>
          <a:xfrm rot="0">
            <a:off x="1010817" y="-441796"/>
            <a:ext cx="4811821" cy="3516213"/>
            <a:chOff x="0" y="0"/>
            <a:chExt cx="6415761" cy="4688284"/>
          </a:xfrm>
        </p:grpSpPr>
        <p:sp>
          <p:nvSpPr>
            <p:cNvPr name="Freeform 10" id="10"/>
            <p:cNvSpPr/>
            <p:nvPr/>
          </p:nvSpPr>
          <p:spPr>
            <a:xfrm flipH="false" flipV="false" rot="0">
              <a:off x="0" y="0"/>
              <a:ext cx="6415761" cy="4688284"/>
            </a:xfrm>
            <a:custGeom>
              <a:avLst/>
              <a:gdLst/>
              <a:ahLst/>
              <a:cxnLst/>
              <a:rect r="r" b="b" t="t" l="l"/>
              <a:pathLst>
                <a:path h="4688284" w="6415761">
                  <a:moveTo>
                    <a:pt x="0" y="0"/>
                  </a:moveTo>
                  <a:lnTo>
                    <a:pt x="6415761" y="0"/>
                  </a:lnTo>
                  <a:lnTo>
                    <a:pt x="6415761" y="4688284"/>
                  </a:lnTo>
                  <a:lnTo>
                    <a:pt x="0" y="4688284"/>
                  </a:lnTo>
                  <a:close/>
                </a:path>
              </a:pathLst>
            </a:custGeom>
            <a:blipFill>
              <a:blip r:embed="rId2">
                <a:alphaModFix amt="0"/>
              </a:blip>
              <a:stretch>
                <a:fillRect l="0" t="-49103" r="-128038" b="27492"/>
              </a:stretch>
            </a:blipFill>
          </p:spPr>
        </p:sp>
        <p:sp>
          <p:nvSpPr>
            <p:cNvPr name="TextBox 11" id="11"/>
            <p:cNvSpPr txBox="true"/>
            <p:nvPr/>
          </p:nvSpPr>
          <p:spPr>
            <a:xfrm>
              <a:off x="0" y="-9525"/>
              <a:ext cx="6415761" cy="4697809"/>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BACKGROUND</a:t>
              </a:r>
            </a:p>
          </p:txBody>
        </p:sp>
      </p:grpSp>
      <p:grpSp>
        <p:nvGrpSpPr>
          <p:cNvPr name="Group 12" id="12"/>
          <p:cNvGrpSpPr/>
          <p:nvPr/>
        </p:nvGrpSpPr>
        <p:grpSpPr>
          <a:xfrm rot="0">
            <a:off x="10131229" y="3074418"/>
            <a:ext cx="7948921" cy="4800578"/>
            <a:chOff x="0" y="0"/>
            <a:chExt cx="10598561" cy="6400771"/>
          </a:xfrm>
        </p:grpSpPr>
        <p:grpSp>
          <p:nvGrpSpPr>
            <p:cNvPr name="Group 13" id="13"/>
            <p:cNvGrpSpPr/>
            <p:nvPr/>
          </p:nvGrpSpPr>
          <p:grpSpPr>
            <a:xfrm rot="0">
              <a:off x="0" y="0"/>
              <a:ext cx="10598561" cy="6400771"/>
              <a:chOff x="0" y="0"/>
              <a:chExt cx="14781246" cy="8926812"/>
            </a:xfrm>
          </p:grpSpPr>
          <p:sp>
            <p:nvSpPr>
              <p:cNvPr name="Freeform 14" id="14"/>
              <p:cNvSpPr/>
              <p:nvPr/>
            </p:nvSpPr>
            <p:spPr>
              <a:xfrm flipH="false" flipV="false" rot="0">
                <a:off x="0" y="0"/>
                <a:ext cx="14781247" cy="8926812"/>
              </a:xfrm>
              <a:custGeom>
                <a:avLst/>
                <a:gdLst/>
                <a:ahLst/>
                <a:cxnLst/>
                <a:rect r="r" b="b" t="t" l="l"/>
                <a:pathLst>
                  <a:path h="8926812" w="14781247">
                    <a:moveTo>
                      <a:pt x="0" y="238048"/>
                    </a:moveTo>
                    <a:cubicBezTo>
                      <a:pt x="0" y="106626"/>
                      <a:pt x="189165" y="0"/>
                      <a:pt x="422321" y="0"/>
                    </a:cubicBezTo>
                    <a:lnTo>
                      <a:pt x="14358925" y="0"/>
                    </a:lnTo>
                    <a:cubicBezTo>
                      <a:pt x="14592081" y="0"/>
                      <a:pt x="14781247" y="106626"/>
                      <a:pt x="14781247" y="238048"/>
                    </a:cubicBezTo>
                    <a:lnTo>
                      <a:pt x="14781247" y="8688763"/>
                    </a:lnTo>
                    <a:cubicBezTo>
                      <a:pt x="14781247" y="8820186"/>
                      <a:pt x="14592081" y="8926812"/>
                      <a:pt x="14358925" y="8926812"/>
                    </a:cubicBezTo>
                    <a:lnTo>
                      <a:pt x="422321" y="8926812"/>
                    </a:lnTo>
                    <a:cubicBezTo>
                      <a:pt x="189165" y="8926812"/>
                      <a:pt x="0" y="8820186"/>
                      <a:pt x="0" y="8688763"/>
                    </a:cubicBezTo>
                    <a:close/>
                  </a:path>
                </a:pathLst>
              </a:custGeom>
              <a:solidFill>
                <a:srgbClr val="1E2761"/>
              </a:solidFill>
            </p:spPr>
          </p:sp>
        </p:grpSp>
        <p:sp>
          <p:nvSpPr>
            <p:cNvPr name="Freeform 15" id="15"/>
            <p:cNvSpPr/>
            <p:nvPr/>
          </p:nvSpPr>
          <p:spPr>
            <a:xfrm flipH="false" flipV="false" rot="0">
              <a:off x="292992" y="335079"/>
              <a:ext cx="10012577" cy="5621192"/>
            </a:xfrm>
            <a:custGeom>
              <a:avLst/>
              <a:gdLst/>
              <a:ahLst/>
              <a:cxnLst/>
              <a:rect r="r" b="b" t="t" l="l"/>
              <a:pathLst>
                <a:path h="5621192" w="10012577">
                  <a:moveTo>
                    <a:pt x="0" y="0"/>
                  </a:moveTo>
                  <a:lnTo>
                    <a:pt x="10012577" y="0"/>
                  </a:lnTo>
                  <a:lnTo>
                    <a:pt x="10012577" y="5621192"/>
                  </a:lnTo>
                  <a:lnTo>
                    <a:pt x="0" y="5621192"/>
                  </a:lnTo>
                  <a:lnTo>
                    <a:pt x="0" y="0"/>
                  </a:lnTo>
                  <a:close/>
                </a:path>
              </a:pathLst>
            </a:custGeom>
            <a:blipFill>
              <a:blip r:embed="rId3"/>
              <a:stretch>
                <a:fillRect l="-29082" t="-7100" r="-29032" b="-40399"/>
              </a:stretch>
            </a:blipFill>
          </p:spPr>
        </p:sp>
      </p:grpSp>
      <p:grpSp>
        <p:nvGrpSpPr>
          <p:cNvPr name="Group 16" id="16"/>
          <p:cNvGrpSpPr/>
          <p:nvPr/>
        </p:nvGrpSpPr>
        <p:grpSpPr>
          <a:xfrm rot="0">
            <a:off x="1245226" y="4597473"/>
            <a:ext cx="8778240" cy="4115038"/>
            <a:chOff x="0" y="0"/>
            <a:chExt cx="11704320" cy="5486717"/>
          </a:xfrm>
        </p:grpSpPr>
        <p:grpSp>
          <p:nvGrpSpPr>
            <p:cNvPr name="Group 17" id="17"/>
            <p:cNvGrpSpPr/>
            <p:nvPr/>
          </p:nvGrpSpPr>
          <p:grpSpPr>
            <a:xfrm rot="0">
              <a:off x="0" y="0"/>
              <a:ext cx="11704320" cy="2833554"/>
              <a:chOff x="0" y="0"/>
              <a:chExt cx="11704320" cy="2833554"/>
            </a:xfrm>
          </p:grpSpPr>
          <p:sp>
            <p:nvSpPr>
              <p:cNvPr name="Freeform 18" id="18"/>
              <p:cNvSpPr/>
              <p:nvPr/>
            </p:nvSpPr>
            <p:spPr>
              <a:xfrm flipH="false" flipV="false" rot="0">
                <a:off x="0" y="0"/>
                <a:ext cx="11704320" cy="2833554"/>
              </a:xfrm>
              <a:custGeom>
                <a:avLst/>
                <a:gdLst/>
                <a:ahLst/>
                <a:cxnLst/>
                <a:rect r="r" b="b" t="t" l="l"/>
                <a:pathLst>
                  <a:path h="2833554" w="11704320">
                    <a:moveTo>
                      <a:pt x="0" y="0"/>
                    </a:moveTo>
                    <a:lnTo>
                      <a:pt x="11704320" y="0"/>
                    </a:lnTo>
                    <a:lnTo>
                      <a:pt x="11704320" y="2833554"/>
                    </a:lnTo>
                    <a:lnTo>
                      <a:pt x="0" y="2833554"/>
                    </a:lnTo>
                    <a:close/>
                  </a:path>
                </a:pathLst>
              </a:custGeom>
              <a:blipFill>
                <a:blip r:embed="rId2">
                  <a:alphaModFix amt="0"/>
                </a:blip>
                <a:stretch>
                  <a:fillRect l="0" t="-67577" r="0" b="6606"/>
                </a:stretch>
              </a:blipFill>
            </p:spPr>
          </p:sp>
          <p:sp>
            <p:nvSpPr>
              <p:cNvPr name="TextBox 19" id="19"/>
              <p:cNvSpPr txBox="true"/>
              <p:nvPr/>
            </p:nvSpPr>
            <p:spPr>
              <a:xfrm>
                <a:off x="0" y="-9525"/>
                <a:ext cx="11704320" cy="2843079"/>
              </a:xfrm>
              <a:prstGeom prst="rect">
                <a:avLst/>
              </a:prstGeom>
            </p:spPr>
            <p:txBody>
              <a:bodyPr anchor="ctr" rtlCol="false" tIns="0" lIns="0" bIns="0" rIns="0"/>
              <a:lstStyle/>
              <a:p>
                <a:pPr algn="l">
                  <a:lnSpc>
                    <a:spcPts val="3479"/>
                  </a:lnSpc>
                </a:pPr>
                <a:r>
                  <a:rPr lang="en-US" sz="2899" b="true">
                    <a:solidFill>
                      <a:srgbClr val="1E2761"/>
                    </a:solidFill>
                    <a:latin typeface="Cambria Bold"/>
                    <a:ea typeface="Cambria Bold"/>
                    <a:cs typeface="Cambria Bold"/>
                    <a:sym typeface="Cambria Bold"/>
                  </a:rPr>
                  <a:t>Why do we need RAG?</a:t>
                </a:r>
              </a:p>
            </p:txBody>
          </p:sp>
        </p:grpSp>
        <p:grpSp>
          <p:nvGrpSpPr>
            <p:cNvPr name="Group 20" id="20"/>
            <p:cNvGrpSpPr/>
            <p:nvPr/>
          </p:nvGrpSpPr>
          <p:grpSpPr>
            <a:xfrm rot="0">
              <a:off x="0" y="1918121"/>
              <a:ext cx="11704320" cy="3568596"/>
              <a:chOff x="0" y="0"/>
              <a:chExt cx="11704320" cy="3568596"/>
            </a:xfrm>
          </p:grpSpPr>
          <p:sp>
            <p:nvSpPr>
              <p:cNvPr name="Freeform 21" id="21"/>
              <p:cNvSpPr/>
              <p:nvPr/>
            </p:nvSpPr>
            <p:spPr>
              <a:xfrm flipH="false" flipV="false" rot="0">
                <a:off x="0" y="0"/>
                <a:ext cx="11704320" cy="3568596"/>
              </a:xfrm>
              <a:custGeom>
                <a:avLst/>
                <a:gdLst/>
                <a:ahLst/>
                <a:cxnLst/>
                <a:rect r="r" b="b" t="t" l="l"/>
                <a:pathLst>
                  <a:path h="3568596" w="11704320">
                    <a:moveTo>
                      <a:pt x="0" y="0"/>
                    </a:moveTo>
                    <a:lnTo>
                      <a:pt x="11704320" y="0"/>
                    </a:lnTo>
                    <a:lnTo>
                      <a:pt x="11704320" y="3568596"/>
                    </a:lnTo>
                    <a:lnTo>
                      <a:pt x="0" y="3568596"/>
                    </a:lnTo>
                    <a:close/>
                  </a:path>
                </a:pathLst>
              </a:custGeom>
              <a:blipFill>
                <a:blip r:embed="rId2">
                  <a:alphaModFix amt="0"/>
                </a:blip>
                <a:stretch>
                  <a:fillRect l="0" t="-40846" r="0" b="13031"/>
                </a:stretch>
              </a:blipFill>
            </p:spPr>
          </p:sp>
          <p:sp>
            <p:nvSpPr>
              <p:cNvPr name="TextBox 22" id="22"/>
              <p:cNvSpPr txBox="true"/>
              <p:nvPr/>
            </p:nvSpPr>
            <p:spPr>
              <a:xfrm>
                <a:off x="0" y="-76200"/>
                <a:ext cx="11704320" cy="3644796"/>
              </a:xfrm>
              <a:prstGeom prst="rect">
                <a:avLst/>
              </a:prstGeom>
            </p:spPr>
            <p:txBody>
              <a:bodyPr anchor="ctr" rtlCol="false" tIns="0" lIns="0" bIns="0" rIns="0"/>
              <a:lstStyle/>
              <a:p>
                <a:pPr algn="l" marL="577528" indent="-288764" lvl="1">
                  <a:lnSpc>
                    <a:spcPts val="3423"/>
                  </a:lnSpc>
                  <a:buFont typeface="Arial"/>
                  <a:buChar char="•"/>
                </a:pPr>
                <a:r>
                  <a:rPr lang="en-US" sz="2674">
                    <a:solidFill>
                      <a:srgbClr val="2B2B38"/>
                    </a:solidFill>
                    <a:latin typeface="Calibri (MS)"/>
                    <a:ea typeface="Calibri (MS)"/>
                    <a:cs typeface="Calibri (MS)"/>
                    <a:sym typeface="Calibri (MS)"/>
                  </a:rPr>
                  <a:t>A LLM is pretrained models that predicts the ouput based on the parametric knowledge (pretrained knowledge).</a:t>
                </a:r>
              </a:p>
              <a:p>
                <a:pPr algn="l" marL="577528" indent="-288764" lvl="1">
                  <a:lnSpc>
                    <a:spcPts val="3423"/>
                  </a:lnSpc>
                  <a:buFont typeface="Arial"/>
                  <a:buChar char="•"/>
                </a:pPr>
                <a:r>
                  <a:rPr lang="en-US" sz="2674">
                    <a:solidFill>
                      <a:srgbClr val="2B2B38"/>
                    </a:solidFill>
                    <a:latin typeface="Calibri (MS)"/>
                    <a:ea typeface="Calibri (MS)"/>
                    <a:cs typeface="Calibri (MS)"/>
                    <a:sym typeface="Calibri (MS)"/>
                  </a:rPr>
                  <a:t>A LLM by default doesn’t have access to outside knowledge</a:t>
                </a:r>
              </a:p>
              <a:p>
                <a:pPr algn="l" marL="577528" indent="-288764" lvl="1">
                  <a:lnSpc>
                    <a:spcPts val="3423"/>
                  </a:lnSpc>
                  <a:buFont typeface="Arial"/>
                  <a:buChar char="•"/>
                </a:pPr>
                <a:r>
                  <a:rPr lang="en-US" sz="2674">
                    <a:solidFill>
                      <a:srgbClr val="2B2B38"/>
                    </a:solidFill>
                    <a:latin typeface="Calibri (MS)"/>
                    <a:ea typeface="Calibri (MS)"/>
                    <a:cs typeface="Calibri (MS)"/>
                    <a:sym typeface="Calibri (MS)"/>
                  </a:rPr>
                  <a:t>This leads to several issues, which we will see further</a:t>
                </a:r>
              </a:p>
              <a:p>
                <a:pPr algn="l">
                  <a:lnSpc>
                    <a:spcPts val="3423"/>
                  </a:lnSpc>
                </a:pPr>
              </a:p>
            </p:txBody>
          </p:sp>
        </p:grpSp>
      </p:grpSp>
      <p:grpSp>
        <p:nvGrpSpPr>
          <p:cNvPr name="Group 23" id="23"/>
          <p:cNvGrpSpPr/>
          <p:nvPr/>
        </p:nvGrpSpPr>
        <p:grpSpPr>
          <a:xfrm rot="0">
            <a:off x="325017" y="2655255"/>
            <a:ext cx="685800" cy="2202396"/>
            <a:chOff x="0" y="0"/>
            <a:chExt cx="914400" cy="2936528"/>
          </a:xfrm>
        </p:grpSpPr>
        <p:grpSp>
          <p:nvGrpSpPr>
            <p:cNvPr name="Group 24" id="24"/>
            <p:cNvGrpSpPr/>
            <p:nvPr/>
          </p:nvGrpSpPr>
          <p:grpSpPr>
            <a:xfrm rot="0">
              <a:off x="0" y="0"/>
              <a:ext cx="914400" cy="2936528"/>
              <a:chOff x="0" y="0"/>
              <a:chExt cx="914400" cy="2936528"/>
            </a:xfrm>
          </p:grpSpPr>
          <p:sp>
            <p:nvSpPr>
              <p:cNvPr name="Freeform 25" id="25"/>
              <p:cNvSpPr/>
              <p:nvPr/>
            </p:nvSpPr>
            <p:spPr>
              <a:xfrm flipH="false" flipV="false" rot="0">
                <a:off x="0" y="0"/>
                <a:ext cx="914400" cy="2936528"/>
              </a:xfrm>
              <a:custGeom>
                <a:avLst/>
                <a:gdLst/>
                <a:ahLst/>
                <a:cxnLst/>
                <a:rect r="r" b="b" t="t" l="l"/>
                <a:pathLst>
                  <a:path h="2936528" w="914400">
                    <a:moveTo>
                      <a:pt x="0" y="1468264"/>
                    </a:moveTo>
                    <a:cubicBezTo>
                      <a:pt x="0" y="657456"/>
                      <a:pt x="204724" y="0"/>
                      <a:pt x="457200" y="0"/>
                    </a:cubicBezTo>
                    <a:cubicBezTo>
                      <a:pt x="709676" y="0"/>
                      <a:pt x="914400" y="657456"/>
                      <a:pt x="914400" y="1468264"/>
                    </a:cubicBezTo>
                    <a:cubicBezTo>
                      <a:pt x="914400" y="2279072"/>
                      <a:pt x="709676" y="2936528"/>
                      <a:pt x="457200" y="2936528"/>
                    </a:cubicBezTo>
                    <a:cubicBezTo>
                      <a:pt x="204724" y="2936528"/>
                      <a:pt x="0" y="2279072"/>
                      <a:pt x="0" y="1468264"/>
                    </a:cubicBezTo>
                    <a:close/>
                  </a:path>
                </a:pathLst>
              </a:custGeom>
              <a:solidFill>
                <a:srgbClr val="263172"/>
              </a:solidFill>
            </p:spPr>
          </p:sp>
        </p:grpSp>
        <p:grpSp>
          <p:nvGrpSpPr>
            <p:cNvPr name="Group 26" id="26"/>
            <p:cNvGrpSpPr/>
            <p:nvPr/>
          </p:nvGrpSpPr>
          <p:grpSpPr>
            <a:xfrm rot="0">
              <a:off x="0" y="0"/>
              <a:ext cx="914400" cy="2936528"/>
              <a:chOff x="0" y="0"/>
              <a:chExt cx="914400" cy="2936528"/>
            </a:xfrm>
          </p:grpSpPr>
          <p:sp>
            <p:nvSpPr>
              <p:cNvPr name="Freeform 27" id="27"/>
              <p:cNvSpPr/>
              <p:nvPr/>
            </p:nvSpPr>
            <p:spPr>
              <a:xfrm flipH="false" flipV="false" rot="0">
                <a:off x="0" y="0"/>
                <a:ext cx="914400" cy="2936528"/>
              </a:xfrm>
              <a:custGeom>
                <a:avLst/>
                <a:gdLst/>
                <a:ahLst/>
                <a:cxnLst/>
                <a:rect r="r" b="b" t="t" l="l"/>
                <a:pathLst>
                  <a:path h="2936528" w="914400">
                    <a:moveTo>
                      <a:pt x="457200" y="0"/>
                    </a:moveTo>
                    <a:lnTo>
                      <a:pt x="457200" y="0"/>
                    </a:lnTo>
                    <a:cubicBezTo>
                      <a:pt x="709705" y="0"/>
                      <a:pt x="914400" y="204695"/>
                      <a:pt x="914400" y="457200"/>
                    </a:cubicBezTo>
                    <a:lnTo>
                      <a:pt x="914400" y="2479328"/>
                    </a:lnTo>
                    <a:cubicBezTo>
                      <a:pt x="914400" y="2731832"/>
                      <a:pt x="709705" y="2936528"/>
                      <a:pt x="457200" y="2936528"/>
                    </a:cubicBezTo>
                    <a:lnTo>
                      <a:pt x="457200" y="2936528"/>
                    </a:lnTo>
                    <a:cubicBezTo>
                      <a:pt x="204695" y="2936528"/>
                      <a:pt x="0" y="2731832"/>
                      <a:pt x="0" y="2479328"/>
                    </a:cubicBezTo>
                    <a:lnTo>
                      <a:pt x="0" y="457200"/>
                    </a:lnTo>
                    <a:cubicBezTo>
                      <a:pt x="0" y="204695"/>
                      <a:pt x="204695" y="0"/>
                      <a:pt x="457200" y="0"/>
                    </a:cubicBezTo>
                    <a:close/>
                  </a:path>
                </a:pathLst>
              </a:custGeom>
              <a:solidFill>
                <a:srgbClr val="263172"/>
              </a:solidFill>
            </p:spPr>
          </p:sp>
          <p:sp>
            <p:nvSpPr>
              <p:cNvPr name="TextBox 28" id="28"/>
              <p:cNvSpPr txBox="true"/>
              <p:nvPr/>
            </p:nvSpPr>
            <p:spPr>
              <a:xfrm>
                <a:off x="0" y="-19050"/>
                <a:ext cx="914400" cy="2955578"/>
              </a:xfrm>
              <a:prstGeom prst="rect">
                <a:avLst/>
              </a:prstGeom>
            </p:spPr>
            <p:txBody>
              <a:bodyPr anchor="ctr" rtlCol="false" tIns="0" lIns="0" bIns="0" rIns="0"/>
              <a:lstStyle/>
              <a:p>
                <a:pPr algn="ctr">
                  <a:lnSpc>
                    <a:spcPts val="3600"/>
                  </a:lnSpc>
                </a:pPr>
                <a:r>
                  <a:rPr lang="en-US" b="true" sz="3000">
                    <a:solidFill>
                      <a:srgbClr val="EAEEFB"/>
                    </a:solidFill>
                    <a:latin typeface="Cambria Bold"/>
                    <a:ea typeface="Cambria Bold"/>
                    <a:cs typeface="Cambria Bold"/>
                    <a:sym typeface="Cambria Bold"/>
                  </a:rPr>
                  <a:t>1</a:t>
                </a:r>
              </a:p>
            </p:txBody>
          </p:sp>
        </p:grpSp>
      </p:grpSp>
      <p:grpSp>
        <p:nvGrpSpPr>
          <p:cNvPr name="Group 29" id="29"/>
          <p:cNvGrpSpPr/>
          <p:nvPr/>
        </p:nvGrpSpPr>
        <p:grpSpPr>
          <a:xfrm rot="0">
            <a:off x="325017" y="5363650"/>
            <a:ext cx="685800" cy="2862847"/>
            <a:chOff x="0" y="0"/>
            <a:chExt cx="914400" cy="3817130"/>
          </a:xfrm>
        </p:grpSpPr>
        <p:grpSp>
          <p:nvGrpSpPr>
            <p:cNvPr name="Group 30" id="30"/>
            <p:cNvGrpSpPr/>
            <p:nvPr/>
          </p:nvGrpSpPr>
          <p:grpSpPr>
            <a:xfrm rot="0">
              <a:off x="0" y="0"/>
              <a:ext cx="914400" cy="1773901"/>
              <a:chOff x="0" y="0"/>
              <a:chExt cx="914400" cy="1773901"/>
            </a:xfrm>
          </p:grpSpPr>
          <p:sp>
            <p:nvSpPr>
              <p:cNvPr name="Freeform 31" id="31"/>
              <p:cNvSpPr/>
              <p:nvPr/>
            </p:nvSpPr>
            <p:spPr>
              <a:xfrm flipH="false" flipV="false" rot="0">
                <a:off x="0" y="0"/>
                <a:ext cx="914400" cy="1773901"/>
              </a:xfrm>
              <a:custGeom>
                <a:avLst/>
                <a:gdLst/>
                <a:ahLst/>
                <a:cxnLst/>
                <a:rect r="r" b="b" t="t" l="l"/>
                <a:pathLst>
                  <a:path h="1773901" w="914400">
                    <a:moveTo>
                      <a:pt x="0" y="886951"/>
                    </a:moveTo>
                    <a:cubicBezTo>
                      <a:pt x="0" y="397157"/>
                      <a:pt x="204724" y="0"/>
                      <a:pt x="457200" y="0"/>
                    </a:cubicBezTo>
                    <a:cubicBezTo>
                      <a:pt x="709676" y="0"/>
                      <a:pt x="914400" y="397157"/>
                      <a:pt x="914400" y="886951"/>
                    </a:cubicBezTo>
                    <a:cubicBezTo>
                      <a:pt x="914400" y="1376745"/>
                      <a:pt x="709676" y="1773901"/>
                      <a:pt x="457200" y="1773901"/>
                    </a:cubicBezTo>
                    <a:cubicBezTo>
                      <a:pt x="204724" y="1773901"/>
                      <a:pt x="0" y="1376745"/>
                      <a:pt x="0" y="886951"/>
                    </a:cubicBezTo>
                    <a:close/>
                  </a:path>
                </a:pathLst>
              </a:custGeom>
              <a:solidFill>
                <a:srgbClr val="263172"/>
              </a:solidFill>
            </p:spPr>
          </p:sp>
        </p:grpSp>
        <p:grpSp>
          <p:nvGrpSpPr>
            <p:cNvPr name="Group 32" id="32"/>
            <p:cNvGrpSpPr/>
            <p:nvPr/>
          </p:nvGrpSpPr>
          <p:grpSpPr>
            <a:xfrm rot="0">
              <a:off x="0" y="0"/>
              <a:ext cx="914400" cy="3817130"/>
              <a:chOff x="0" y="0"/>
              <a:chExt cx="914400" cy="3817130"/>
            </a:xfrm>
          </p:grpSpPr>
          <p:sp>
            <p:nvSpPr>
              <p:cNvPr name="Freeform 33" id="33"/>
              <p:cNvSpPr/>
              <p:nvPr/>
            </p:nvSpPr>
            <p:spPr>
              <a:xfrm flipH="false" flipV="false" rot="0">
                <a:off x="0" y="0"/>
                <a:ext cx="914400" cy="3817130"/>
              </a:xfrm>
              <a:custGeom>
                <a:avLst/>
                <a:gdLst/>
                <a:ahLst/>
                <a:cxnLst/>
                <a:rect r="r" b="b" t="t" l="l"/>
                <a:pathLst>
                  <a:path h="3817130" w="914400">
                    <a:moveTo>
                      <a:pt x="457200" y="0"/>
                    </a:moveTo>
                    <a:lnTo>
                      <a:pt x="457200" y="0"/>
                    </a:lnTo>
                    <a:cubicBezTo>
                      <a:pt x="709705" y="0"/>
                      <a:pt x="914400" y="204695"/>
                      <a:pt x="914400" y="457200"/>
                    </a:cubicBezTo>
                    <a:lnTo>
                      <a:pt x="914400" y="3359930"/>
                    </a:lnTo>
                    <a:cubicBezTo>
                      <a:pt x="914400" y="3481187"/>
                      <a:pt x="866231" y="3597477"/>
                      <a:pt x="780489" y="3683219"/>
                    </a:cubicBezTo>
                    <a:cubicBezTo>
                      <a:pt x="694748" y="3768961"/>
                      <a:pt x="578457" y="3817130"/>
                      <a:pt x="457200" y="3817130"/>
                    </a:cubicBezTo>
                    <a:lnTo>
                      <a:pt x="457200" y="3817130"/>
                    </a:lnTo>
                    <a:cubicBezTo>
                      <a:pt x="204695" y="3817130"/>
                      <a:pt x="0" y="3612435"/>
                      <a:pt x="0" y="3359930"/>
                    </a:cubicBezTo>
                    <a:lnTo>
                      <a:pt x="0" y="457200"/>
                    </a:lnTo>
                    <a:cubicBezTo>
                      <a:pt x="0" y="204695"/>
                      <a:pt x="204695" y="0"/>
                      <a:pt x="457200" y="0"/>
                    </a:cubicBezTo>
                    <a:close/>
                  </a:path>
                </a:pathLst>
              </a:custGeom>
              <a:solidFill>
                <a:srgbClr val="263172"/>
              </a:solidFill>
            </p:spPr>
          </p:sp>
          <p:sp>
            <p:nvSpPr>
              <p:cNvPr name="TextBox 34" id="34"/>
              <p:cNvSpPr txBox="true"/>
              <p:nvPr/>
            </p:nvSpPr>
            <p:spPr>
              <a:xfrm>
                <a:off x="0" y="-19050"/>
                <a:ext cx="914400" cy="3836180"/>
              </a:xfrm>
              <a:prstGeom prst="rect">
                <a:avLst/>
              </a:prstGeom>
            </p:spPr>
            <p:txBody>
              <a:bodyPr anchor="ctr" rtlCol="false" tIns="0" lIns="0" bIns="0" rIns="0"/>
              <a:lstStyle/>
              <a:p>
                <a:pPr algn="ctr">
                  <a:lnSpc>
                    <a:spcPts val="3600"/>
                  </a:lnSpc>
                </a:pPr>
                <a:r>
                  <a:rPr lang="en-US" sz="3000" b="true">
                    <a:solidFill>
                      <a:srgbClr val="EAEEFB"/>
                    </a:solidFill>
                    <a:latin typeface="Cambria Bold"/>
                    <a:ea typeface="Cambria Bold"/>
                    <a:cs typeface="Cambria Bold"/>
                    <a:sym typeface="Cambria Bold"/>
                  </a:rPr>
                  <a:t>2</a:t>
                </a:r>
              </a:p>
            </p:txBody>
          </p:sp>
        </p:grpSp>
      </p:grpSp>
      <p:grpSp>
        <p:nvGrpSpPr>
          <p:cNvPr name="Group 35" id="35"/>
          <p:cNvGrpSpPr/>
          <p:nvPr/>
        </p:nvGrpSpPr>
        <p:grpSpPr>
          <a:xfrm rot="0">
            <a:off x="1010817" y="5363650"/>
            <a:ext cx="8931618" cy="46398"/>
            <a:chOff x="0" y="0"/>
            <a:chExt cx="1860174" cy="9663"/>
          </a:xfrm>
        </p:grpSpPr>
        <p:sp>
          <p:nvSpPr>
            <p:cNvPr name="Freeform 36" id="36"/>
            <p:cNvSpPr/>
            <p:nvPr/>
          </p:nvSpPr>
          <p:spPr>
            <a:xfrm flipH="false" flipV="false" rot="0">
              <a:off x="0" y="0"/>
              <a:ext cx="1860174" cy="9663"/>
            </a:xfrm>
            <a:custGeom>
              <a:avLst/>
              <a:gdLst/>
              <a:ahLst/>
              <a:cxnLst/>
              <a:rect r="r" b="b" t="t" l="l"/>
              <a:pathLst>
                <a:path h="9663" w="1860174">
                  <a:moveTo>
                    <a:pt x="0" y="4832"/>
                  </a:moveTo>
                  <a:cubicBezTo>
                    <a:pt x="0" y="2163"/>
                    <a:pt x="416308" y="0"/>
                    <a:pt x="930087" y="0"/>
                  </a:cubicBezTo>
                  <a:cubicBezTo>
                    <a:pt x="1443866" y="0"/>
                    <a:pt x="1860174" y="2163"/>
                    <a:pt x="1860174" y="4832"/>
                  </a:cubicBezTo>
                  <a:cubicBezTo>
                    <a:pt x="1860174" y="7501"/>
                    <a:pt x="1443866" y="9663"/>
                    <a:pt x="930087" y="9663"/>
                  </a:cubicBezTo>
                  <a:cubicBezTo>
                    <a:pt x="416308" y="9663"/>
                    <a:pt x="0" y="7501"/>
                    <a:pt x="0" y="4832"/>
                  </a:cubicBezTo>
                  <a:close/>
                </a:path>
              </a:pathLst>
            </a:custGeom>
            <a:solidFill>
              <a:srgbClr val="E8664F"/>
            </a:solidFill>
          </p:spPr>
        </p:sp>
      </p:grpSp>
      <p:grpSp>
        <p:nvGrpSpPr>
          <p:cNvPr name="Group 37" id="37"/>
          <p:cNvGrpSpPr/>
          <p:nvPr/>
        </p:nvGrpSpPr>
        <p:grpSpPr>
          <a:xfrm rot="0">
            <a:off x="1010817" y="2683712"/>
            <a:ext cx="8892642" cy="46196"/>
            <a:chOff x="0" y="0"/>
            <a:chExt cx="1860174" cy="9663"/>
          </a:xfrm>
        </p:grpSpPr>
        <p:sp>
          <p:nvSpPr>
            <p:cNvPr name="Freeform 38" id="38"/>
            <p:cNvSpPr/>
            <p:nvPr/>
          </p:nvSpPr>
          <p:spPr>
            <a:xfrm flipH="false" flipV="false" rot="0">
              <a:off x="0" y="0"/>
              <a:ext cx="1860174" cy="9663"/>
            </a:xfrm>
            <a:custGeom>
              <a:avLst/>
              <a:gdLst/>
              <a:ahLst/>
              <a:cxnLst/>
              <a:rect r="r" b="b" t="t" l="l"/>
              <a:pathLst>
                <a:path h="9663" w="1860174">
                  <a:moveTo>
                    <a:pt x="0" y="4832"/>
                  </a:moveTo>
                  <a:cubicBezTo>
                    <a:pt x="0" y="2163"/>
                    <a:pt x="416308" y="0"/>
                    <a:pt x="930087" y="0"/>
                  </a:cubicBezTo>
                  <a:cubicBezTo>
                    <a:pt x="1443866" y="0"/>
                    <a:pt x="1860174" y="2163"/>
                    <a:pt x="1860174" y="4832"/>
                  </a:cubicBezTo>
                  <a:cubicBezTo>
                    <a:pt x="1860174" y="7501"/>
                    <a:pt x="1443866" y="9663"/>
                    <a:pt x="930087" y="9663"/>
                  </a:cubicBezTo>
                  <a:cubicBezTo>
                    <a:pt x="416308" y="9663"/>
                    <a:pt x="0" y="7501"/>
                    <a:pt x="0" y="4832"/>
                  </a:cubicBezTo>
                  <a:close/>
                </a:path>
              </a:pathLst>
            </a:custGeom>
            <a:solidFill>
              <a:srgbClr val="E8664F"/>
            </a:solid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4F6FC"/>
        </a:solidFill>
      </p:bgPr>
    </p:bg>
    <p:spTree>
      <p:nvGrpSpPr>
        <p:cNvPr id="1" name=""/>
        <p:cNvGrpSpPr/>
        <p:nvPr/>
      </p:nvGrpSpPr>
      <p:grpSpPr>
        <a:xfrm>
          <a:off x="0" y="0"/>
          <a:ext cx="0" cy="0"/>
          <a:chOff x="0" y="0"/>
          <a:chExt cx="0" cy="0"/>
        </a:xfrm>
      </p:grpSpPr>
      <p:grpSp>
        <p:nvGrpSpPr>
          <p:cNvPr name="Group 2" id="2"/>
          <p:cNvGrpSpPr/>
          <p:nvPr/>
        </p:nvGrpSpPr>
        <p:grpSpPr>
          <a:xfrm rot="0">
            <a:off x="960120" y="-500598"/>
            <a:ext cx="10972800" cy="3516213"/>
            <a:chOff x="0" y="0"/>
            <a:chExt cx="14630400" cy="4688284"/>
          </a:xfrm>
        </p:grpSpPr>
        <p:sp>
          <p:nvSpPr>
            <p:cNvPr name="Freeform 3" id="3"/>
            <p:cNvSpPr/>
            <p:nvPr/>
          </p:nvSpPr>
          <p:spPr>
            <a:xfrm flipH="false" flipV="false" rot="0">
              <a:off x="0" y="0"/>
              <a:ext cx="14630400" cy="4688284"/>
            </a:xfrm>
            <a:custGeom>
              <a:avLst/>
              <a:gdLst/>
              <a:ahLst/>
              <a:cxnLst/>
              <a:rect r="r" b="b" t="t" l="l"/>
              <a:pathLst>
                <a:path h="4688284" w="14630400">
                  <a:moveTo>
                    <a:pt x="0" y="0"/>
                  </a:moveTo>
                  <a:lnTo>
                    <a:pt x="14630400" y="0"/>
                  </a:lnTo>
                  <a:lnTo>
                    <a:pt x="14630400" y="4688284"/>
                  </a:lnTo>
                  <a:lnTo>
                    <a:pt x="0" y="4688284"/>
                  </a:lnTo>
                  <a:close/>
                </a:path>
              </a:pathLst>
            </a:custGeom>
            <a:blipFill>
              <a:blip r:embed="rId2">
                <a:alphaModFix amt="0"/>
              </a:blip>
              <a:stretch>
                <a:fillRect l="0" t="-49103" r="0" b="27492"/>
              </a:stretch>
            </a:blipFill>
          </p:spPr>
        </p:sp>
        <p:sp>
          <p:nvSpPr>
            <p:cNvPr name="TextBox 4" id="4"/>
            <p:cNvSpPr txBox="true"/>
            <p:nvPr/>
          </p:nvSpPr>
          <p:spPr>
            <a:xfrm>
              <a:off x="0" y="-9525"/>
              <a:ext cx="14630400" cy="4697809"/>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Problems RAG solves with plain LLM</a:t>
              </a:r>
            </a:p>
          </p:txBody>
        </p:sp>
      </p:grpSp>
      <p:grpSp>
        <p:nvGrpSpPr>
          <p:cNvPr name="Group 5" id="5"/>
          <p:cNvGrpSpPr/>
          <p:nvPr/>
        </p:nvGrpSpPr>
        <p:grpSpPr>
          <a:xfrm rot="0">
            <a:off x="950595" y="1503045"/>
            <a:ext cx="12344400" cy="548640"/>
            <a:chOff x="0" y="0"/>
            <a:chExt cx="16459200" cy="731520"/>
          </a:xfrm>
        </p:grpSpPr>
        <p:sp>
          <p:nvSpPr>
            <p:cNvPr name="Freeform 6" id="6"/>
            <p:cNvSpPr/>
            <p:nvPr/>
          </p:nvSpPr>
          <p:spPr>
            <a:xfrm flipH="false" flipV="false" rot="0">
              <a:off x="0" y="0"/>
              <a:ext cx="16459200" cy="731520"/>
            </a:xfrm>
            <a:custGeom>
              <a:avLst/>
              <a:gdLst/>
              <a:ahLst/>
              <a:cxnLst/>
              <a:rect r="r" b="b" t="t" l="l"/>
              <a:pathLst>
                <a:path h="731520" w="16459200">
                  <a:moveTo>
                    <a:pt x="0" y="0"/>
                  </a:moveTo>
                  <a:lnTo>
                    <a:pt x="16459200" y="0"/>
                  </a:lnTo>
                  <a:lnTo>
                    <a:pt x="16459200" y="731520"/>
                  </a:lnTo>
                  <a:lnTo>
                    <a:pt x="0" y="731520"/>
                  </a:lnTo>
                  <a:close/>
                </a:path>
              </a:pathLst>
            </a:custGeom>
            <a:blipFill>
              <a:blip r:embed="rId2">
                <a:alphaModFix amt="0"/>
              </a:blip>
              <a:stretch>
                <a:fillRect l="0" t="-388413" r="0" b="-388413"/>
              </a:stretch>
            </a:blipFill>
          </p:spPr>
        </p:sp>
        <p:sp>
          <p:nvSpPr>
            <p:cNvPr name="TextBox 7" id="7"/>
            <p:cNvSpPr txBox="true"/>
            <p:nvPr/>
          </p:nvSpPr>
          <p:spPr>
            <a:xfrm>
              <a:off x="0" y="-57150"/>
              <a:ext cx="16459200" cy="788670"/>
            </a:xfrm>
            <a:prstGeom prst="rect">
              <a:avLst/>
            </a:prstGeom>
          </p:spPr>
          <p:txBody>
            <a:bodyPr anchor="ctr" rtlCol="false" tIns="0" lIns="0" bIns="0" rIns="0"/>
            <a:lstStyle/>
            <a:p>
              <a:pPr algn="l">
                <a:lnSpc>
                  <a:spcPts val="2700"/>
                </a:lnSpc>
              </a:pPr>
              <a:r>
                <a:rPr lang="en-US" sz="2250" i="true">
                  <a:solidFill>
                    <a:srgbClr val="6E7591"/>
                  </a:solidFill>
                  <a:latin typeface="Calibri (MS) Italics"/>
                  <a:ea typeface="Calibri (MS) Italics"/>
                  <a:cs typeface="Calibri (MS) Italics"/>
                  <a:sym typeface="Calibri (MS) Italics"/>
                </a:rPr>
                <a:t>Common issues encoutered when dealing with vanilla LLM</a:t>
              </a:r>
            </a:p>
          </p:txBody>
        </p:sp>
      </p:grpSp>
      <p:grpSp>
        <p:nvGrpSpPr>
          <p:cNvPr name="Group 8" id="8"/>
          <p:cNvGrpSpPr/>
          <p:nvPr/>
        </p:nvGrpSpPr>
        <p:grpSpPr>
          <a:xfrm rot="0">
            <a:off x="950595" y="2870835"/>
            <a:ext cx="3928110" cy="3996690"/>
            <a:chOff x="0" y="0"/>
            <a:chExt cx="5237480" cy="5328920"/>
          </a:xfrm>
        </p:grpSpPr>
        <p:sp>
          <p:nvSpPr>
            <p:cNvPr name="Freeform 9" id="9"/>
            <p:cNvSpPr/>
            <p:nvPr/>
          </p:nvSpPr>
          <p:spPr>
            <a:xfrm flipH="false" flipV="false" rot="0">
              <a:off x="0" y="0"/>
              <a:ext cx="5237480" cy="5328920"/>
            </a:xfrm>
            <a:custGeom>
              <a:avLst/>
              <a:gdLst/>
              <a:ahLst/>
              <a:cxnLst/>
              <a:rect r="r" b="b" t="t" l="l"/>
              <a:pathLst>
                <a:path h="5328920" w="5237480">
                  <a:moveTo>
                    <a:pt x="0" y="183769"/>
                  </a:moveTo>
                  <a:cubicBezTo>
                    <a:pt x="0" y="82296"/>
                    <a:pt x="82296" y="0"/>
                    <a:pt x="183769" y="0"/>
                  </a:cubicBezTo>
                  <a:lnTo>
                    <a:pt x="5053711" y="0"/>
                  </a:lnTo>
                  <a:cubicBezTo>
                    <a:pt x="5155184" y="0"/>
                    <a:pt x="5237480" y="82296"/>
                    <a:pt x="5237480" y="183769"/>
                  </a:cubicBezTo>
                  <a:lnTo>
                    <a:pt x="5237480" y="5145151"/>
                  </a:lnTo>
                  <a:cubicBezTo>
                    <a:pt x="5237480" y="5246624"/>
                    <a:pt x="5155184" y="5328920"/>
                    <a:pt x="5053711" y="5328920"/>
                  </a:cubicBezTo>
                  <a:lnTo>
                    <a:pt x="183769" y="5328920"/>
                  </a:lnTo>
                  <a:cubicBezTo>
                    <a:pt x="82296" y="5328920"/>
                    <a:pt x="0" y="5246624"/>
                    <a:pt x="0" y="5145151"/>
                  </a:cubicBezTo>
                  <a:close/>
                </a:path>
              </a:pathLst>
            </a:custGeom>
            <a:solidFill>
              <a:srgbClr val="FFFFFF"/>
            </a:solidFill>
            <a:ln w="19050" cap="sq">
              <a:solidFill>
                <a:srgbClr val="DCE2F5"/>
              </a:solidFill>
              <a:prstDash val="solid"/>
              <a:miter/>
            </a:ln>
          </p:spPr>
        </p:sp>
      </p:grpSp>
      <p:grpSp>
        <p:nvGrpSpPr>
          <p:cNvPr name="Group 10" id="10"/>
          <p:cNvGrpSpPr/>
          <p:nvPr/>
        </p:nvGrpSpPr>
        <p:grpSpPr>
          <a:xfrm rot="0">
            <a:off x="1303020" y="3291840"/>
            <a:ext cx="754380" cy="754380"/>
            <a:chOff x="0" y="0"/>
            <a:chExt cx="1005840" cy="1005840"/>
          </a:xfrm>
        </p:grpSpPr>
        <p:sp>
          <p:nvSpPr>
            <p:cNvPr name="Freeform 11" id="11"/>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E2761"/>
            </a:solidFill>
          </p:spPr>
        </p:sp>
      </p:grpSp>
      <p:grpSp>
        <p:nvGrpSpPr>
          <p:cNvPr name="Group 12" id="12"/>
          <p:cNvGrpSpPr/>
          <p:nvPr/>
        </p:nvGrpSpPr>
        <p:grpSpPr>
          <a:xfrm rot="0">
            <a:off x="1303020" y="3291840"/>
            <a:ext cx="754380" cy="754380"/>
            <a:chOff x="0" y="0"/>
            <a:chExt cx="1005840" cy="1005840"/>
          </a:xfrm>
        </p:grpSpPr>
        <p:sp>
          <p:nvSpPr>
            <p:cNvPr name="Freeform 13" id="13"/>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2">
                <a:alphaModFix amt="0"/>
              </a:blip>
              <a:stretch>
                <a:fillRect l="-78303" t="0" r="-78303" b="0"/>
              </a:stretch>
            </a:blipFill>
          </p:spPr>
        </p:sp>
        <p:sp>
          <p:nvSpPr>
            <p:cNvPr name="TextBox 14" id="14"/>
            <p:cNvSpPr txBox="true"/>
            <p:nvPr/>
          </p:nvSpPr>
          <p:spPr>
            <a:xfrm>
              <a:off x="0" y="-19050"/>
              <a:ext cx="1005840" cy="1024890"/>
            </a:xfrm>
            <a:prstGeom prst="rect">
              <a:avLst/>
            </a:prstGeom>
          </p:spPr>
          <p:txBody>
            <a:bodyPr anchor="ctr" rtlCol="false" tIns="0" lIns="0" bIns="0" rIns="0"/>
            <a:lstStyle/>
            <a:p>
              <a:pPr algn="ctr">
                <a:lnSpc>
                  <a:spcPts val="3600"/>
                </a:lnSpc>
              </a:pPr>
              <a:r>
                <a:rPr lang="en-US" sz="3000" b="true">
                  <a:solidFill>
                    <a:srgbClr val="FFFFFF"/>
                  </a:solidFill>
                  <a:latin typeface="Cambria Bold"/>
                  <a:ea typeface="Cambria Bold"/>
                  <a:cs typeface="Cambria Bold"/>
                  <a:sym typeface="Cambria Bold"/>
                </a:rPr>
                <a:t>1</a:t>
              </a:r>
            </a:p>
          </p:txBody>
        </p:sp>
      </p:grpSp>
      <p:grpSp>
        <p:nvGrpSpPr>
          <p:cNvPr name="Group 15" id="15"/>
          <p:cNvGrpSpPr/>
          <p:nvPr/>
        </p:nvGrpSpPr>
        <p:grpSpPr>
          <a:xfrm rot="0">
            <a:off x="1301115" y="3762664"/>
            <a:ext cx="3223260" cy="1864416"/>
            <a:chOff x="0" y="0"/>
            <a:chExt cx="4297680" cy="2485889"/>
          </a:xfrm>
        </p:grpSpPr>
        <p:sp>
          <p:nvSpPr>
            <p:cNvPr name="Freeform 16" id="16"/>
            <p:cNvSpPr/>
            <p:nvPr/>
          </p:nvSpPr>
          <p:spPr>
            <a:xfrm flipH="false" flipV="false" rot="0">
              <a:off x="0" y="0"/>
              <a:ext cx="4297680" cy="2485889"/>
            </a:xfrm>
            <a:custGeom>
              <a:avLst/>
              <a:gdLst/>
              <a:ahLst/>
              <a:cxnLst/>
              <a:rect r="r" b="b" t="t" l="l"/>
              <a:pathLst>
                <a:path h="2485889" w="4297680">
                  <a:moveTo>
                    <a:pt x="0" y="0"/>
                  </a:moveTo>
                  <a:lnTo>
                    <a:pt x="4297680" y="0"/>
                  </a:lnTo>
                  <a:lnTo>
                    <a:pt x="4297680" y="2485889"/>
                  </a:lnTo>
                  <a:lnTo>
                    <a:pt x="0" y="2485889"/>
                  </a:lnTo>
                  <a:close/>
                </a:path>
              </a:pathLst>
            </a:custGeom>
            <a:blipFill>
              <a:blip r:embed="rId2">
                <a:alphaModFix amt="0"/>
              </a:blip>
              <a:stretch>
                <a:fillRect l="0" t="-18972" r="0" b="51600"/>
              </a:stretch>
            </a:blipFill>
          </p:spPr>
        </p:sp>
        <p:sp>
          <p:nvSpPr>
            <p:cNvPr name="TextBox 17" id="17"/>
            <p:cNvSpPr txBox="true"/>
            <p:nvPr/>
          </p:nvSpPr>
          <p:spPr>
            <a:xfrm>
              <a:off x="0" y="-9525"/>
              <a:ext cx="4297680" cy="2495414"/>
            </a:xfrm>
            <a:prstGeom prst="rect">
              <a:avLst/>
            </a:prstGeom>
          </p:spPr>
          <p:txBody>
            <a:bodyPr anchor="ctr" rtlCol="false" tIns="0" lIns="0" bIns="0" rIns="0"/>
            <a:lstStyle/>
            <a:p>
              <a:pPr algn="l">
                <a:lnSpc>
                  <a:spcPts val="3060"/>
                </a:lnSpc>
              </a:pPr>
              <a:r>
                <a:rPr lang="en-US" sz="2550" b="true">
                  <a:solidFill>
                    <a:srgbClr val="1E2761"/>
                  </a:solidFill>
                  <a:latin typeface="Cambria Bold"/>
                  <a:ea typeface="Cambria Bold"/>
                  <a:cs typeface="Cambria Bold"/>
                  <a:sym typeface="Cambria Bold"/>
                </a:rPr>
                <a:t>Knowledge cut-off</a:t>
              </a:r>
            </a:p>
          </p:txBody>
        </p:sp>
      </p:grpSp>
      <p:grpSp>
        <p:nvGrpSpPr>
          <p:cNvPr name="Group 18" id="18"/>
          <p:cNvGrpSpPr/>
          <p:nvPr/>
        </p:nvGrpSpPr>
        <p:grpSpPr>
          <a:xfrm rot="0">
            <a:off x="1303020" y="4937760"/>
            <a:ext cx="3223260" cy="1783080"/>
            <a:chOff x="0" y="0"/>
            <a:chExt cx="4297680" cy="2377440"/>
          </a:xfrm>
        </p:grpSpPr>
        <p:sp>
          <p:nvSpPr>
            <p:cNvPr name="Freeform 19" id="19"/>
            <p:cNvSpPr/>
            <p:nvPr/>
          </p:nvSpPr>
          <p:spPr>
            <a:xfrm flipH="false" flipV="false" rot="0">
              <a:off x="0" y="0"/>
              <a:ext cx="4297680" cy="2377440"/>
            </a:xfrm>
            <a:custGeom>
              <a:avLst/>
              <a:gdLst/>
              <a:ahLst/>
              <a:cxnLst/>
              <a:rect r="r" b="b" t="t" l="l"/>
              <a:pathLst>
                <a:path h="2377440" w="4297680">
                  <a:moveTo>
                    <a:pt x="0" y="0"/>
                  </a:moveTo>
                  <a:lnTo>
                    <a:pt x="4297680" y="0"/>
                  </a:lnTo>
                  <a:lnTo>
                    <a:pt x="4297680" y="2377440"/>
                  </a:lnTo>
                  <a:lnTo>
                    <a:pt x="0" y="2377440"/>
                  </a:lnTo>
                  <a:close/>
                </a:path>
              </a:pathLst>
            </a:custGeom>
            <a:blipFill>
              <a:blip r:embed="rId2">
                <a:alphaModFix amt="0"/>
              </a:blip>
              <a:stretch>
                <a:fillRect l="-20976" t="0" r="-20976" b="0"/>
              </a:stretch>
            </a:blipFill>
          </p:spPr>
        </p:sp>
        <p:sp>
          <p:nvSpPr>
            <p:cNvPr name="TextBox 20" id="20"/>
            <p:cNvSpPr txBox="true"/>
            <p:nvPr/>
          </p:nvSpPr>
          <p:spPr>
            <a:xfrm>
              <a:off x="0" y="-57150"/>
              <a:ext cx="4297680" cy="2434590"/>
            </a:xfrm>
            <a:prstGeom prst="rect">
              <a:avLst/>
            </a:prstGeom>
          </p:spPr>
          <p:txBody>
            <a:bodyPr anchor="ctr" rtlCol="false" tIns="0" lIns="0" bIns="0" rIns="0"/>
            <a:lstStyle/>
            <a:p>
              <a:pPr algn="l">
                <a:lnSpc>
                  <a:spcPts val="2250"/>
                </a:lnSpc>
              </a:pPr>
              <a:r>
                <a:rPr lang="en-US" sz="1725">
                  <a:solidFill>
                    <a:srgbClr val="2B2B38"/>
                  </a:solidFill>
                  <a:latin typeface="Calibri (MS)"/>
                  <a:ea typeface="Calibri (MS)"/>
                  <a:cs typeface="Calibri (MS)"/>
                  <a:sym typeface="Calibri (MS)"/>
                </a:rPr>
                <a:t>LLMs don’t have the knowledge of newere data which they werent trained on. so they can’t answer questions related to recent events.</a:t>
              </a:r>
            </a:p>
          </p:txBody>
        </p:sp>
      </p:grpSp>
      <p:grpSp>
        <p:nvGrpSpPr>
          <p:cNvPr name="Group 21" id="21"/>
          <p:cNvGrpSpPr/>
          <p:nvPr/>
        </p:nvGrpSpPr>
        <p:grpSpPr>
          <a:xfrm rot="0">
            <a:off x="5202555" y="2870835"/>
            <a:ext cx="3928110" cy="3996690"/>
            <a:chOff x="0" y="0"/>
            <a:chExt cx="5237480" cy="5328920"/>
          </a:xfrm>
        </p:grpSpPr>
        <p:sp>
          <p:nvSpPr>
            <p:cNvPr name="Freeform 22" id="22"/>
            <p:cNvSpPr/>
            <p:nvPr/>
          </p:nvSpPr>
          <p:spPr>
            <a:xfrm flipH="false" flipV="false" rot="0">
              <a:off x="0" y="0"/>
              <a:ext cx="5237480" cy="5328920"/>
            </a:xfrm>
            <a:custGeom>
              <a:avLst/>
              <a:gdLst/>
              <a:ahLst/>
              <a:cxnLst/>
              <a:rect r="r" b="b" t="t" l="l"/>
              <a:pathLst>
                <a:path h="5328920" w="5237480">
                  <a:moveTo>
                    <a:pt x="0" y="183769"/>
                  </a:moveTo>
                  <a:cubicBezTo>
                    <a:pt x="0" y="82296"/>
                    <a:pt x="82296" y="0"/>
                    <a:pt x="183769" y="0"/>
                  </a:cubicBezTo>
                  <a:lnTo>
                    <a:pt x="5053711" y="0"/>
                  </a:lnTo>
                  <a:cubicBezTo>
                    <a:pt x="5155184" y="0"/>
                    <a:pt x="5237480" y="82296"/>
                    <a:pt x="5237480" y="183769"/>
                  </a:cubicBezTo>
                  <a:lnTo>
                    <a:pt x="5237480" y="5145151"/>
                  </a:lnTo>
                  <a:cubicBezTo>
                    <a:pt x="5237480" y="5246624"/>
                    <a:pt x="5155184" y="5328920"/>
                    <a:pt x="5053711" y="5328920"/>
                  </a:cubicBezTo>
                  <a:lnTo>
                    <a:pt x="183769" y="5328920"/>
                  </a:lnTo>
                  <a:cubicBezTo>
                    <a:pt x="82296" y="5328920"/>
                    <a:pt x="0" y="5246624"/>
                    <a:pt x="0" y="5145151"/>
                  </a:cubicBezTo>
                  <a:close/>
                </a:path>
              </a:pathLst>
            </a:custGeom>
            <a:solidFill>
              <a:srgbClr val="FFFFFF"/>
            </a:solidFill>
            <a:ln w="19050" cap="sq">
              <a:solidFill>
                <a:srgbClr val="DCE2F5"/>
              </a:solidFill>
              <a:prstDash val="solid"/>
              <a:miter/>
            </a:ln>
          </p:spPr>
        </p:sp>
      </p:grpSp>
      <p:grpSp>
        <p:nvGrpSpPr>
          <p:cNvPr name="Group 23" id="23"/>
          <p:cNvGrpSpPr/>
          <p:nvPr/>
        </p:nvGrpSpPr>
        <p:grpSpPr>
          <a:xfrm rot="0">
            <a:off x="5554980" y="3291840"/>
            <a:ext cx="754380" cy="754380"/>
            <a:chOff x="0" y="0"/>
            <a:chExt cx="1005840" cy="1005840"/>
          </a:xfrm>
        </p:grpSpPr>
        <p:sp>
          <p:nvSpPr>
            <p:cNvPr name="Freeform 24" id="24"/>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E2761"/>
            </a:solidFill>
          </p:spPr>
        </p:sp>
      </p:grpSp>
      <p:grpSp>
        <p:nvGrpSpPr>
          <p:cNvPr name="Group 25" id="25"/>
          <p:cNvGrpSpPr/>
          <p:nvPr/>
        </p:nvGrpSpPr>
        <p:grpSpPr>
          <a:xfrm rot="0">
            <a:off x="5554980" y="3291840"/>
            <a:ext cx="754380" cy="754380"/>
            <a:chOff x="0" y="0"/>
            <a:chExt cx="1005840" cy="1005840"/>
          </a:xfrm>
        </p:grpSpPr>
        <p:sp>
          <p:nvSpPr>
            <p:cNvPr name="Freeform 26" id="26"/>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2">
                <a:alphaModFix amt="0"/>
              </a:blip>
              <a:stretch>
                <a:fillRect l="-78303" t="0" r="-78303" b="0"/>
              </a:stretch>
            </a:blipFill>
          </p:spPr>
        </p:sp>
        <p:sp>
          <p:nvSpPr>
            <p:cNvPr name="TextBox 27" id="27"/>
            <p:cNvSpPr txBox="true"/>
            <p:nvPr/>
          </p:nvSpPr>
          <p:spPr>
            <a:xfrm>
              <a:off x="0" y="-19050"/>
              <a:ext cx="1005840" cy="1024890"/>
            </a:xfrm>
            <a:prstGeom prst="rect">
              <a:avLst/>
            </a:prstGeom>
          </p:spPr>
          <p:txBody>
            <a:bodyPr anchor="ctr" rtlCol="false" tIns="0" lIns="0" bIns="0" rIns="0"/>
            <a:lstStyle/>
            <a:p>
              <a:pPr algn="ctr">
                <a:lnSpc>
                  <a:spcPts val="3600"/>
                </a:lnSpc>
              </a:pPr>
              <a:r>
                <a:rPr lang="en-US" sz="3000" b="true">
                  <a:solidFill>
                    <a:srgbClr val="FFFFFF"/>
                  </a:solidFill>
                  <a:latin typeface="Cambria Bold"/>
                  <a:ea typeface="Cambria Bold"/>
                  <a:cs typeface="Cambria Bold"/>
                  <a:sym typeface="Cambria Bold"/>
                </a:rPr>
                <a:t>2</a:t>
              </a:r>
            </a:p>
          </p:txBody>
        </p:sp>
      </p:grpSp>
      <p:grpSp>
        <p:nvGrpSpPr>
          <p:cNvPr name="Group 28" id="28"/>
          <p:cNvGrpSpPr/>
          <p:nvPr/>
        </p:nvGrpSpPr>
        <p:grpSpPr>
          <a:xfrm rot="0">
            <a:off x="5511165" y="3669030"/>
            <a:ext cx="3223260" cy="1864416"/>
            <a:chOff x="0" y="0"/>
            <a:chExt cx="4297680" cy="2485889"/>
          </a:xfrm>
        </p:grpSpPr>
        <p:sp>
          <p:nvSpPr>
            <p:cNvPr name="Freeform 29" id="29"/>
            <p:cNvSpPr/>
            <p:nvPr/>
          </p:nvSpPr>
          <p:spPr>
            <a:xfrm flipH="false" flipV="false" rot="0">
              <a:off x="0" y="0"/>
              <a:ext cx="4297680" cy="2485889"/>
            </a:xfrm>
            <a:custGeom>
              <a:avLst/>
              <a:gdLst/>
              <a:ahLst/>
              <a:cxnLst/>
              <a:rect r="r" b="b" t="t" l="l"/>
              <a:pathLst>
                <a:path h="2485889" w="4297680">
                  <a:moveTo>
                    <a:pt x="0" y="0"/>
                  </a:moveTo>
                  <a:lnTo>
                    <a:pt x="4297680" y="0"/>
                  </a:lnTo>
                  <a:lnTo>
                    <a:pt x="4297680" y="2485889"/>
                  </a:lnTo>
                  <a:lnTo>
                    <a:pt x="0" y="2485889"/>
                  </a:lnTo>
                  <a:close/>
                </a:path>
              </a:pathLst>
            </a:custGeom>
            <a:blipFill>
              <a:blip r:embed="rId2">
                <a:alphaModFix amt="0"/>
              </a:blip>
              <a:stretch>
                <a:fillRect l="0" t="-18972" r="0" b="51600"/>
              </a:stretch>
            </a:blipFill>
          </p:spPr>
        </p:sp>
        <p:sp>
          <p:nvSpPr>
            <p:cNvPr name="TextBox 30" id="30"/>
            <p:cNvSpPr txBox="true"/>
            <p:nvPr/>
          </p:nvSpPr>
          <p:spPr>
            <a:xfrm>
              <a:off x="0" y="-9525"/>
              <a:ext cx="4297680" cy="2495414"/>
            </a:xfrm>
            <a:prstGeom prst="rect">
              <a:avLst/>
            </a:prstGeom>
          </p:spPr>
          <p:txBody>
            <a:bodyPr anchor="ctr" rtlCol="false" tIns="0" lIns="0" bIns="0" rIns="0"/>
            <a:lstStyle/>
            <a:p>
              <a:pPr algn="l">
                <a:lnSpc>
                  <a:spcPts val="3060"/>
                </a:lnSpc>
              </a:pPr>
              <a:r>
                <a:rPr lang="en-US" sz="2550" b="true">
                  <a:solidFill>
                    <a:srgbClr val="1E2761"/>
                  </a:solidFill>
                  <a:latin typeface="Cambria Bold"/>
                  <a:ea typeface="Cambria Bold"/>
                  <a:cs typeface="Cambria Bold"/>
                  <a:sym typeface="Cambria Bold"/>
                </a:rPr>
                <a:t>Lacking private data</a:t>
              </a:r>
            </a:p>
          </p:txBody>
        </p:sp>
      </p:grpSp>
      <p:grpSp>
        <p:nvGrpSpPr>
          <p:cNvPr name="Group 31" id="31"/>
          <p:cNvGrpSpPr/>
          <p:nvPr/>
        </p:nvGrpSpPr>
        <p:grpSpPr>
          <a:xfrm rot="0">
            <a:off x="5511165" y="4937760"/>
            <a:ext cx="3223260" cy="1783080"/>
            <a:chOff x="0" y="0"/>
            <a:chExt cx="4297680" cy="2377440"/>
          </a:xfrm>
        </p:grpSpPr>
        <p:sp>
          <p:nvSpPr>
            <p:cNvPr name="Freeform 32" id="32"/>
            <p:cNvSpPr/>
            <p:nvPr/>
          </p:nvSpPr>
          <p:spPr>
            <a:xfrm flipH="false" flipV="false" rot="0">
              <a:off x="0" y="0"/>
              <a:ext cx="4297680" cy="2377440"/>
            </a:xfrm>
            <a:custGeom>
              <a:avLst/>
              <a:gdLst/>
              <a:ahLst/>
              <a:cxnLst/>
              <a:rect r="r" b="b" t="t" l="l"/>
              <a:pathLst>
                <a:path h="2377440" w="4297680">
                  <a:moveTo>
                    <a:pt x="0" y="0"/>
                  </a:moveTo>
                  <a:lnTo>
                    <a:pt x="4297680" y="0"/>
                  </a:lnTo>
                  <a:lnTo>
                    <a:pt x="4297680" y="2377440"/>
                  </a:lnTo>
                  <a:lnTo>
                    <a:pt x="0" y="2377440"/>
                  </a:lnTo>
                  <a:close/>
                </a:path>
              </a:pathLst>
            </a:custGeom>
            <a:blipFill>
              <a:blip r:embed="rId2">
                <a:alphaModFix amt="0"/>
              </a:blip>
              <a:stretch>
                <a:fillRect l="-20976" t="0" r="-20976" b="0"/>
              </a:stretch>
            </a:blipFill>
          </p:spPr>
        </p:sp>
        <p:sp>
          <p:nvSpPr>
            <p:cNvPr name="TextBox 33" id="33"/>
            <p:cNvSpPr txBox="true"/>
            <p:nvPr/>
          </p:nvSpPr>
          <p:spPr>
            <a:xfrm>
              <a:off x="0" y="-57150"/>
              <a:ext cx="4297680" cy="2434590"/>
            </a:xfrm>
            <a:prstGeom prst="rect">
              <a:avLst/>
            </a:prstGeom>
          </p:spPr>
          <p:txBody>
            <a:bodyPr anchor="ctr" rtlCol="false" tIns="0" lIns="0" bIns="0" rIns="0"/>
            <a:lstStyle/>
            <a:p>
              <a:pPr algn="l">
                <a:lnSpc>
                  <a:spcPts val="2250"/>
                </a:lnSpc>
              </a:pPr>
              <a:r>
                <a:rPr lang="en-US" sz="1725">
                  <a:solidFill>
                    <a:srgbClr val="2B2B38"/>
                  </a:solidFill>
                  <a:latin typeface="Calibri (MS)"/>
                  <a:ea typeface="Calibri (MS)"/>
                  <a:cs typeface="Calibri (MS)"/>
                  <a:sym typeface="Calibri (MS)"/>
                </a:rPr>
                <a:t>LLMs dont have access of the personal data. Therefore, they can’t answer  questions related to personal data</a:t>
              </a:r>
            </a:p>
          </p:txBody>
        </p:sp>
      </p:grpSp>
      <p:grpSp>
        <p:nvGrpSpPr>
          <p:cNvPr name="Group 34" id="34"/>
          <p:cNvGrpSpPr/>
          <p:nvPr/>
        </p:nvGrpSpPr>
        <p:grpSpPr>
          <a:xfrm rot="0">
            <a:off x="13555827" y="2733691"/>
            <a:ext cx="4271858" cy="4286193"/>
            <a:chOff x="0" y="0"/>
            <a:chExt cx="3680938" cy="3693290"/>
          </a:xfrm>
        </p:grpSpPr>
        <p:sp>
          <p:nvSpPr>
            <p:cNvPr name="Freeform 35" id="35"/>
            <p:cNvSpPr/>
            <p:nvPr/>
          </p:nvSpPr>
          <p:spPr>
            <a:xfrm flipH="false" flipV="false" rot="0">
              <a:off x="0" y="0"/>
              <a:ext cx="3680938" cy="3693290"/>
            </a:xfrm>
            <a:custGeom>
              <a:avLst/>
              <a:gdLst/>
              <a:ahLst/>
              <a:cxnLst/>
              <a:rect r="r" b="b" t="t" l="l"/>
              <a:pathLst>
                <a:path h="3693290" w="3680938">
                  <a:moveTo>
                    <a:pt x="0" y="273577"/>
                  </a:moveTo>
                  <a:cubicBezTo>
                    <a:pt x="0" y="122540"/>
                    <a:pt x="27479" y="0"/>
                    <a:pt x="61349" y="0"/>
                  </a:cubicBezTo>
                  <a:lnTo>
                    <a:pt x="3619589" y="0"/>
                  </a:lnTo>
                  <a:cubicBezTo>
                    <a:pt x="3653459" y="0"/>
                    <a:pt x="3680938" y="122540"/>
                    <a:pt x="3680938" y="273577"/>
                  </a:cubicBezTo>
                  <a:lnTo>
                    <a:pt x="3680938" y="3419713"/>
                  </a:lnTo>
                  <a:cubicBezTo>
                    <a:pt x="3680938" y="3570751"/>
                    <a:pt x="3653459" y="3693290"/>
                    <a:pt x="3619589" y="3693290"/>
                  </a:cubicBezTo>
                  <a:lnTo>
                    <a:pt x="61349" y="3693290"/>
                  </a:lnTo>
                  <a:cubicBezTo>
                    <a:pt x="27479" y="3693290"/>
                    <a:pt x="0" y="3570751"/>
                    <a:pt x="0" y="3419713"/>
                  </a:cubicBezTo>
                  <a:close/>
                </a:path>
              </a:pathLst>
            </a:custGeom>
            <a:solidFill>
              <a:srgbClr val="E8664F"/>
            </a:solidFill>
          </p:spPr>
        </p:sp>
      </p:grpSp>
      <p:grpSp>
        <p:nvGrpSpPr>
          <p:cNvPr name="Group 36" id="36"/>
          <p:cNvGrpSpPr/>
          <p:nvPr/>
        </p:nvGrpSpPr>
        <p:grpSpPr>
          <a:xfrm rot="0">
            <a:off x="9454515" y="2870835"/>
            <a:ext cx="3928110" cy="3996690"/>
            <a:chOff x="0" y="0"/>
            <a:chExt cx="5237480" cy="5328920"/>
          </a:xfrm>
        </p:grpSpPr>
        <p:sp>
          <p:nvSpPr>
            <p:cNvPr name="Freeform 37" id="37"/>
            <p:cNvSpPr/>
            <p:nvPr/>
          </p:nvSpPr>
          <p:spPr>
            <a:xfrm flipH="false" flipV="false" rot="0">
              <a:off x="0" y="0"/>
              <a:ext cx="5237480" cy="5328920"/>
            </a:xfrm>
            <a:custGeom>
              <a:avLst/>
              <a:gdLst/>
              <a:ahLst/>
              <a:cxnLst/>
              <a:rect r="r" b="b" t="t" l="l"/>
              <a:pathLst>
                <a:path h="5328920" w="5237480">
                  <a:moveTo>
                    <a:pt x="0" y="183769"/>
                  </a:moveTo>
                  <a:cubicBezTo>
                    <a:pt x="0" y="82296"/>
                    <a:pt x="82296" y="0"/>
                    <a:pt x="183769" y="0"/>
                  </a:cubicBezTo>
                  <a:lnTo>
                    <a:pt x="5053711" y="0"/>
                  </a:lnTo>
                  <a:cubicBezTo>
                    <a:pt x="5155184" y="0"/>
                    <a:pt x="5237480" y="82296"/>
                    <a:pt x="5237480" y="183769"/>
                  </a:cubicBezTo>
                  <a:lnTo>
                    <a:pt x="5237480" y="5145151"/>
                  </a:lnTo>
                  <a:cubicBezTo>
                    <a:pt x="5237480" y="5246624"/>
                    <a:pt x="5155184" y="5328920"/>
                    <a:pt x="5053711" y="5328920"/>
                  </a:cubicBezTo>
                  <a:lnTo>
                    <a:pt x="183769" y="5328920"/>
                  </a:lnTo>
                  <a:cubicBezTo>
                    <a:pt x="82296" y="5328920"/>
                    <a:pt x="0" y="5246624"/>
                    <a:pt x="0" y="5145151"/>
                  </a:cubicBezTo>
                  <a:close/>
                </a:path>
              </a:pathLst>
            </a:custGeom>
            <a:solidFill>
              <a:srgbClr val="FFFFFF"/>
            </a:solidFill>
            <a:ln w="19050" cap="sq">
              <a:solidFill>
                <a:srgbClr val="DCE2F5"/>
              </a:solidFill>
              <a:prstDash val="solid"/>
              <a:miter/>
            </a:ln>
          </p:spPr>
        </p:sp>
      </p:grpSp>
      <p:grpSp>
        <p:nvGrpSpPr>
          <p:cNvPr name="Group 38" id="38"/>
          <p:cNvGrpSpPr/>
          <p:nvPr/>
        </p:nvGrpSpPr>
        <p:grpSpPr>
          <a:xfrm rot="0">
            <a:off x="9806940" y="3291840"/>
            <a:ext cx="754380" cy="754380"/>
            <a:chOff x="0" y="0"/>
            <a:chExt cx="1005840" cy="1005840"/>
          </a:xfrm>
        </p:grpSpPr>
        <p:sp>
          <p:nvSpPr>
            <p:cNvPr name="Freeform 39" id="39"/>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E2761"/>
            </a:solidFill>
          </p:spPr>
        </p:sp>
      </p:grpSp>
      <p:grpSp>
        <p:nvGrpSpPr>
          <p:cNvPr name="Group 40" id="40"/>
          <p:cNvGrpSpPr/>
          <p:nvPr/>
        </p:nvGrpSpPr>
        <p:grpSpPr>
          <a:xfrm rot="0">
            <a:off x="9806940" y="3291840"/>
            <a:ext cx="754380" cy="754380"/>
            <a:chOff x="0" y="0"/>
            <a:chExt cx="1005840" cy="1005840"/>
          </a:xfrm>
        </p:grpSpPr>
        <p:sp>
          <p:nvSpPr>
            <p:cNvPr name="Freeform 41" id="41"/>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2">
                <a:alphaModFix amt="0"/>
              </a:blip>
              <a:stretch>
                <a:fillRect l="-78303" t="0" r="-78303" b="0"/>
              </a:stretch>
            </a:blipFill>
          </p:spPr>
        </p:sp>
        <p:sp>
          <p:nvSpPr>
            <p:cNvPr name="TextBox 42" id="42"/>
            <p:cNvSpPr txBox="true"/>
            <p:nvPr/>
          </p:nvSpPr>
          <p:spPr>
            <a:xfrm>
              <a:off x="0" y="-19050"/>
              <a:ext cx="1005840" cy="1024890"/>
            </a:xfrm>
            <a:prstGeom prst="rect">
              <a:avLst/>
            </a:prstGeom>
          </p:spPr>
          <p:txBody>
            <a:bodyPr anchor="ctr" rtlCol="false" tIns="0" lIns="0" bIns="0" rIns="0"/>
            <a:lstStyle/>
            <a:p>
              <a:pPr algn="ctr">
                <a:lnSpc>
                  <a:spcPts val="3600"/>
                </a:lnSpc>
              </a:pPr>
              <a:r>
                <a:rPr lang="en-US" sz="3000" b="true">
                  <a:solidFill>
                    <a:srgbClr val="FFFFFF"/>
                  </a:solidFill>
                  <a:latin typeface="Cambria Bold"/>
                  <a:ea typeface="Cambria Bold"/>
                  <a:cs typeface="Cambria Bold"/>
                  <a:sym typeface="Cambria Bold"/>
                </a:rPr>
                <a:t>3</a:t>
              </a:r>
            </a:p>
          </p:txBody>
        </p:sp>
      </p:grpSp>
      <p:grpSp>
        <p:nvGrpSpPr>
          <p:cNvPr name="Group 43" id="43"/>
          <p:cNvGrpSpPr/>
          <p:nvPr/>
        </p:nvGrpSpPr>
        <p:grpSpPr>
          <a:xfrm rot="0">
            <a:off x="9759315" y="3669030"/>
            <a:ext cx="3223260" cy="1864416"/>
            <a:chOff x="0" y="0"/>
            <a:chExt cx="4297680" cy="2485889"/>
          </a:xfrm>
        </p:grpSpPr>
        <p:sp>
          <p:nvSpPr>
            <p:cNvPr name="Freeform 44" id="44"/>
            <p:cNvSpPr/>
            <p:nvPr/>
          </p:nvSpPr>
          <p:spPr>
            <a:xfrm flipH="false" flipV="false" rot="0">
              <a:off x="0" y="0"/>
              <a:ext cx="4297680" cy="2485889"/>
            </a:xfrm>
            <a:custGeom>
              <a:avLst/>
              <a:gdLst/>
              <a:ahLst/>
              <a:cxnLst/>
              <a:rect r="r" b="b" t="t" l="l"/>
              <a:pathLst>
                <a:path h="2485889" w="4297680">
                  <a:moveTo>
                    <a:pt x="0" y="0"/>
                  </a:moveTo>
                  <a:lnTo>
                    <a:pt x="4297680" y="0"/>
                  </a:lnTo>
                  <a:lnTo>
                    <a:pt x="4297680" y="2485889"/>
                  </a:lnTo>
                  <a:lnTo>
                    <a:pt x="0" y="2485889"/>
                  </a:lnTo>
                  <a:close/>
                </a:path>
              </a:pathLst>
            </a:custGeom>
            <a:blipFill>
              <a:blip r:embed="rId2">
                <a:alphaModFix amt="0"/>
              </a:blip>
              <a:stretch>
                <a:fillRect l="0" t="-18972" r="0" b="51600"/>
              </a:stretch>
            </a:blipFill>
          </p:spPr>
        </p:sp>
        <p:sp>
          <p:nvSpPr>
            <p:cNvPr name="TextBox 45" id="45"/>
            <p:cNvSpPr txBox="true"/>
            <p:nvPr/>
          </p:nvSpPr>
          <p:spPr>
            <a:xfrm>
              <a:off x="0" y="-9525"/>
              <a:ext cx="4297680" cy="2495414"/>
            </a:xfrm>
            <a:prstGeom prst="rect">
              <a:avLst/>
            </a:prstGeom>
          </p:spPr>
          <p:txBody>
            <a:bodyPr anchor="ctr" rtlCol="false" tIns="0" lIns="0" bIns="0" rIns="0"/>
            <a:lstStyle/>
            <a:p>
              <a:pPr algn="l">
                <a:lnSpc>
                  <a:spcPts val="3060"/>
                </a:lnSpc>
              </a:pPr>
              <a:r>
                <a:rPr lang="en-US" sz="2550" b="true">
                  <a:solidFill>
                    <a:srgbClr val="1E2761"/>
                  </a:solidFill>
                  <a:latin typeface="Cambria Bold"/>
                  <a:ea typeface="Cambria Bold"/>
                  <a:cs typeface="Cambria Bold"/>
                  <a:sym typeface="Cambria Bold"/>
                </a:rPr>
                <a:t>Expensive training</a:t>
              </a:r>
            </a:p>
          </p:txBody>
        </p:sp>
      </p:grpSp>
      <p:grpSp>
        <p:nvGrpSpPr>
          <p:cNvPr name="Group 46" id="46"/>
          <p:cNvGrpSpPr/>
          <p:nvPr/>
        </p:nvGrpSpPr>
        <p:grpSpPr>
          <a:xfrm rot="0">
            <a:off x="9759315" y="4869180"/>
            <a:ext cx="3223260" cy="1783080"/>
            <a:chOff x="0" y="0"/>
            <a:chExt cx="4297680" cy="2377440"/>
          </a:xfrm>
        </p:grpSpPr>
        <p:sp>
          <p:nvSpPr>
            <p:cNvPr name="Freeform 47" id="47"/>
            <p:cNvSpPr/>
            <p:nvPr/>
          </p:nvSpPr>
          <p:spPr>
            <a:xfrm flipH="false" flipV="false" rot="0">
              <a:off x="0" y="0"/>
              <a:ext cx="4297680" cy="2377440"/>
            </a:xfrm>
            <a:custGeom>
              <a:avLst/>
              <a:gdLst/>
              <a:ahLst/>
              <a:cxnLst/>
              <a:rect r="r" b="b" t="t" l="l"/>
              <a:pathLst>
                <a:path h="2377440" w="4297680">
                  <a:moveTo>
                    <a:pt x="0" y="0"/>
                  </a:moveTo>
                  <a:lnTo>
                    <a:pt x="4297680" y="0"/>
                  </a:lnTo>
                  <a:lnTo>
                    <a:pt x="4297680" y="2377440"/>
                  </a:lnTo>
                  <a:lnTo>
                    <a:pt x="0" y="2377440"/>
                  </a:lnTo>
                  <a:close/>
                </a:path>
              </a:pathLst>
            </a:custGeom>
            <a:blipFill>
              <a:blip r:embed="rId2">
                <a:alphaModFix amt="0"/>
              </a:blip>
              <a:stretch>
                <a:fillRect l="-20976" t="0" r="-20976" b="0"/>
              </a:stretch>
            </a:blipFill>
          </p:spPr>
        </p:sp>
        <p:sp>
          <p:nvSpPr>
            <p:cNvPr name="TextBox 48" id="48"/>
            <p:cNvSpPr txBox="true"/>
            <p:nvPr/>
          </p:nvSpPr>
          <p:spPr>
            <a:xfrm>
              <a:off x="0" y="-57150"/>
              <a:ext cx="4297680" cy="2434590"/>
            </a:xfrm>
            <a:prstGeom prst="rect">
              <a:avLst/>
            </a:prstGeom>
          </p:spPr>
          <p:txBody>
            <a:bodyPr anchor="ctr" rtlCol="false" tIns="0" lIns="0" bIns="0" rIns="0"/>
            <a:lstStyle/>
            <a:p>
              <a:pPr algn="l">
                <a:lnSpc>
                  <a:spcPts val="2250"/>
                </a:lnSpc>
              </a:pPr>
              <a:r>
                <a:rPr lang="en-US" sz="1725">
                  <a:solidFill>
                    <a:srgbClr val="2B2B38"/>
                  </a:solidFill>
                  <a:latin typeface="Calibri (MS)"/>
                  <a:ea typeface="Calibri (MS)"/>
                  <a:cs typeface="Calibri (MS)"/>
                  <a:sym typeface="Calibri (MS)"/>
                </a:rPr>
                <a:t>Training LLMs with newer data takes time and cost. RAG solves this by feeding newer knowledge to LLMs directly</a:t>
              </a:r>
            </a:p>
          </p:txBody>
        </p:sp>
      </p:grpSp>
      <p:grpSp>
        <p:nvGrpSpPr>
          <p:cNvPr name="Group 49" id="49"/>
          <p:cNvGrpSpPr/>
          <p:nvPr/>
        </p:nvGrpSpPr>
        <p:grpSpPr>
          <a:xfrm rot="0">
            <a:off x="13706475" y="2870835"/>
            <a:ext cx="3928110" cy="3996690"/>
            <a:chOff x="0" y="0"/>
            <a:chExt cx="5237480" cy="5328920"/>
          </a:xfrm>
        </p:grpSpPr>
        <p:sp>
          <p:nvSpPr>
            <p:cNvPr name="Freeform 50" id="50"/>
            <p:cNvSpPr/>
            <p:nvPr/>
          </p:nvSpPr>
          <p:spPr>
            <a:xfrm flipH="false" flipV="false" rot="0">
              <a:off x="0" y="0"/>
              <a:ext cx="5237480" cy="5328920"/>
            </a:xfrm>
            <a:custGeom>
              <a:avLst/>
              <a:gdLst/>
              <a:ahLst/>
              <a:cxnLst/>
              <a:rect r="r" b="b" t="t" l="l"/>
              <a:pathLst>
                <a:path h="5328920" w="5237480">
                  <a:moveTo>
                    <a:pt x="0" y="183769"/>
                  </a:moveTo>
                  <a:cubicBezTo>
                    <a:pt x="0" y="82296"/>
                    <a:pt x="82296" y="0"/>
                    <a:pt x="183769" y="0"/>
                  </a:cubicBezTo>
                  <a:lnTo>
                    <a:pt x="5053711" y="0"/>
                  </a:lnTo>
                  <a:cubicBezTo>
                    <a:pt x="5155184" y="0"/>
                    <a:pt x="5237480" y="82296"/>
                    <a:pt x="5237480" y="183769"/>
                  </a:cubicBezTo>
                  <a:lnTo>
                    <a:pt x="5237480" y="5145151"/>
                  </a:lnTo>
                  <a:cubicBezTo>
                    <a:pt x="5237480" y="5246624"/>
                    <a:pt x="5155184" y="5328920"/>
                    <a:pt x="5053711" y="5328920"/>
                  </a:cubicBezTo>
                  <a:lnTo>
                    <a:pt x="183769" y="5328920"/>
                  </a:lnTo>
                  <a:cubicBezTo>
                    <a:pt x="82296" y="5328920"/>
                    <a:pt x="0" y="5246624"/>
                    <a:pt x="0" y="5145151"/>
                  </a:cubicBezTo>
                  <a:close/>
                </a:path>
              </a:pathLst>
            </a:custGeom>
            <a:solidFill>
              <a:srgbClr val="FFFFFF"/>
            </a:solidFill>
            <a:ln w="19050" cap="sq">
              <a:solidFill>
                <a:srgbClr val="DCE2F5"/>
              </a:solidFill>
              <a:prstDash val="solid"/>
              <a:miter/>
            </a:ln>
          </p:spPr>
        </p:sp>
      </p:grpSp>
      <p:grpSp>
        <p:nvGrpSpPr>
          <p:cNvPr name="Group 51" id="51"/>
          <p:cNvGrpSpPr/>
          <p:nvPr/>
        </p:nvGrpSpPr>
        <p:grpSpPr>
          <a:xfrm rot="0">
            <a:off x="14058900" y="3291840"/>
            <a:ext cx="754380" cy="754380"/>
            <a:chOff x="0" y="0"/>
            <a:chExt cx="1005840" cy="1005840"/>
          </a:xfrm>
        </p:grpSpPr>
        <p:sp>
          <p:nvSpPr>
            <p:cNvPr name="Freeform 52" id="52"/>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E2761"/>
            </a:solidFill>
          </p:spPr>
        </p:sp>
      </p:grpSp>
      <p:grpSp>
        <p:nvGrpSpPr>
          <p:cNvPr name="Group 53" id="53"/>
          <p:cNvGrpSpPr/>
          <p:nvPr/>
        </p:nvGrpSpPr>
        <p:grpSpPr>
          <a:xfrm rot="0">
            <a:off x="14058900" y="3291840"/>
            <a:ext cx="754380" cy="754380"/>
            <a:chOff x="0" y="0"/>
            <a:chExt cx="1005840" cy="1005840"/>
          </a:xfrm>
        </p:grpSpPr>
        <p:sp>
          <p:nvSpPr>
            <p:cNvPr name="Freeform 54" id="54"/>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2">
                <a:alphaModFix amt="0"/>
              </a:blip>
              <a:stretch>
                <a:fillRect l="-78303" t="0" r="-78303" b="0"/>
              </a:stretch>
            </a:blipFill>
          </p:spPr>
        </p:sp>
        <p:sp>
          <p:nvSpPr>
            <p:cNvPr name="TextBox 55" id="55"/>
            <p:cNvSpPr txBox="true"/>
            <p:nvPr/>
          </p:nvSpPr>
          <p:spPr>
            <a:xfrm>
              <a:off x="0" y="-19050"/>
              <a:ext cx="1005840" cy="1024890"/>
            </a:xfrm>
            <a:prstGeom prst="rect">
              <a:avLst/>
            </a:prstGeom>
          </p:spPr>
          <p:txBody>
            <a:bodyPr anchor="ctr" rtlCol="false" tIns="0" lIns="0" bIns="0" rIns="0"/>
            <a:lstStyle/>
            <a:p>
              <a:pPr algn="ctr">
                <a:lnSpc>
                  <a:spcPts val="3600"/>
                </a:lnSpc>
              </a:pPr>
              <a:r>
                <a:rPr lang="en-US" sz="3000" b="true">
                  <a:solidFill>
                    <a:srgbClr val="FFFFFF"/>
                  </a:solidFill>
                  <a:latin typeface="Cambria Bold"/>
                  <a:ea typeface="Cambria Bold"/>
                  <a:cs typeface="Cambria Bold"/>
                  <a:sym typeface="Cambria Bold"/>
                </a:rPr>
                <a:t>4</a:t>
              </a:r>
            </a:p>
          </p:txBody>
        </p:sp>
      </p:grpSp>
      <p:grpSp>
        <p:nvGrpSpPr>
          <p:cNvPr name="Group 56" id="56"/>
          <p:cNvGrpSpPr/>
          <p:nvPr/>
        </p:nvGrpSpPr>
        <p:grpSpPr>
          <a:xfrm rot="0">
            <a:off x="14011275" y="3669030"/>
            <a:ext cx="3223260" cy="1864416"/>
            <a:chOff x="0" y="0"/>
            <a:chExt cx="4297680" cy="2485889"/>
          </a:xfrm>
        </p:grpSpPr>
        <p:sp>
          <p:nvSpPr>
            <p:cNvPr name="Freeform 57" id="57"/>
            <p:cNvSpPr/>
            <p:nvPr/>
          </p:nvSpPr>
          <p:spPr>
            <a:xfrm flipH="false" flipV="false" rot="0">
              <a:off x="0" y="0"/>
              <a:ext cx="4297680" cy="2485889"/>
            </a:xfrm>
            <a:custGeom>
              <a:avLst/>
              <a:gdLst/>
              <a:ahLst/>
              <a:cxnLst/>
              <a:rect r="r" b="b" t="t" l="l"/>
              <a:pathLst>
                <a:path h="2485889" w="4297680">
                  <a:moveTo>
                    <a:pt x="0" y="0"/>
                  </a:moveTo>
                  <a:lnTo>
                    <a:pt x="4297680" y="0"/>
                  </a:lnTo>
                  <a:lnTo>
                    <a:pt x="4297680" y="2485889"/>
                  </a:lnTo>
                  <a:lnTo>
                    <a:pt x="0" y="2485889"/>
                  </a:lnTo>
                  <a:close/>
                </a:path>
              </a:pathLst>
            </a:custGeom>
            <a:blipFill>
              <a:blip r:embed="rId2">
                <a:alphaModFix amt="0"/>
              </a:blip>
              <a:stretch>
                <a:fillRect l="0" t="-18972" r="0" b="51600"/>
              </a:stretch>
            </a:blipFill>
          </p:spPr>
        </p:sp>
        <p:sp>
          <p:nvSpPr>
            <p:cNvPr name="TextBox 58" id="58"/>
            <p:cNvSpPr txBox="true"/>
            <p:nvPr/>
          </p:nvSpPr>
          <p:spPr>
            <a:xfrm>
              <a:off x="0" y="-9525"/>
              <a:ext cx="4297680" cy="2495414"/>
            </a:xfrm>
            <a:prstGeom prst="rect">
              <a:avLst/>
            </a:prstGeom>
          </p:spPr>
          <p:txBody>
            <a:bodyPr anchor="ctr" rtlCol="false" tIns="0" lIns="0" bIns="0" rIns="0"/>
            <a:lstStyle/>
            <a:p>
              <a:pPr algn="l">
                <a:lnSpc>
                  <a:spcPts val="3060"/>
                </a:lnSpc>
              </a:pPr>
              <a:r>
                <a:rPr lang="en-US" sz="2550" b="true">
                  <a:solidFill>
                    <a:srgbClr val="1E2761"/>
                  </a:solidFill>
                  <a:latin typeface="Cambria Bold"/>
                  <a:ea typeface="Cambria Bold"/>
                  <a:cs typeface="Cambria Bold"/>
                  <a:sym typeface="Cambria Bold"/>
                </a:rPr>
                <a:t>Hallucinations</a:t>
              </a:r>
            </a:p>
          </p:txBody>
        </p:sp>
      </p:grpSp>
      <p:grpSp>
        <p:nvGrpSpPr>
          <p:cNvPr name="Group 59" id="59"/>
          <p:cNvGrpSpPr/>
          <p:nvPr/>
        </p:nvGrpSpPr>
        <p:grpSpPr>
          <a:xfrm rot="0">
            <a:off x="14011275" y="4869180"/>
            <a:ext cx="3223260" cy="1783080"/>
            <a:chOff x="0" y="0"/>
            <a:chExt cx="4297680" cy="2377440"/>
          </a:xfrm>
        </p:grpSpPr>
        <p:sp>
          <p:nvSpPr>
            <p:cNvPr name="Freeform 60" id="60"/>
            <p:cNvSpPr/>
            <p:nvPr/>
          </p:nvSpPr>
          <p:spPr>
            <a:xfrm flipH="false" flipV="false" rot="0">
              <a:off x="0" y="0"/>
              <a:ext cx="4297680" cy="2377440"/>
            </a:xfrm>
            <a:custGeom>
              <a:avLst/>
              <a:gdLst/>
              <a:ahLst/>
              <a:cxnLst/>
              <a:rect r="r" b="b" t="t" l="l"/>
              <a:pathLst>
                <a:path h="2377440" w="4297680">
                  <a:moveTo>
                    <a:pt x="0" y="0"/>
                  </a:moveTo>
                  <a:lnTo>
                    <a:pt x="4297680" y="0"/>
                  </a:lnTo>
                  <a:lnTo>
                    <a:pt x="4297680" y="2377440"/>
                  </a:lnTo>
                  <a:lnTo>
                    <a:pt x="0" y="2377440"/>
                  </a:lnTo>
                  <a:close/>
                </a:path>
              </a:pathLst>
            </a:custGeom>
            <a:blipFill>
              <a:blip r:embed="rId2">
                <a:alphaModFix amt="0"/>
              </a:blip>
              <a:stretch>
                <a:fillRect l="-20976" t="0" r="-20976" b="0"/>
              </a:stretch>
            </a:blipFill>
          </p:spPr>
        </p:sp>
        <p:sp>
          <p:nvSpPr>
            <p:cNvPr name="TextBox 61" id="61"/>
            <p:cNvSpPr txBox="true"/>
            <p:nvPr/>
          </p:nvSpPr>
          <p:spPr>
            <a:xfrm>
              <a:off x="0" y="-57150"/>
              <a:ext cx="4297680" cy="2434590"/>
            </a:xfrm>
            <a:prstGeom prst="rect">
              <a:avLst/>
            </a:prstGeom>
          </p:spPr>
          <p:txBody>
            <a:bodyPr anchor="ctr" rtlCol="false" tIns="0" lIns="0" bIns="0" rIns="0"/>
            <a:lstStyle/>
            <a:p>
              <a:pPr algn="l">
                <a:lnSpc>
                  <a:spcPts val="2250"/>
                </a:lnSpc>
              </a:pPr>
              <a:r>
                <a:rPr lang="en-US" sz="1725">
                  <a:solidFill>
                    <a:srgbClr val="2B2B38"/>
                  </a:solidFill>
                  <a:latin typeface="Calibri (MS)"/>
                  <a:ea typeface="Calibri (MS)"/>
                  <a:cs typeface="Calibri (MS)"/>
                  <a:sym typeface="Calibri (MS)"/>
                </a:rPr>
                <a:t>When LLMs don’t have the required data, they hallucinate and make up rnadom information and reply confidently. This is called hallucination effect</a:t>
              </a:r>
            </a:p>
          </p:txBody>
        </p:sp>
      </p:grpSp>
      <p:grpSp>
        <p:nvGrpSpPr>
          <p:cNvPr name="Group 62" id="62"/>
          <p:cNvGrpSpPr/>
          <p:nvPr/>
        </p:nvGrpSpPr>
        <p:grpSpPr>
          <a:xfrm rot="0">
            <a:off x="960120" y="7338060"/>
            <a:ext cx="16322040" cy="1851660"/>
            <a:chOff x="0" y="0"/>
            <a:chExt cx="21762720" cy="2468880"/>
          </a:xfrm>
        </p:grpSpPr>
        <p:sp>
          <p:nvSpPr>
            <p:cNvPr name="Freeform 63" id="63"/>
            <p:cNvSpPr/>
            <p:nvPr/>
          </p:nvSpPr>
          <p:spPr>
            <a:xfrm flipH="false" flipV="false" rot="0">
              <a:off x="0" y="0"/>
              <a:ext cx="21762720" cy="2468880"/>
            </a:xfrm>
            <a:custGeom>
              <a:avLst/>
              <a:gdLst/>
              <a:ahLst/>
              <a:cxnLst/>
              <a:rect r="r" b="b" t="t" l="l"/>
              <a:pathLst>
                <a:path h="2468880" w="21762720">
                  <a:moveTo>
                    <a:pt x="0" y="182880"/>
                  </a:moveTo>
                  <a:cubicBezTo>
                    <a:pt x="0" y="81915"/>
                    <a:pt x="81915" y="0"/>
                    <a:pt x="182880" y="0"/>
                  </a:cubicBezTo>
                  <a:lnTo>
                    <a:pt x="21579839" y="0"/>
                  </a:lnTo>
                  <a:cubicBezTo>
                    <a:pt x="21680804" y="0"/>
                    <a:pt x="21762720" y="81915"/>
                    <a:pt x="21762720" y="182880"/>
                  </a:cubicBezTo>
                  <a:lnTo>
                    <a:pt x="21762720" y="2286000"/>
                  </a:lnTo>
                  <a:cubicBezTo>
                    <a:pt x="21762720" y="2386965"/>
                    <a:pt x="21680804" y="2468880"/>
                    <a:pt x="21579839" y="2468880"/>
                  </a:cubicBezTo>
                  <a:lnTo>
                    <a:pt x="182880" y="2468880"/>
                  </a:lnTo>
                  <a:cubicBezTo>
                    <a:pt x="81915" y="2468880"/>
                    <a:pt x="0" y="2386965"/>
                    <a:pt x="0" y="2286000"/>
                  </a:cubicBezTo>
                  <a:close/>
                </a:path>
              </a:pathLst>
            </a:custGeom>
            <a:solidFill>
              <a:srgbClr val="1E2761"/>
            </a:solidFill>
          </p:spPr>
        </p:sp>
      </p:grpSp>
      <p:grpSp>
        <p:nvGrpSpPr>
          <p:cNvPr name="Group 64" id="64"/>
          <p:cNvGrpSpPr/>
          <p:nvPr/>
        </p:nvGrpSpPr>
        <p:grpSpPr>
          <a:xfrm rot="0">
            <a:off x="1445678" y="7338060"/>
            <a:ext cx="15396643" cy="1850287"/>
            <a:chOff x="0" y="0"/>
            <a:chExt cx="20528858" cy="2467049"/>
          </a:xfrm>
        </p:grpSpPr>
        <p:sp>
          <p:nvSpPr>
            <p:cNvPr name="Freeform 65" id="65"/>
            <p:cNvSpPr/>
            <p:nvPr/>
          </p:nvSpPr>
          <p:spPr>
            <a:xfrm flipH="false" flipV="false" rot="0">
              <a:off x="0" y="0"/>
              <a:ext cx="20528857" cy="2467049"/>
            </a:xfrm>
            <a:custGeom>
              <a:avLst/>
              <a:gdLst/>
              <a:ahLst/>
              <a:cxnLst/>
              <a:rect r="r" b="b" t="t" l="l"/>
              <a:pathLst>
                <a:path h="2467049" w="20528857">
                  <a:moveTo>
                    <a:pt x="0" y="0"/>
                  </a:moveTo>
                  <a:lnTo>
                    <a:pt x="20528857" y="0"/>
                  </a:lnTo>
                  <a:lnTo>
                    <a:pt x="20528857" y="2467049"/>
                  </a:lnTo>
                  <a:lnTo>
                    <a:pt x="0" y="2467049"/>
                  </a:lnTo>
                  <a:close/>
                </a:path>
              </a:pathLst>
            </a:custGeom>
            <a:blipFill>
              <a:blip r:embed="rId2">
                <a:alphaModFix amt="0"/>
              </a:blip>
              <a:stretch>
                <a:fillRect l="0" t="-12862" r="71493" b="20420"/>
              </a:stretch>
            </a:blipFill>
          </p:spPr>
        </p:sp>
        <p:sp>
          <p:nvSpPr>
            <p:cNvPr name="TextBox 66" id="66"/>
            <p:cNvSpPr txBox="true"/>
            <p:nvPr/>
          </p:nvSpPr>
          <p:spPr>
            <a:xfrm>
              <a:off x="0" y="-19050"/>
              <a:ext cx="20528858" cy="2486099"/>
            </a:xfrm>
            <a:prstGeom prst="rect">
              <a:avLst/>
            </a:prstGeom>
          </p:spPr>
          <p:txBody>
            <a:bodyPr anchor="ctr" rtlCol="false" tIns="0" lIns="0" bIns="0" rIns="0"/>
            <a:lstStyle/>
            <a:p>
              <a:pPr algn="ctr">
                <a:lnSpc>
                  <a:spcPts val="2520"/>
                </a:lnSpc>
              </a:pPr>
              <a:r>
                <a:rPr lang="en-US" sz="2100" b="true">
                  <a:solidFill>
                    <a:srgbClr val="CADCFC"/>
                  </a:solidFill>
                  <a:latin typeface="Cambria Bold"/>
                  <a:ea typeface="Cambria Bold"/>
                  <a:cs typeface="Cambria Bold"/>
                  <a:sym typeface="Cambria Bold"/>
                </a:rPr>
                <a:t>These are some of the core problems that RAG solves effectively. But for the sake of this study we will focus on hallucination part.</a:t>
              </a:r>
            </a:p>
          </p:txBody>
        </p:sp>
      </p:grpSp>
      <p:grpSp>
        <p:nvGrpSpPr>
          <p:cNvPr name="Group 67" id="67"/>
          <p:cNvGrpSpPr/>
          <p:nvPr/>
        </p:nvGrpSpPr>
        <p:grpSpPr>
          <a:xfrm rot="0">
            <a:off x="17282160" y="9710928"/>
            <a:ext cx="685800" cy="411480"/>
            <a:chOff x="0" y="0"/>
            <a:chExt cx="914400" cy="548640"/>
          </a:xfrm>
        </p:grpSpPr>
        <p:sp>
          <p:nvSpPr>
            <p:cNvPr name="Freeform 68" id="68"/>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69" id="69"/>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E7591"/>
                  </a:solidFill>
                  <a:latin typeface="Calibri (MS)"/>
                  <a:ea typeface="Calibri (MS)"/>
                  <a:cs typeface="Calibri (MS)"/>
                  <a:sym typeface="Calibri (MS)"/>
                </a:rPr>
                <a:t>3</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960120" y="-856833"/>
            <a:ext cx="10972800" cy="3516213"/>
            <a:chOff x="0" y="0"/>
            <a:chExt cx="14630400" cy="4688284"/>
          </a:xfrm>
        </p:grpSpPr>
        <p:sp>
          <p:nvSpPr>
            <p:cNvPr name="Freeform 3" id="3"/>
            <p:cNvSpPr/>
            <p:nvPr/>
          </p:nvSpPr>
          <p:spPr>
            <a:xfrm flipH="false" flipV="false" rot="0">
              <a:off x="0" y="0"/>
              <a:ext cx="14630400" cy="4688284"/>
            </a:xfrm>
            <a:custGeom>
              <a:avLst/>
              <a:gdLst/>
              <a:ahLst/>
              <a:cxnLst/>
              <a:rect r="r" b="b" t="t" l="l"/>
              <a:pathLst>
                <a:path h="4688284" w="14630400">
                  <a:moveTo>
                    <a:pt x="0" y="0"/>
                  </a:moveTo>
                  <a:lnTo>
                    <a:pt x="14630400" y="0"/>
                  </a:lnTo>
                  <a:lnTo>
                    <a:pt x="14630400" y="4688284"/>
                  </a:lnTo>
                  <a:lnTo>
                    <a:pt x="0" y="4688284"/>
                  </a:lnTo>
                  <a:close/>
                </a:path>
              </a:pathLst>
            </a:custGeom>
            <a:blipFill>
              <a:blip r:embed="rId2">
                <a:alphaModFix amt="0"/>
              </a:blip>
              <a:stretch>
                <a:fillRect l="0" t="-49103" r="0" b="27492"/>
              </a:stretch>
            </a:blipFill>
          </p:spPr>
        </p:sp>
        <p:sp>
          <p:nvSpPr>
            <p:cNvPr name="TextBox 4" id="4"/>
            <p:cNvSpPr txBox="true"/>
            <p:nvPr/>
          </p:nvSpPr>
          <p:spPr>
            <a:xfrm>
              <a:off x="0" y="-9525"/>
              <a:ext cx="14630400" cy="4697809"/>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Purpose of this study</a:t>
              </a:r>
            </a:p>
          </p:txBody>
        </p:sp>
      </p:grpSp>
      <p:grpSp>
        <p:nvGrpSpPr>
          <p:cNvPr name="Group 5" id="5"/>
          <p:cNvGrpSpPr/>
          <p:nvPr/>
        </p:nvGrpSpPr>
        <p:grpSpPr>
          <a:xfrm rot="0">
            <a:off x="960120" y="1577340"/>
            <a:ext cx="13716000" cy="548640"/>
            <a:chOff x="0" y="0"/>
            <a:chExt cx="18288000" cy="731520"/>
          </a:xfrm>
        </p:grpSpPr>
        <p:sp>
          <p:nvSpPr>
            <p:cNvPr name="Freeform 6" id="6"/>
            <p:cNvSpPr/>
            <p:nvPr/>
          </p:nvSpPr>
          <p:spPr>
            <a:xfrm flipH="false" flipV="false" rot="0">
              <a:off x="0" y="0"/>
              <a:ext cx="18288000" cy="731520"/>
            </a:xfrm>
            <a:custGeom>
              <a:avLst/>
              <a:gdLst/>
              <a:ahLst/>
              <a:cxnLst/>
              <a:rect r="r" b="b" t="t" l="l"/>
              <a:pathLst>
                <a:path h="731520" w="18288000">
                  <a:moveTo>
                    <a:pt x="0" y="0"/>
                  </a:moveTo>
                  <a:lnTo>
                    <a:pt x="18288000" y="0"/>
                  </a:lnTo>
                  <a:lnTo>
                    <a:pt x="18288000" y="731520"/>
                  </a:lnTo>
                  <a:lnTo>
                    <a:pt x="0" y="731520"/>
                  </a:lnTo>
                  <a:close/>
                </a:path>
              </a:pathLst>
            </a:custGeom>
            <a:blipFill>
              <a:blip r:embed="rId2">
                <a:alphaModFix amt="0"/>
              </a:blip>
              <a:stretch>
                <a:fillRect l="0" t="-437125" r="0" b="-437125"/>
              </a:stretch>
            </a:blipFill>
          </p:spPr>
        </p:sp>
        <p:sp>
          <p:nvSpPr>
            <p:cNvPr name="TextBox 7" id="7"/>
            <p:cNvSpPr txBox="true"/>
            <p:nvPr/>
          </p:nvSpPr>
          <p:spPr>
            <a:xfrm>
              <a:off x="0" y="-57150"/>
              <a:ext cx="18288000" cy="788670"/>
            </a:xfrm>
            <a:prstGeom prst="rect">
              <a:avLst/>
            </a:prstGeom>
          </p:spPr>
          <p:txBody>
            <a:bodyPr anchor="ctr" rtlCol="false" tIns="0" lIns="0" bIns="0" rIns="0"/>
            <a:lstStyle/>
            <a:p>
              <a:pPr algn="l">
                <a:lnSpc>
                  <a:spcPts val="2700"/>
                </a:lnSpc>
              </a:pPr>
              <a:r>
                <a:rPr lang="en-US" sz="2250" i="true">
                  <a:solidFill>
                    <a:srgbClr val="CADCFC"/>
                  </a:solidFill>
                  <a:latin typeface="Calibri (MS) Italics"/>
                  <a:ea typeface="Calibri (MS) Italics"/>
                  <a:cs typeface="Calibri (MS) Italics"/>
                  <a:sym typeface="Calibri (MS) Italics"/>
                </a:rPr>
                <a:t>Why we are doing this study</a:t>
              </a:r>
            </a:p>
          </p:txBody>
        </p:sp>
      </p:grpSp>
      <p:grpSp>
        <p:nvGrpSpPr>
          <p:cNvPr name="Group 8" id="8"/>
          <p:cNvGrpSpPr/>
          <p:nvPr/>
        </p:nvGrpSpPr>
        <p:grpSpPr>
          <a:xfrm rot="0">
            <a:off x="2537460" y="2811780"/>
            <a:ext cx="13167360" cy="1851660"/>
            <a:chOff x="0" y="0"/>
            <a:chExt cx="17556480" cy="2468880"/>
          </a:xfrm>
        </p:grpSpPr>
        <p:sp>
          <p:nvSpPr>
            <p:cNvPr name="Freeform 9" id="9"/>
            <p:cNvSpPr/>
            <p:nvPr/>
          </p:nvSpPr>
          <p:spPr>
            <a:xfrm flipH="false" flipV="false" rot="0">
              <a:off x="0" y="0"/>
              <a:ext cx="17556480" cy="2468880"/>
            </a:xfrm>
            <a:custGeom>
              <a:avLst/>
              <a:gdLst/>
              <a:ahLst/>
              <a:cxnLst/>
              <a:rect r="r" b="b" t="t" l="l"/>
              <a:pathLst>
                <a:path h="2468880" w="17556480">
                  <a:moveTo>
                    <a:pt x="0" y="182880"/>
                  </a:moveTo>
                  <a:cubicBezTo>
                    <a:pt x="0" y="81915"/>
                    <a:pt x="81915" y="0"/>
                    <a:pt x="182880" y="0"/>
                  </a:cubicBezTo>
                  <a:lnTo>
                    <a:pt x="17373600" y="0"/>
                  </a:lnTo>
                  <a:cubicBezTo>
                    <a:pt x="17474564" y="0"/>
                    <a:pt x="17556480" y="81915"/>
                    <a:pt x="17556480" y="182880"/>
                  </a:cubicBezTo>
                  <a:lnTo>
                    <a:pt x="17556480" y="2286000"/>
                  </a:lnTo>
                  <a:cubicBezTo>
                    <a:pt x="17556480" y="2386965"/>
                    <a:pt x="17474564" y="2468880"/>
                    <a:pt x="17373600" y="2468880"/>
                  </a:cubicBezTo>
                  <a:lnTo>
                    <a:pt x="182880" y="2468880"/>
                  </a:lnTo>
                  <a:cubicBezTo>
                    <a:pt x="81915" y="2468880"/>
                    <a:pt x="0" y="2386965"/>
                    <a:pt x="0" y="2286000"/>
                  </a:cubicBezTo>
                  <a:close/>
                </a:path>
              </a:pathLst>
            </a:custGeom>
            <a:solidFill>
              <a:srgbClr val="5E76C7"/>
            </a:solidFill>
          </p:spPr>
        </p:sp>
      </p:grpSp>
      <p:grpSp>
        <p:nvGrpSpPr>
          <p:cNvPr name="Group 10" id="10"/>
          <p:cNvGrpSpPr/>
          <p:nvPr/>
        </p:nvGrpSpPr>
        <p:grpSpPr>
          <a:xfrm rot="0">
            <a:off x="2880360" y="3017520"/>
            <a:ext cx="1234440" cy="1440180"/>
            <a:chOff x="0" y="0"/>
            <a:chExt cx="1645920" cy="1920240"/>
          </a:xfrm>
        </p:grpSpPr>
        <p:sp>
          <p:nvSpPr>
            <p:cNvPr name="Freeform 11" id="11"/>
            <p:cNvSpPr/>
            <p:nvPr/>
          </p:nvSpPr>
          <p:spPr>
            <a:xfrm flipH="false" flipV="false" rot="0">
              <a:off x="0" y="0"/>
              <a:ext cx="1645920" cy="1920240"/>
            </a:xfrm>
            <a:custGeom>
              <a:avLst/>
              <a:gdLst/>
              <a:ahLst/>
              <a:cxnLst/>
              <a:rect r="r" b="b" t="t" l="l"/>
              <a:pathLst>
                <a:path h="1920240" w="1645920">
                  <a:moveTo>
                    <a:pt x="0" y="0"/>
                  </a:moveTo>
                  <a:lnTo>
                    <a:pt x="1645920" y="0"/>
                  </a:lnTo>
                  <a:lnTo>
                    <a:pt x="1645920" y="1920240"/>
                  </a:lnTo>
                  <a:lnTo>
                    <a:pt x="0" y="1920240"/>
                  </a:lnTo>
                  <a:close/>
                </a:path>
              </a:pathLst>
            </a:custGeom>
            <a:blipFill>
              <a:blip r:embed="rId2">
                <a:alphaModFix amt="0"/>
              </a:blip>
              <a:stretch>
                <a:fillRect l="-99687" t="0" r="-99687" b="0"/>
              </a:stretch>
            </a:blipFill>
          </p:spPr>
        </p:sp>
        <p:sp>
          <p:nvSpPr>
            <p:cNvPr name="TextBox 12" id="12"/>
            <p:cNvSpPr txBox="true"/>
            <p:nvPr/>
          </p:nvSpPr>
          <p:spPr>
            <a:xfrm>
              <a:off x="0" y="-19050"/>
              <a:ext cx="1645920" cy="1939290"/>
            </a:xfrm>
            <a:prstGeom prst="rect">
              <a:avLst/>
            </a:prstGeom>
          </p:spPr>
          <p:txBody>
            <a:bodyPr anchor="ctr" rtlCol="false" tIns="0" lIns="0" bIns="0" rIns="0"/>
            <a:lstStyle/>
            <a:p>
              <a:pPr algn="l">
                <a:lnSpc>
                  <a:spcPts val="5400"/>
                </a:lnSpc>
              </a:pPr>
              <a:r>
                <a:rPr lang="en-US" sz="4500" b="true">
                  <a:solidFill>
                    <a:srgbClr val="C7D0F0"/>
                  </a:solidFill>
                  <a:latin typeface="Cambria Bold"/>
                  <a:ea typeface="Cambria Bold"/>
                  <a:cs typeface="Cambria Bold"/>
                  <a:sym typeface="Cambria Bold"/>
                </a:rPr>
                <a:t>01</a:t>
              </a:r>
            </a:p>
          </p:txBody>
        </p:sp>
      </p:grpSp>
      <p:grpSp>
        <p:nvGrpSpPr>
          <p:cNvPr name="Group 13" id="13"/>
          <p:cNvGrpSpPr/>
          <p:nvPr/>
        </p:nvGrpSpPr>
        <p:grpSpPr>
          <a:xfrm rot="0">
            <a:off x="4114800" y="2858557"/>
            <a:ext cx="11247120" cy="1758107"/>
            <a:chOff x="0" y="0"/>
            <a:chExt cx="14996160" cy="2344142"/>
          </a:xfrm>
        </p:grpSpPr>
        <p:sp>
          <p:nvSpPr>
            <p:cNvPr name="Freeform 14" id="14"/>
            <p:cNvSpPr/>
            <p:nvPr/>
          </p:nvSpPr>
          <p:spPr>
            <a:xfrm flipH="false" flipV="false" rot="0">
              <a:off x="0" y="0"/>
              <a:ext cx="14996161" cy="2344142"/>
            </a:xfrm>
            <a:custGeom>
              <a:avLst/>
              <a:gdLst/>
              <a:ahLst/>
              <a:cxnLst/>
              <a:rect r="r" b="b" t="t" l="l"/>
              <a:pathLst>
                <a:path h="2344142" w="14996161">
                  <a:moveTo>
                    <a:pt x="0" y="0"/>
                  </a:moveTo>
                  <a:lnTo>
                    <a:pt x="14996161" y="0"/>
                  </a:lnTo>
                  <a:lnTo>
                    <a:pt x="14996161" y="2344142"/>
                  </a:lnTo>
                  <a:lnTo>
                    <a:pt x="0" y="2344142"/>
                  </a:lnTo>
                  <a:close/>
                </a:path>
              </a:pathLst>
            </a:custGeom>
            <a:blipFill>
              <a:blip r:embed="rId2">
                <a:alphaModFix amt="0"/>
              </a:blip>
              <a:stretch>
                <a:fillRect l="0" t="-108268" r="0" b="-41034"/>
              </a:stretch>
            </a:blipFill>
          </p:spPr>
        </p:sp>
        <p:sp>
          <p:nvSpPr>
            <p:cNvPr name="TextBox 15" id="15"/>
            <p:cNvSpPr txBox="true"/>
            <p:nvPr/>
          </p:nvSpPr>
          <p:spPr>
            <a:xfrm>
              <a:off x="0" y="-9525"/>
              <a:ext cx="14996160" cy="2353667"/>
            </a:xfrm>
            <a:prstGeom prst="rect">
              <a:avLst/>
            </a:prstGeom>
          </p:spPr>
          <p:txBody>
            <a:bodyPr anchor="ctr" rtlCol="false" tIns="0" lIns="0" bIns="0" rIns="0"/>
            <a:lstStyle/>
            <a:p>
              <a:pPr algn="l">
                <a:lnSpc>
                  <a:spcPts val="2879"/>
                </a:lnSpc>
              </a:pPr>
              <a:r>
                <a:rPr lang="en-US" sz="2400" b="true">
                  <a:solidFill>
                    <a:srgbClr val="FFFFFF"/>
                  </a:solidFill>
                  <a:latin typeface="Cambria Bold"/>
                  <a:ea typeface="Cambria Bold"/>
                  <a:cs typeface="Cambria Bold"/>
                  <a:sym typeface="Cambria Bold"/>
                </a:rPr>
                <a:t>Find hallucination rates accross different RAGs</a:t>
              </a:r>
            </a:p>
          </p:txBody>
        </p:sp>
      </p:grpSp>
      <p:grpSp>
        <p:nvGrpSpPr>
          <p:cNvPr name="Group 16" id="16"/>
          <p:cNvGrpSpPr/>
          <p:nvPr/>
        </p:nvGrpSpPr>
        <p:grpSpPr>
          <a:xfrm rot="0">
            <a:off x="3771900" y="5006340"/>
            <a:ext cx="10698480" cy="1851660"/>
            <a:chOff x="0" y="0"/>
            <a:chExt cx="14264640" cy="2468880"/>
          </a:xfrm>
        </p:grpSpPr>
        <p:sp>
          <p:nvSpPr>
            <p:cNvPr name="Freeform 17" id="17"/>
            <p:cNvSpPr/>
            <p:nvPr/>
          </p:nvSpPr>
          <p:spPr>
            <a:xfrm flipH="false" flipV="false" rot="0">
              <a:off x="0" y="0"/>
              <a:ext cx="14264641" cy="2468880"/>
            </a:xfrm>
            <a:custGeom>
              <a:avLst/>
              <a:gdLst/>
              <a:ahLst/>
              <a:cxnLst/>
              <a:rect r="r" b="b" t="t" l="l"/>
              <a:pathLst>
                <a:path h="2468880" w="14264641">
                  <a:moveTo>
                    <a:pt x="0" y="182880"/>
                  </a:moveTo>
                  <a:cubicBezTo>
                    <a:pt x="0" y="81915"/>
                    <a:pt x="81915" y="0"/>
                    <a:pt x="182880" y="0"/>
                  </a:cubicBezTo>
                  <a:lnTo>
                    <a:pt x="14081761" y="0"/>
                  </a:lnTo>
                  <a:cubicBezTo>
                    <a:pt x="14182725" y="0"/>
                    <a:pt x="14264641" y="81915"/>
                    <a:pt x="14264641" y="182880"/>
                  </a:cubicBezTo>
                  <a:lnTo>
                    <a:pt x="14264641" y="2286000"/>
                  </a:lnTo>
                  <a:cubicBezTo>
                    <a:pt x="14264641" y="2386965"/>
                    <a:pt x="14182725" y="2468880"/>
                    <a:pt x="14081761" y="2468880"/>
                  </a:cubicBezTo>
                  <a:lnTo>
                    <a:pt x="182880" y="2468880"/>
                  </a:lnTo>
                  <a:cubicBezTo>
                    <a:pt x="81915" y="2468880"/>
                    <a:pt x="0" y="2386965"/>
                    <a:pt x="0" y="2286000"/>
                  </a:cubicBezTo>
                  <a:close/>
                </a:path>
              </a:pathLst>
            </a:custGeom>
            <a:solidFill>
              <a:srgbClr val="324A9E"/>
            </a:solidFill>
          </p:spPr>
        </p:sp>
      </p:grpSp>
      <p:grpSp>
        <p:nvGrpSpPr>
          <p:cNvPr name="Group 18" id="18"/>
          <p:cNvGrpSpPr/>
          <p:nvPr/>
        </p:nvGrpSpPr>
        <p:grpSpPr>
          <a:xfrm rot="0">
            <a:off x="4114800" y="5212080"/>
            <a:ext cx="1234440" cy="1440180"/>
            <a:chOff x="0" y="0"/>
            <a:chExt cx="1645920" cy="1920240"/>
          </a:xfrm>
        </p:grpSpPr>
        <p:sp>
          <p:nvSpPr>
            <p:cNvPr name="Freeform 19" id="19"/>
            <p:cNvSpPr/>
            <p:nvPr/>
          </p:nvSpPr>
          <p:spPr>
            <a:xfrm flipH="false" flipV="false" rot="0">
              <a:off x="0" y="0"/>
              <a:ext cx="1645920" cy="1920240"/>
            </a:xfrm>
            <a:custGeom>
              <a:avLst/>
              <a:gdLst/>
              <a:ahLst/>
              <a:cxnLst/>
              <a:rect r="r" b="b" t="t" l="l"/>
              <a:pathLst>
                <a:path h="1920240" w="1645920">
                  <a:moveTo>
                    <a:pt x="0" y="0"/>
                  </a:moveTo>
                  <a:lnTo>
                    <a:pt x="1645920" y="0"/>
                  </a:lnTo>
                  <a:lnTo>
                    <a:pt x="1645920" y="1920240"/>
                  </a:lnTo>
                  <a:lnTo>
                    <a:pt x="0" y="1920240"/>
                  </a:lnTo>
                  <a:close/>
                </a:path>
              </a:pathLst>
            </a:custGeom>
            <a:blipFill>
              <a:blip r:embed="rId2">
                <a:alphaModFix amt="0"/>
              </a:blip>
              <a:stretch>
                <a:fillRect l="-99687" t="0" r="-99687" b="0"/>
              </a:stretch>
            </a:blipFill>
          </p:spPr>
        </p:sp>
        <p:sp>
          <p:nvSpPr>
            <p:cNvPr name="TextBox 20" id="20"/>
            <p:cNvSpPr txBox="true"/>
            <p:nvPr/>
          </p:nvSpPr>
          <p:spPr>
            <a:xfrm>
              <a:off x="0" y="-19050"/>
              <a:ext cx="1645920" cy="1939290"/>
            </a:xfrm>
            <a:prstGeom prst="rect">
              <a:avLst/>
            </a:prstGeom>
          </p:spPr>
          <p:txBody>
            <a:bodyPr anchor="ctr" rtlCol="false" tIns="0" lIns="0" bIns="0" rIns="0"/>
            <a:lstStyle/>
            <a:p>
              <a:pPr algn="l">
                <a:lnSpc>
                  <a:spcPts val="5400"/>
                </a:lnSpc>
              </a:pPr>
              <a:r>
                <a:rPr lang="en-US" sz="4500" b="true">
                  <a:solidFill>
                    <a:srgbClr val="C7D0F0"/>
                  </a:solidFill>
                  <a:latin typeface="Cambria Bold"/>
                  <a:ea typeface="Cambria Bold"/>
                  <a:cs typeface="Cambria Bold"/>
                  <a:sym typeface="Cambria Bold"/>
                </a:rPr>
                <a:t>02</a:t>
              </a:r>
            </a:p>
          </p:txBody>
        </p:sp>
      </p:grpSp>
      <p:grpSp>
        <p:nvGrpSpPr>
          <p:cNvPr name="Group 21" id="21"/>
          <p:cNvGrpSpPr/>
          <p:nvPr/>
        </p:nvGrpSpPr>
        <p:grpSpPr>
          <a:xfrm rot="0">
            <a:off x="5349240" y="5099893"/>
            <a:ext cx="8778240" cy="1758107"/>
            <a:chOff x="0" y="0"/>
            <a:chExt cx="11704320" cy="2344142"/>
          </a:xfrm>
        </p:grpSpPr>
        <p:sp>
          <p:nvSpPr>
            <p:cNvPr name="Freeform 22" id="22"/>
            <p:cNvSpPr/>
            <p:nvPr/>
          </p:nvSpPr>
          <p:spPr>
            <a:xfrm flipH="false" flipV="false" rot="0">
              <a:off x="0" y="0"/>
              <a:ext cx="11704320" cy="2344142"/>
            </a:xfrm>
            <a:custGeom>
              <a:avLst/>
              <a:gdLst/>
              <a:ahLst/>
              <a:cxnLst/>
              <a:rect r="r" b="b" t="t" l="l"/>
              <a:pathLst>
                <a:path h="2344142" w="11704320">
                  <a:moveTo>
                    <a:pt x="0" y="0"/>
                  </a:moveTo>
                  <a:lnTo>
                    <a:pt x="11704320" y="0"/>
                  </a:lnTo>
                  <a:lnTo>
                    <a:pt x="11704320" y="2344142"/>
                  </a:lnTo>
                  <a:lnTo>
                    <a:pt x="0" y="2344142"/>
                  </a:lnTo>
                  <a:close/>
                </a:path>
              </a:pathLst>
            </a:custGeom>
            <a:blipFill>
              <a:blip r:embed="rId2">
                <a:alphaModFix amt="0"/>
              </a:blip>
              <a:stretch>
                <a:fillRect l="0" t="-80905" r="0" b="-13672"/>
              </a:stretch>
            </a:blipFill>
          </p:spPr>
        </p:sp>
        <p:sp>
          <p:nvSpPr>
            <p:cNvPr name="TextBox 23" id="23"/>
            <p:cNvSpPr txBox="true"/>
            <p:nvPr/>
          </p:nvSpPr>
          <p:spPr>
            <a:xfrm>
              <a:off x="0" y="-9525"/>
              <a:ext cx="11704320" cy="2353667"/>
            </a:xfrm>
            <a:prstGeom prst="rect">
              <a:avLst/>
            </a:prstGeom>
          </p:spPr>
          <p:txBody>
            <a:bodyPr anchor="ctr" rtlCol="false" tIns="0" lIns="0" bIns="0" rIns="0"/>
            <a:lstStyle/>
            <a:p>
              <a:pPr algn="l">
                <a:lnSpc>
                  <a:spcPts val="2879"/>
                </a:lnSpc>
              </a:pPr>
              <a:r>
                <a:rPr lang="en-US" sz="2400" b="true">
                  <a:solidFill>
                    <a:srgbClr val="FFFFFF"/>
                  </a:solidFill>
                  <a:latin typeface="Cambria Bold"/>
                  <a:ea typeface="Cambria Bold"/>
                  <a:cs typeface="Cambria Bold"/>
                  <a:sym typeface="Cambria Bold"/>
                </a:rPr>
                <a:t>Compare and contrast accross different sub fields</a:t>
              </a:r>
            </a:p>
          </p:txBody>
        </p:sp>
      </p:grpSp>
      <p:grpSp>
        <p:nvGrpSpPr>
          <p:cNvPr name="Group 24" id="24"/>
          <p:cNvGrpSpPr/>
          <p:nvPr/>
        </p:nvGrpSpPr>
        <p:grpSpPr>
          <a:xfrm rot="0">
            <a:off x="5006340" y="7200900"/>
            <a:ext cx="8229600" cy="1851660"/>
            <a:chOff x="0" y="0"/>
            <a:chExt cx="10972800" cy="2468880"/>
          </a:xfrm>
        </p:grpSpPr>
        <p:sp>
          <p:nvSpPr>
            <p:cNvPr name="Freeform 25" id="25"/>
            <p:cNvSpPr/>
            <p:nvPr/>
          </p:nvSpPr>
          <p:spPr>
            <a:xfrm flipH="false" flipV="false" rot="0">
              <a:off x="0" y="0"/>
              <a:ext cx="10972800" cy="2468880"/>
            </a:xfrm>
            <a:custGeom>
              <a:avLst/>
              <a:gdLst/>
              <a:ahLst/>
              <a:cxnLst/>
              <a:rect r="r" b="b" t="t" l="l"/>
              <a:pathLst>
                <a:path h="2468880" w="10972800">
                  <a:moveTo>
                    <a:pt x="0" y="182880"/>
                  </a:moveTo>
                  <a:cubicBezTo>
                    <a:pt x="0" y="81915"/>
                    <a:pt x="81915" y="0"/>
                    <a:pt x="182880" y="0"/>
                  </a:cubicBezTo>
                  <a:lnTo>
                    <a:pt x="10789920" y="0"/>
                  </a:lnTo>
                  <a:cubicBezTo>
                    <a:pt x="10890885" y="0"/>
                    <a:pt x="10972800" y="81915"/>
                    <a:pt x="10972800" y="182880"/>
                  </a:cubicBezTo>
                  <a:lnTo>
                    <a:pt x="10972800" y="2286000"/>
                  </a:lnTo>
                  <a:cubicBezTo>
                    <a:pt x="10972800" y="2386965"/>
                    <a:pt x="10890885" y="2468880"/>
                    <a:pt x="10789920" y="2468880"/>
                  </a:cubicBezTo>
                  <a:lnTo>
                    <a:pt x="182880" y="2468880"/>
                  </a:lnTo>
                  <a:cubicBezTo>
                    <a:pt x="81915" y="2468880"/>
                    <a:pt x="0" y="2386965"/>
                    <a:pt x="0" y="2286000"/>
                  </a:cubicBezTo>
                  <a:close/>
                </a:path>
              </a:pathLst>
            </a:custGeom>
            <a:solidFill>
              <a:srgbClr val="E8664F"/>
            </a:solidFill>
          </p:spPr>
        </p:sp>
      </p:grpSp>
      <p:grpSp>
        <p:nvGrpSpPr>
          <p:cNvPr name="Group 26" id="26"/>
          <p:cNvGrpSpPr/>
          <p:nvPr/>
        </p:nvGrpSpPr>
        <p:grpSpPr>
          <a:xfrm rot="0">
            <a:off x="5349240" y="7406640"/>
            <a:ext cx="1234440" cy="1440180"/>
            <a:chOff x="0" y="0"/>
            <a:chExt cx="1645920" cy="1920240"/>
          </a:xfrm>
        </p:grpSpPr>
        <p:sp>
          <p:nvSpPr>
            <p:cNvPr name="Freeform 27" id="27"/>
            <p:cNvSpPr/>
            <p:nvPr/>
          </p:nvSpPr>
          <p:spPr>
            <a:xfrm flipH="false" flipV="false" rot="0">
              <a:off x="0" y="0"/>
              <a:ext cx="1645920" cy="1920240"/>
            </a:xfrm>
            <a:custGeom>
              <a:avLst/>
              <a:gdLst/>
              <a:ahLst/>
              <a:cxnLst/>
              <a:rect r="r" b="b" t="t" l="l"/>
              <a:pathLst>
                <a:path h="1920240" w="1645920">
                  <a:moveTo>
                    <a:pt x="0" y="0"/>
                  </a:moveTo>
                  <a:lnTo>
                    <a:pt x="1645920" y="0"/>
                  </a:lnTo>
                  <a:lnTo>
                    <a:pt x="1645920" y="1920240"/>
                  </a:lnTo>
                  <a:lnTo>
                    <a:pt x="0" y="1920240"/>
                  </a:lnTo>
                  <a:close/>
                </a:path>
              </a:pathLst>
            </a:custGeom>
            <a:blipFill>
              <a:blip r:embed="rId2">
                <a:alphaModFix amt="0"/>
              </a:blip>
              <a:stretch>
                <a:fillRect l="-99687" t="0" r="-99687" b="0"/>
              </a:stretch>
            </a:blipFill>
          </p:spPr>
        </p:sp>
        <p:sp>
          <p:nvSpPr>
            <p:cNvPr name="TextBox 28" id="28"/>
            <p:cNvSpPr txBox="true"/>
            <p:nvPr/>
          </p:nvSpPr>
          <p:spPr>
            <a:xfrm>
              <a:off x="0" y="-19050"/>
              <a:ext cx="1645920" cy="1939290"/>
            </a:xfrm>
            <a:prstGeom prst="rect">
              <a:avLst/>
            </a:prstGeom>
          </p:spPr>
          <p:txBody>
            <a:bodyPr anchor="ctr" rtlCol="false" tIns="0" lIns="0" bIns="0" rIns="0"/>
            <a:lstStyle/>
            <a:p>
              <a:pPr algn="l">
                <a:lnSpc>
                  <a:spcPts val="5400"/>
                </a:lnSpc>
              </a:pPr>
              <a:r>
                <a:rPr lang="en-US" sz="4500" b="true">
                  <a:solidFill>
                    <a:srgbClr val="C7D0F0"/>
                  </a:solidFill>
                  <a:latin typeface="Cambria Bold"/>
                  <a:ea typeface="Cambria Bold"/>
                  <a:cs typeface="Cambria Bold"/>
                  <a:sym typeface="Cambria Bold"/>
                </a:rPr>
                <a:t>03</a:t>
              </a:r>
            </a:p>
          </p:txBody>
        </p:sp>
      </p:grpSp>
      <p:grpSp>
        <p:nvGrpSpPr>
          <p:cNvPr name="Group 29" id="29"/>
          <p:cNvGrpSpPr/>
          <p:nvPr/>
        </p:nvGrpSpPr>
        <p:grpSpPr>
          <a:xfrm rot="0">
            <a:off x="6446520" y="7248525"/>
            <a:ext cx="6309360" cy="1758107"/>
            <a:chOff x="0" y="0"/>
            <a:chExt cx="8412480" cy="2344142"/>
          </a:xfrm>
        </p:grpSpPr>
        <p:sp>
          <p:nvSpPr>
            <p:cNvPr name="Freeform 30" id="30"/>
            <p:cNvSpPr/>
            <p:nvPr/>
          </p:nvSpPr>
          <p:spPr>
            <a:xfrm flipH="false" flipV="false" rot="0">
              <a:off x="0" y="0"/>
              <a:ext cx="8412480" cy="2344142"/>
            </a:xfrm>
            <a:custGeom>
              <a:avLst/>
              <a:gdLst/>
              <a:ahLst/>
              <a:cxnLst/>
              <a:rect r="r" b="b" t="t" l="l"/>
              <a:pathLst>
                <a:path h="2344142" w="8412480">
                  <a:moveTo>
                    <a:pt x="0" y="0"/>
                  </a:moveTo>
                  <a:lnTo>
                    <a:pt x="8412480" y="0"/>
                  </a:lnTo>
                  <a:lnTo>
                    <a:pt x="8412480" y="2344142"/>
                  </a:lnTo>
                  <a:lnTo>
                    <a:pt x="0" y="2344142"/>
                  </a:lnTo>
                  <a:close/>
                </a:path>
              </a:pathLst>
            </a:custGeom>
            <a:blipFill>
              <a:blip r:embed="rId2">
                <a:alphaModFix amt="0"/>
              </a:blip>
              <a:stretch>
                <a:fillRect l="0" t="-53543" r="0" b="13690"/>
              </a:stretch>
            </a:blipFill>
          </p:spPr>
        </p:sp>
        <p:sp>
          <p:nvSpPr>
            <p:cNvPr name="TextBox 31" id="31"/>
            <p:cNvSpPr txBox="true"/>
            <p:nvPr/>
          </p:nvSpPr>
          <p:spPr>
            <a:xfrm>
              <a:off x="0" y="-9525"/>
              <a:ext cx="8412480" cy="2353667"/>
            </a:xfrm>
            <a:prstGeom prst="rect">
              <a:avLst/>
            </a:prstGeom>
          </p:spPr>
          <p:txBody>
            <a:bodyPr anchor="ctr" rtlCol="false" tIns="0" lIns="0" bIns="0" rIns="0"/>
            <a:lstStyle/>
            <a:p>
              <a:pPr algn="l">
                <a:lnSpc>
                  <a:spcPts val="2879"/>
                </a:lnSpc>
              </a:pPr>
              <a:r>
                <a:rPr lang="en-US" sz="2400" b="true">
                  <a:solidFill>
                    <a:srgbClr val="FFFFFF"/>
                  </a:solidFill>
                  <a:latin typeface="Cambria Bold"/>
                  <a:ea typeface="Cambria Bold"/>
                  <a:cs typeface="Cambria Bold"/>
                  <a:sym typeface="Cambria Bold"/>
                </a:rPr>
                <a:t>Literature gap</a:t>
              </a:r>
            </a:p>
          </p:txBody>
        </p:sp>
      </p:grpSp>
      <p:grpSp>
        <p:nvGrpSpPr>
          <p:cNvPr name="Group 32" id="32"/>
          <p:cNvGrpSpPr/>
          <p:nvPr/>
        </p:nvGrpSpPr>
        <p:grpSpPr>
          <a:xfrm rot="0">
            <a:off x="17282160" y="9710928"/>
            <a:ext cx="685800" cy="411480"/>
            <a:chOff x="0" y="0"/>
            <a:chExt cx="914400" cy="548640"/>
          </a:xfrm>
        </p:grpSpPr>
        <p:sp>
          <p:nvSpPr>
            <p:cNvPr name="Freeform 33" id="3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34" id="34"/>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E7591"/>
                  </a:solidFill>
                  <a:latin typeface="Calibri (MS)"/>
                  <a:ea typeface="Calibri (MS)"/>
                  <a:cs typeface="Calibri (MS)"/>
                  <a:sym typeface="Calibri (MS)"/>
                </a:rPr>
                <a:t>7</a:t>
              </a:r>
            </a:p>
          </p:txBody>
        </p:sp>
      </p:grpSp>
      <p:grpSp>
        <p:nvGrpSpPr>
          <p:cNvPr name="Group 35" id="35"/>
          <p:cNvGrpSpPr/>
          <p:nvPr/>
        </p:nvGrpSpPr>
        <p:grpSpPr>
          <a:xfrm rot="0">
            <a:off x="884617" y="1337153"/>
            <a:ext cx="8892642" cy="46196"/>
            <a:chOff x="0" y="0"/>
            <a:chExt cx="1860174" cy="9663"/>
          </a:xfrm>
        </p:grpSpPr>
        <p:sp>
          <p:nvSpPr>
            <p:cNvPr name="Freeform 36" id="36"/>
            <p:cNvSpPr/>
            <p:nvPr/>
          </p:nvSpPr>
          <p:spPr>
            <a:xfrm flipH="false" flipV="false" rot="0">
              <a:off x="0" y="0"/>
              <a:ext cx="1860174" cy="9663"/>
            </a:xfrm>
            <a:custGeom>
              <a:avLst/>
              <a:gdLst/>
              <a:ahLst/>
              <a:cxnLst/>
              <a:rect r="r" b="b" t="t" l="l"/>
              <a:pathLst>
                <a:path h="9663" w="1860174">
                  <a:moveTo>
                    <a:pt x="0" y="4832"/>
                  </a:moveTo>
                  <a:cubicBezTo>
                    <a:pt x="0" y="2163"/>
                    <a:pt x="416308" y="0"/>
                    <a:pt x="930087" y="0"/>
                  </a:cubicBezTo>
                  <a:cubicBezTo>
                    <a:pt x="1443866" y="0"/>
                    <a:pt x="1860174" y="2163"/>
                    <a:pt x="1860174" y="4832"/>
                  </a:cubicBezTo>
                  <a:cubicBezTo>
                    <a:pt x="1860174" y="7501"/>
                    <a:pt x="1443866" y="9663"/>
                    <a:pt x="930087" y="9663"/>
                  </a:cubicBezTo>
                  <a:cubicBezTo>
                    <a:pt x="416308" y="9663"/>
                    <a:pt x="0" y="7501"/>
                    <a:pt x="0" y="4832"/>
                  </a:cubicBezTo>
                  <a:close/>
                </a:path>
              </a:pathLst>
            </a:custGeom>
            <a:solidFill>
              <a:srgbClr val="E8664F"/>
            </a:solid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913983"/>
            <a:ext cx="10972800" cy="3516213"/>
            <a:chOff x="0" y="0"/>
            <a:chExt cx="14630400" cy="4688284"/>
          </a:xfrm>
        </p:grpSpPr>
        <p:sp>
          <p:nvSpPr>
            <p:cNvPr name="Freeform 3" id="3"/>
            <p:cNvSpPr/>
            <p:nvPr/>
          </p:nvSpPr>
          <p:spPr>
            <a:xfrm flipH="false" flipV="false" rot="0">
              <a:off x="0" y="0"/>
              <a:ext cx="14630400" cy="4688284"/>
            </a:xfrm>
            <a:custGeom>
              <a:avLst/>
              <a:gdLst/>
              <a:ahLst/>
              <a:cxnLst/>
              <a:rect r="r" b="b" t="t" l="l"/>
              <a:pathLst>
                <a:path h="4688284" w="14630400">
                  <a:moveTo>
                    <a:pt x="0" y="0"/>
                  </a:moveTo>
                  <a:lnTo>
                    <a:pt x="14630400" y="0"/>
                  </a:lnTo>
                  <a:lnTo>
                    <a:pt x="14630400" y="4688284"/>
                  </a:lnTo>
                  <a:lnTo>
                    <a:pt x="0" y="4688284"/>
                  </a:lnTo>
                  <a:close/>
                </a:path>
              </a:pathLst>
            </a:custGeom>
            <a:blipFill>
              <a:blip r:embed="rId2">
                <a:alphaModFix amt="0"/>
              </a:blip>
              <a:stretch>
                <a:fillRect l="0" t="-49103" r="0" b="27492"/>
              </a:stretch>
            </a:blipFill>
          </p:spPr>
        </p:sp>
        <p:sp>
          <p:nvSpPr>
            <p:cNvPr name="TextBox 4" id="4"/>
            <p:cNvSpPr txBox="true"/>
            <p:nvPr/>
          </p:nvSpPr>
          <p:spPr>
            <a:xfrm>
              <a:off x="0" y="-9525"/>
              <a:ext cx="14630400" cy="4697809"/>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Literature review</a:t>
              </a:r>
            </a:p>
          </p:txBody>
        </p:sp>
      </p:grpSp>
      <p:grpSp>
        <p:nvGrpSpPr>
          <p:cNvPr name="Group 5" id="5"/>
          <p:cNvGrpSpPr/>
          <p:nvPr/>
        </p:nvGrpSpPr>
        <p:grpSpPr>
          <a:xfrm rot="0">
            <a:off x="17282160" y="9710928"/>
            <a:ext cx="685800" cy="411480"/>
            <a:chOff x="0" y="0"/>
            <a:chExt cx="914400" cy="548640"/>
          </a:xfrm>
        </p:grpSpPr>
        <p:sp>
          <p:nvSpPr>
            <p:cNvPr name="Freeform 6" id="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 id="7"/>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E7591"/>
                  </a:solidFill>
                  <a:latin typeface="Calibri (MS)"/>
                  <a:ea typeface="Calibri (MS)"/>
                  <a:cs typeface="Calibri (MS)"/>
                  <a:sym typeface="Calibri (MS)"/>
                </a:rPr>
                <a:t>8</a:t>
              </a:r>
            </a:p>
          </p:txBody>
        </p:sp>
      </p:grpSp>
      <p:grpSp>
        <p:nvGrpSpPr>
          <p:cNvPr name="Group 8" id="8"/>
          <p:cNvGrpSpPr/>
          <p:nvPr/>
        </p:nvGrpSpPr>
        <p:grpSpPr>
          <a:xfrm rot="0">
            <a:off x="699584" y="1605885"/>
            <a:ext cx="16748735" cy="8310783"/>
            <a:chOff x="0" y="0"/>
            <a:chExt cx="22331647" cy="11081044"/>
          </a:xfrm>
        </p:grpSpPr>
        <p:sp>
          <p:nvSpPr>
            <p:cNvPr name="Freeform 9" id="9"/>
            <p:cNvSpPr/>
            <p:nvPr/>
          </p:nvSpPr>
          <p:spPr>
            <a:xfrm flipH="false" flipV="false" rot="0">
              <a:off x="0" y="0"/>
              <a:ext cx="22331648" cy="11081044"/>
            </a:xfrm>
            <a:custGeom>
              <a:avLst/>
              <a:gdLst/>
              <a:ahLst/>
              <a:cxnLst/>
              <a:rect r="r" b="b" t="t" l="l"/>
              <a:pathLst>
                <a:path h="11081044" w="22331648">
                  <a:moveTo>
                    <a:pt x="0" y="820818"/>
                  </a:moveTo>
                  <a:cubicBezTo>
                    <a:pt x="0" y="367658"/>
                    <a:pt x="104195" y="0"/>
                    <a:pt x="232621" y="0"/>
                  </a:cubicBezTo>
                  <a:lnTo>
                    <a:pt x="22099026" y="0"/>
                  </a:lnTo>
                  <a:cubicBezTo>
                    <a:pt x="22227451" y="0"/>
                    <a:pt x="22331648" y="367658"/>
                    <a:pt x="22331648" y="820818"/>
                  </a:cubicBezTo>
                  <a:lnTo>
                    <a:pt x="22331648" y="10260226"/>
                  </a:lnTo>
                  <a:cubicBezTo>
                    <a:pt x="22331648" y="10713386"/>
                    <a:pt x="22227451" y="11081044"/>
                    <a:pt x="22099026" y="11081044"/>
                  </a:cubicBezTo>
                  <a:lnTo>
                    <a:pt x="232621" y="11081044"/>
                  </a:lnTo>
                  <a:cubicBezTo>
                    <a:pt x="104195" y="11081044"/>
                    <a:pt x="0" y="10713386"/>
                    <a:pt x="0" y="10260226"/>
                  </a:cubicBezTo>
                  <a:close/>
                </a:path>
              </a:pathLst>
            </a:custGeom>
            <a:solidFill>
              <a:srgbClr val="5E76C7"/>
            </a:solidFill>
          </p:spPr>
        </p:sp>
      </p:grpSp>
      <p:graphicFrame>
        <p:nvGraphicFramePr>
          <p:cNvPr name="Object 10" id="10"/>
          <p:cNvGraphicFramePr/>
          <p:nvPr/>
        </p:nvGraphicFramePr>
        <p:xfrm>
          <a:off x="960120" y="1796373"/>
          <a:ext cx="16230600" cy="5493434"/>
        </p:xfrm>
        <a:graphic>
          <a:graphicData uri="http://schemas.openxmlformats.org/presentationml/2006/ole">
            <p:oleObj imgW="19469100" imgH="87376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grpSp>
        <p:nvGrpSpPr>
          <p:cNvPr name="Group 11" id="11"/>
          <p:cNvGrpSpPr/>
          <p:nvPr/>
        </p:nvGrpSpPr>
        <p:grpSpPr>
          <a:xfrm rot="0">
            <a:off x="884617" y="1337153"/>
            <a:ext cx="8892642" cy="46196"/>
            <a:chOff x="0" y="0"/>
            <a:chExt cx="1860174" cy="9663"/>
          </a:xfrm>
        </p:grpSpPr>
        <p:sp>
          <p:nvSpPr>
            <p:cNvPr name="Freeform 12" id="12"/>
            <p:cNvSpPr/>
            <p:nvPr/>
          </p:nvSpPr>
          <p:spPr>
            <a:xfrm flipH="false" flipV="false" rot="0">
              <a:off x="0" y="0"/>
              <a:ext cx="1860174" cy="9663"/>
            </a:xfrm>
            <a:custGeom>
              <a:avLst/>
              <a:gdLst/>
              <a:ahLst/>
              <a:cxnLst/>
              <a:rect r="r" b="b" t="t" l="l"/>
              <a:pathLst>
                <a:path h="9663" w="1860174">
                  <a:moveTo>
                    <a:pt x="0" y="4832"/>
                  </a:moveTo>
                  <a:cubicBezTo>
                    <a:pt x="0" y="2163"/>
                    <a:pt x="416308" y="0"/>
                    <a:pt x="930087" y="0"/>
                  </a:cubicBezTo>
                  <a:cubicBezTo>
                    <a:pt x="1443866" y="0"/>
                    <a:pt x="1860174" y="2163"/>
                    <a:pt x="1860174" y="4832"/>
                  </a:cubicBezTo>
                  <a:cubicBezTo>
                    <a:pt x="1860174" y="7501"/>
                    <a:pt x="1443866" y="9663"/>
                    <a:pt x="930087" y="9663"/>
                  </a:cubicBezTo>
                  <a:cubicBezTo>
                    <a:pt x="416308" y="9663"/>
                    <a:pt x="0" y="7501"/>
                    <a:pt x="0" y="4832"/>
                  </a:cubicBezTo>
                  <a:close/>
                </a:path>
              </a:pathLst>
            </a:custGeom>
            <a:solidFill>
              <a:srgbClr val="E8664F"/>
            </a:solid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4F6FC"/>
        </a:solidFill>
      </p:bgPr>
    </p:bg>
    <p:spTree>
      <p:nvGrpSpPr>
        <p:cNvPr id="1" name=""/>
        <p:cNvGrpSpPr/>
        <p:nvPr/>
      </p:nvGrpSpPr>
      <p:grpSpPr>
        <a:xfrm>
          <a:off x="0" y="0"/>
          <a:ext cx="0" cy="0"/>
          <a:chOff x="0" y="0"/>
          <a:chExt cx="0" cy="0"/>
        </a:xfrm>
      </p:grpSpPr>
      <p:grpSp>
        <p:nvGrpSpPr>
          <p:cNvPr name="Group 2" id="2"/>
          <p:cNvGrpSpPr/>
          <p:nvPr/>
        </p:nvGrpSpPr>
        <p:grpSpPr>
          <a:xfrm rot="0">
            <a:off x="1028700" y="-712053"/>
            <a:ext cx="10972800" cy="3516213"/>
            <a:chOff x="0" y="0"/>
            <a:chExt cx="14630400" cy="4688284"/>
          </a:xfrm>
        </p:grpSpPr>
        <p:sp>
          <p:nvSpPr>
            <p:cNvPr name="Freeform 3" id="3"/>
            <p:cNvSpPr/>
            <p:nvPr/>
          </p:nvSpPr>
          <p:spPr>
            <a:xfrm flipH="false" flipV="false" rot="0">
              <a:off x="0" y="0"/>
              <a:ext cx="14630400" cy="4688284"/>
            </a:xfrm>
            <a:custGeom>
              <a:avLst/>
              <a:gdLst/>
              <a:ahLst/>
              <a:cxnLst/>
              <a:rect r="r" b="b" t="t" l="l"/>
              <a:pathLst>
                <a:path h="4688284" w="14630400">
                  <a:moveTo>
                    <a:pt x="0" y="0"/>
                  </a:moveTo>
                  <a:lnTo>
                    <a:pt x="14630400" y="0"/>
                  </a:lnTo>
                  <a:lnTo>
                    <a:pt x="14630400" y="4688284"/>
                  </a:lnTo>
                  <a:lnTo>
                    <a:pt x="0" y="4688284"/>
                  </a:lnTo>
                  <a:close/>
                </a:path>
              </a:pathLst>
            </a:custGeom>
            <a:blipFill>
              <a:blip r:embed="rId2">
                <a:alphaModFix amt="0"/>
              </a:blip>
              <a:stretch>
                <a:fillRect l="0" t="-49103" r="0" b="27492"/>
              </a:stretch>
            </a:blipFill>
          </p:spPr>
        </p:sp>
        <p:sp>
          <p:nvSpPr>
            <p:cNvPr name="TextBox 4" id="4"/>
            <p:cNvSpPr txBox="true"/>
            <p:nvPr/>
          </p:nvSpPr>
          <p:spPr>
            <a:xfrm>
              <a:off x="0" y="-9525"/>
              <a:ext cx="14630400" cy="4697809"/>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RAG Taxonomy</a:t>
              </a:r>
            </a:p>
          </p:txBody>
        </p:sp>
      </p:grpSp>
      <p:grpSp>
        <p:nvGrpSpPr>
          <p:cNvPr name="Group 5" id="5"/>
          <p:cNvGrpSpPr/>
          <p:nvPr/>
        </p:nvGrpSpPr>
        <p:grpSpPr>
          <a:xfrm rot="0">
            <a:off x="960120" y="1577340"/>
            <a:ext cx="12344400" cy="548640"/>
            <a:chOff x="0" y="0"/>
            <a:chExt cx="16459200" cy="731520"/>
          </a:xfrm>
        </p:grpSpPr>
        <p:sp>
          <p:nvSpPr>
            <p:cNvPr name="Freeform 6" id="6"/>
            <p:cNvSpPr/>
            <p:nvPr/>
          </p:nvSpPr>
          <p:spPr>
            <a:xfrm flipH="false" flipV="false" rot="0">
              <a:off x="0" y="0"/>
              <a:ext cx="16459200" cy="731520"/>
            </a:xfrm>
            <a:custGeom>
              <a:avLst/>
              <a:gdLst/>
              <a:ahLst/>
              <a:cxnLst/>
              <a:rect r="r" b="b" t="t" l="l"/>
              <a:pathLst>
                <a:path h="731520" w="16459200">
                  <a:moveTo>
                    <a:pt x="0" y="0"/>
                  </a:moveTo>
                  <a:lnTo>
                    <a:pt x="16459200" y="0"/>
                  </a:lnTo>
                  <a:lnTo>
                    <a:pt x="16459200" y="731520"/>
                  </a:lnTo>
                  <a:lnTo>
                    <a:pt x="0" y="731520"/>
                  </a:lnTo>
                  <a:close/>
                </a:path>
              </a:pathLst>
            </a:custGeom>
            <a:blipFill>
              <a:blip r:embed="rId2">
                <a:alphaModFix amt="0"/>
              </a:blip>
              <a:stretch>
                <a:fillRect l="0" t="-388413" r="0" b="-388413"/>
              </a:stretch>
            </a:blipFill>
          </p:spPr>
        </p:sp>
        <p:sp>
          <p:nvSpPr>
            <p:cNvPr name="TextBox 7" id="7"/>
            <p:cNvSpPr txBox="true"/>
            <p:nvPr/>
          </p:nvSpPr>
          <p:spPr>
            <a:xfrm>
              <a:off x="0" y="-57150"/>
              <a:ext cx="16459200" cy="788670"/>
            </a:xfrm>
            <a:prstGeom prst="rect">
              <a:avLst/>
            </a:prstGeom>
          </p:spPr>
          <p:txBody>
            <a:bodyPr anchor="ctr" rtlCol="false" tIns="0" lIns="0" bIns="0" rIns="0"/>
            <a:lstStyle/>
            <a:p>
              <a:pPr algn="l">
                <a:lnSpc>
                  <a:spcPts val="2700"/>
                </a:lnSpc>
              </a:pPr>
              <a:r>
                <a:rPr lang="en-US" sz="2250" i="true">
                  <a:solidFill>
                    <a:srgbClr val="6E7591"/>
                  </a:solidFill>
                  <a:latin typeface="Calibri (MS) Italics"/>
                  <a:ea typeface="Calibri (MS) Italics"/>
                  <a:cs typeface="Calibri (MS) Italics"/>
                  <a:sym typeface="Calibri (MS) Italics"/>
                </a:rPr>
                <a:t>Retrieval decides what the model even gets to see</a:t>
              </a:r>
            </a:p>
          </p:txBody>
        </p:sp>
      </p:grpSp>
      <p:grpSp>
        <p:nvGrpSpPr>
          <p:cNvPr name="Group 8" id="8"/>
          <p:cNvGrpSpPr/>
          <p:nvPr/>
        </p:nvGrpSpPr>
        <p:grpSpPr>
          <a:xfrm rot="0">
            <a:off x="950595" y="2870835"/>
            <a:ext cx="3928110" cy="3996690"/>
            <a:chOff x="0" y="0"/>
            <a:chExt cx="5237480" cy="5328920"/>
          </a:xfrm>
        </p:grpSpPr>
        <p:sp>
          <p:nvSpPr>
            <p:cNvPr name="Freeform 9" id="9"/>
            <p:cNvSpPr/>
            <p:nvPr/>
          </p:nvSpPr>
          <p:spPr>
            <a:xfrm flipH="false" flipV="false" rot="0">
              <a:off x="0" y="0"/>
              <a:ext cx="5237480" cy="5328920"/>
            </a:xfrm>
            <a:custGeom>
              <a:avLst/>
              <a:gdLst/>
              <a:ahLst/>
              <a:cxnLst/>
              <a:rect r="r" b="b" t="t" l="l"/>
              <a:pathLst>
                <a:path h="5328920" w="5237480">
                  <a:moveTo>
                    <a:pt x="0" y="183769"/>
                  </a:moveTo>
                  <a:cubicBezTo>
                    <a:pt x="0" y="82296"/>
                    <a:pt x="82296" y="0"/>
                    <a:pt x="183769" y="0"/>
                  </a:cubicBezTo>
                  <a:lnTo>
                    <a:pt x="5053711" y="0"/>
                  </a:lnTo>
                  <a:cubicBezTo>
                    <a:pt x="5155184" y="0"/>
                    <a:pt x="5237480" y="82296"/>
                    <a:pt x="5237480" y="183769"/>
                  </a:cubicBezTo>
                  <a:lnTo>
                    <a:pt x="5237480" y="5145151"/>
                  </a:lnTo>
                  <a:cubicBezTo>
                    <a:pt x="5237480" y="5246624"/>
                    <a:pt x="5155184" y="5328920"/>
                    <a:pt x="5053711" y="5328920"/>
                  </a:cubicBezTo>
                  <a:lnTo>
                    <a:pt x="183769" y="5328920"/>
                  </a:lnTo>
                  <a:cubicBezTo>
                    <a:pt x="82296" y="5328920"/>
                    <a:pt x="0" y="5246624"/>
                    <a:pt x="0" y="5145151"/>
                  </a:cubicBezTo>
                  <a:close/>
                </a:path>
              </a:pathLst>
            </a:custGeom>
            <a:solidFill>
              <a:srgbClr val="FFFFFF"/>
            </a:solidFill>
            <a:ln w="19050" cap="sq">
              <a:solidFill>
                <a:srgbClr val="DCE2F5"/>
              </a:solidFill>
              <a:prstDash val="solid"/>
              <a:miter/>
            </a:ln>
          </p:spPr>
        </p:sp>
      </p:grpSp>
      <p:grpSp>
        <p:nvGrpSpPr>
          <p:cNvPr name="Group 10" id="10"/>
          <p:cNvGrpSpPr/>
          <p:nvPr/>
        </p:nvGrpSpPr>
        <p:grpSpPr>
          <a:xfrm rot="0">
            <a:off x="1303020" y="3291840"/>
            <a:ext cx="754380" cy="754380"/>
            <a:chOff x="0" y="0"/>
            <a:chExt cx="1005840" cy="1005840"/>
          </a:xfrm>
        </p:grpSpPr>
        <p:sp>
          <p:nvSpPr>
            <p:cNvPr name="Freeform 11" id="11"/>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E2761"/>
            </a:solidFill>
          </p:spPr>
        </p:sp>
      </p:grpSp>
      <p:grpSp>
        <p:nvGrpSpPr>
          <p:cNvPr name="Group 12" id="12"/>
          <p:cNvGrpSpPr/>
          <p:nvPr/>
        </p:nvGrpSpPr>
        <p:grpSpPr>
          <a:xfrm rot="0">
            <a:off x="1303020" y="3291840"/>
            <a:ext cx="754380" cy="754380"/>
            <a:chOff x="0" y="0"/>
            <a:chExt cx="1005840" cy="1005840"/>
          </a:xfrm>
        </p:grpSpPr>
        <p:sp>
          <p:nvSpPr>
            <p:cNvPr name="Freeform 13" id="13"/>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2">
                <a:alphaModFix amt="0"/>
              </a:blip>
              <a:stretch>
                <a:fillRect l="-78303" t="0" r="-78303" b="0"/>
              </a:stretch>
            </a:blipFill>
          </p:spPr>
        </p:sp>
        <p:sp>
          <p:nvSpPr>
            <p:cNvPr name="TextBox 14" id="14"/>
            <p:cNvSpPr txBox="true"/>
            <p:nvPr/>
          </p:nvSpPr>
          <p:spPr>
            <a:xfrm>
              <a:off x="0" y="-19050"/>
              <a:ext cx="1005840" cy="1024890"/>
            </a:xfrm>
            <a:prstGeom prst="rect">
              <a:avLst/>
            </a:prstGeom>
          </p:spPr>
          <p:txBody>
            <a:bodyPr anchor="ctr" rtlCol="false" tIns="0" lIns="0" bIns="0" rIns="0"/>
            <a:lstStyle/>
            <a:p>
              <a:pPr algn="ctr">
                <a:lnSpc>
                  <a:spcPts val="3600"/>
                </a:lnSpc>
              </a:pPr>
              <a:r>
                <a:rPr lang="en-US" sz="3000" b="true">
                  <a:solidFill>
                    <a:srgbClr val="FFFFFF"/>
                  </a:solidFill>
                  <a:latin typeface="Cambria Bold"/>
                  <a:ea typeface="Cambria Bold"/>
                  <a:cs typeface="Cambria Bold"/>
                  <a:sym typeface="Cambria Bold"/>
                </a:rPr>
                <a:t>1</a:t>
              </a:r>
            </a:p>
          </p:txBody>
        </p:sp>
      </p:grpSp>
      <p:grpSp>
        <p:nvGrpSpPr>
          <p:cNvPr name="Group 15" id="15"/>
          <p:cNvGrpSpPr/>
          <p:nvPr/>
        </p:nvGrpSpPr>
        <p:grpSpPr>
          <a:xfrm rot="0">
            <a:off x="1303020" y="4320540"/>
            <a:ext cx="3223260" cy="548640"/>
            <a:chOff x="0" y="0"/>
            <a:chExt cx="4297680" cy="731520"/>
          </a:xfrm>
        </p:grpSpPr>
        <p:sp>
          <p:nvSpPr>
            <p:cNvPr name="Freeform 16" id="16"/>
            <p:cNvSpPr/>
            <p:nvPr/>
          </p:nvSpPr>
          <p:spPr>
            <a:xfrm flipH="false" flipV="false" rot="0">
              <a:off x="0" y="0"/>
              <a:ext cx="4297680" cy="731520"/>
            </a:xfrm>
            <a:custGeom>
              <a:avLst/>
              <a:gdLst/>
              <a:ahLst/>
              <a:cxnLst/>
              <a:rect r="r" b="b" t="t" l="l"/>
              <a:pathLst>
                <a:path h="731520" w="4297680">
                  <a:moveTo>
                    <a:pt x="0" y="0"/>
                  </a:moveTo>
                  <a:lnTo>
                    <a:pt x="4297680" y="0"/>
                  </a:lnTo>
                  <a:lnTo>
                    <a:pt x="4297680" y="731520"/>
                  </a:lnTo>
                  <a:lnTo>
                    <a:pt x="0" y="731520"/>
                  </a:lnTo>
                  <a:close/>
                </a:path>
              </a:pathLst>
            </a:custGeom>
            <a:blipFill>
              <a:blip r:embed="rId2">
                <a:alphaModFix amt="0"/>
              </a:blip>
              <a:stretch>
                <a:fillRect l="0" t="-64474" r="0" b="-64474"/>
              </a:stretch>
            </a:blipFill>
          </p:spPr>
        </p:sp>
        <p:sp>
          <p:nvSpPr>
            <p:cNvPr name="TextBox 17" id="17"/>
            <p:cNvSpPr txBox="true"/>
            <p:nvPr/>
          </p:nvSpPr>
          <p:spPr>
            <a:xfrm>
              <a:off x="0" y="-9525"/>
              <a:ext cx="4297680" cy="741045"/>
            </a:xfrm>
            <a:prstGeom prst="rect">
              <a:avLst/>
            </a:prstGeom>
          </p:spPr>
          <p:txBody>
            <a:bodyPr anchor="ctr" rtlCol="false" tIns="0" lIns="0" bIns="0" rIns="0"/>
            <a:lstStyle/>
            <a:p>
              <a:pPr algn="l">
                <a:lnSpc>
                  <a:spcPts val="3060"/>
                </a:lnSpc>
              </a:pPr>
              <a:r>
                <a:rPr lang="en-US" sz="2550" b="true">
                  <a:solidFill>
                    <a:srgbClr val="1E2761"/>
                  </a:solidFill>
                  <a:latin typeface="Cambria Bold"/>
                  <a:ea typeface="Cambria Bold"/>
                  <a:cs typeface="Cambria Bold"/>
                  <a:sym typeface="Cambria Bold"/>
                </a:rPr>
                <a:t>Query</a:t>
              </a:r>
            </a:p>
          </p:txBody>
        </p:sp>
      </p:grpSp>
      <p:grpSp>
        <p:nvGrpSpPr>
          <p:cNvPr name="Group 18" id="18"/>
          <p:cNvGrpSpPr/>
          <p:nvPr/>
        </p:nvGrpSpPr>
        <p:grpSpPr>
          <a:xfrm rot="0">
            <a:off x="1303020" y="4937760"/>
            <a:ext cx="3223260" cy="1783080"/>
            <a:chOff x="0" y="0"/>
            <a:chExt cx="4297680" cy="2377440"/>
          </a:xfrm>
        </p:grpSpPr>
        <p:sp>
          <p:nvSpPr>
            <p:cNvPr name="Freeform 19" id="19"/>
            <p:cNvSpPr/>
            <p:nvPr/>
          </p:nvSpPr>
          <p:spPr>
            <a:xfrm flipH="false" flipV="false" rot="0">
              <a:off x="0" y="0"/>
              <a:ext cx="4297680" cy="2377440"/>
            </a:xfrm>
            <a:custGeom>
              <a:avLst/>
              <a:gdLst/>
              <a:ahLst/>
              <a:cxnLst/>
              <a:rect r="r" b="b" t="t" l="l"/>
              <a:pathLst>
                <a:path h="2377440" w="4297680">
                  <a:moveTo>
                    <a:pt x="0" y="0"/>
                  </a:moveTo>
                  <a:lnTo>
                    <a:pt x="4297680" y="0"/>
                  </a:lnTo>
                  <a:lnTo>
                    <a:pt x="4297680" y="2377440"/>
                  </a:lnTo>
                  <a:lnTo>
                    <a:pt x="0" y="2377440"/>
                  </a:lnTo>
                  <a:close/>
                </a:path>
              </a:pathLst>
            </a:custGeom>
            <a:blipFill>
              <a:blip r:embed="rId2">
                <a:alphaModFix amt="0"/>
              </a:blip>
              <a:stretch>
                <a:fillRect l="-20976" t="0" r="-20976" b="0"/>
              </a:stretch>
            </a:blipFill>
          </p:spPr>
        </p:sp>
        <p:sp>
          <p:nvSpPr>
            <p:cNvPr name="TextBox 20" id="20"/>
            <p:cNvSpPr txBox="true"/>
            <p:nvPr/>
          </p:nvSpPr>
          <p:spPr>
            <a:xfrm>
              <a:off x="0" y="-57150"/>
              <a:ext cx="4297680" cy="2434590"/>
            </a:xfrm>
            <a:prstGeom prst="rect">
              <a:avLst/>
            </a:prstGeom>
          </p:spPr>
          <p:txBody>
            <a:bodyPr anchor="ctr" rtlCol="false" tIns="0" lIns="0" bIns="0" rIns="0"/>
            <a:lstStyle/>
            <a:p>
              <a:pPr algn="l">
                <a:lnSpc>
                  <a:spcPts val="2250"/>
                </a:lnSpc>
              </a:pPr>
              <a:r>
                <a:rPr lang="en-US" sz="1725">
                  <a:solidFill>
                    <a:srgbClr val="2B2B38"/>
                  </a:solidFill>
                  <a:latin typeface="Calibri (MS)"/>
                  <a:ea typeface="Calibri (MS)"/>
                  <a:cs typeface="Calibri (MS)"/>
                  <a:sym typeface="Calibri (MS)"/>
                </a:rPr>
                <a:t>A question comes in, needing information beyond the model's parameters.</a:t>
              </a:r>
            </a:p>
          </p:txBody>
        </p:sp>
      </p:grpSp>
      <p:grpSp>
        <p:nvGrpSpPr>
          <p:cNvPr name="Group 21" id="21"/>
          <p:cNvGrpSpPr/>
          <p:nvPr/>
        </p:nvGrpSpPr>
        <p:grpSpPr>
          <a:xfrm rot="0">
            <a:off x="4800600" y="4594860"/>
            <a:ext cx="480060" cy="548640"/>
            <a:chOff x="0" y="0"/>
            <a:chExt cx="640080" cy="731520"/>
          </a:xfrm>
        </p:grpSpPr>
        <p:sp>
          <p:nvSpPr>
            <p:cNvPr name="Freeform 22" id="22"/>
            <p:cNvSpPr/>
            <p:nvPr/>
          </p:nvSpPr>
          <p:spPr>
            <a:xfrm flipH="false" flipV="false" rot="0">
              <a:off x="0" y="0"/>
              <a:ext cx="640080" cy="731520"/>
            </a:xfrm>
            <a:custGeom>
              <a:avLst/>
              <a:gdLst/>
              <a:ahLst/>
              <a:cxnLst/>
              <a:rect r="r" b="b" t="t" l="l"/>
              <a:pathLst>
                <a:path h="731520" w="640080">
                  <a:moveTo>
                    <a:pt x="0" y="0"/>
                  </a:moveTo>
                  <a:lnTo>
                    <a:pt x="640080" y="0"/>
                  </a:lnTo>
                  <a:lnTo>
                    <a:pt x="640080" y="731520"/>
                  </a:lnTo>
                  <a:lnTo>
                    <a:pt x="0" y="731520"/>
                  </a:lnTo>
                  <a:close/>
                </a:path>
              </a:pathLst>
            </a:custGeom>
            <a:blipFill>
              <a:blip r:embed="rId2">
                <a:alphaModFix amt="0"/>
              </a:blip>
              <a:stretch>
                <a:fillRect l="-96632" t="0" r="-96632" b="0"/>
              </a:stretch>
            </a:blipFill>
          </p:spPr>
        </p:sp>
        <p:sp>
          <p:nvSpPr>
            <p:cNvPr name="TextBox 23" id="23"/>
            <p:cNvSpPr txBox="true"/>
            <p:nvPr/>
          </p:nvSpPr>
          <p:spPr>
            <a:xfrm>
              <a:off x="0" y="-66675"/>
              <a:ext cx="640080" cy="798195"/>
            </a:xfrm>
            <a:prstGeom prst="rect">
              <a:avLst/>
            </a:prstGeom>
          </p:spPr>
          <p:txBody>
            <a:bodyPr anchor="ctr" rtlCol="false" tIns="0" lIns="0" bIns="0" rIns="0"/>
            <a:lstStyle/>
            <a:p>
              <a:pPr algn="ctr">
                <a:lnSpc>
                  <a:spcPts val="3960"/>
                </a:lnSpc>
              </a:pPr>
              <a:r>
                <a:rPr lang="en-US" sz="3300" b="true">
                  <a:solidFill>
                    <a:srgbClr val="E8664F"/>
                  </a:solidFill>
                  <a:latin typeface="Calibri (MS) Bold"/>
                  <a:ea typeface="Calibri (MS) Bold"/>
                  <a:cs typeface="Calibri (MS) Bold"/>
                  <a:sym typeface="Calibri (MS) Bold"/>
                </a:rPr>
                <a:t>→</a:t>
              </a:r>
            </a:p>
          </p:txBody>
        </p:sp>
      </p:grpSp>
      <p:grpSp>
        <p:nvGrpSpPr>
          <p:cNvPr name="Group 24" id="24"/>
          <p:cNvGrpSpPr/>
          <p:nvPr/>
        </p:nvGrpSpPr>
        <p:grpSpPr>
          <a:xfrm rot="0">
            <a:off x="5202555" y="2870835"/>
            <a:ext cx="3928110" cy="3996690"/>
            <a:chOff x="0" y="0"/>
            <a:chExt cx="5237480" cy="5328920"/>
          </a:xfrm>
        </p:grpSpPr>
        <p:sp>
          <p:nvSpPr>
            <p:cNvPr name="Freeform 25" id="25"/>
            <p:cNvSpPr/>
            <p:nvPr/>
          </p:nvSpPr>
          <p:spPr>
            <a:xfrm flipH="false" flipV="false" rot="0">
              <a:off x="0" y="0"/>
              <a:ext cx="5237480" cy="5328920"/>
            </a:xfrm>
            <a:custGeom>
              <a:avLst/>
              <a:gdLst/>
              <a:ahLst/>
              <a:cxnLst/>
              <a:rect r="r" b="b" t="t" l="l"/>
              <a:pathLst>
                <a:path h="5328920" w="5237480">
                  <a:moveTo>
                    <a:pt x="0" y="183769"/>
                  </a:moveTo>
                  <a:cubicBezTo>
                    <a:pt x="0" y="82296"/>
                    <a:pt x="82296" y="0"/>
                    <a:pt x="183769" y="0"/>
                  </a:cubicBezTo>
                  <a:lnTo>
                    <a:pt x="5053711" y="0"/>
                  </a:lnTo>
                  <a:cubicBezTo>
                    <a:pt x="5155184" y="0"/>
                    <a:pt x="5237480" y="82296"/>
                    <a:pt x="5237480" y="183769"/>
                  </a:cubicBezTo>
                  <a:lnTo>
                    <a:pt x="5237480" y="5145151"/>
                  </a:lnTo>
                  <a:cubicBezTo>
                    <a:pt x="5237480" y="5246624"/>
                    <a:pt x="5155184" y="5328920"/>
                    <a:pt x="5053711" y="5328920"/>
                  </a:cubicBezTo>
                  <a:lnTo>
                    <a:pt x="183769" y="5328920"/>
                  </a:lnTo>
                  <a:cubicBezTo>
                    <a:pt x="82296" y="5328920"/>
                    <a:pt x="0" y="5246624"/>
                    <a:pt x="0" y="5145151"/>
                  </a:cubicBezTo>
                  <a:close/>
                </a:path>
              </a:pathLst>
            </a:custGeom>
            <a:solidFill>
              <a:srgbClr val="FFFFFF"/>
            </a:solidFill>
            <a:ln w="19050" cap="sq">
              <a:solidFill>
                <a:srgbClr val="DCE2F5"/>
              </a:solidFill>
              <a:prstDash val="solid"/>
              <a:miter/>
            </a:ln>
          </p:spPr>
        </p:sp>
      </p:grpSp>
      <p:grpSp>
        <p:nvGrpSpPr>
          <p:cNvPr name="Group 26" id="26"/>
          <p:cNvGrpSpPr/>
          <p:nvPr/>
        </p:nvGrpSpPr>
        <p:grpSpPr>
          <a:xfrm rot="0">
            <a:off x="5554980" y="3291840"/>
            <a:ext cx="754380" cy="754380"/>
            <a:chOff x="0" y="0"/>
            <a:chExt cx="1005840" cy="1005840"/>
          </a:xfrm>
        </p:grpSpPr>
        <p:sp>
          <p:nvSpPr>
            <p:cNvPr name="Freeform 27" id="27"/>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E2761"/>
            </a:solidFill>
          </p:spPr>
        </p:sp>
      </p:grpSp>
      <p:grpSp>
        <p:nvGrpSpPr>
          <p:cNvPr name="Group 28" id="28"/>
          <p:cNvGrpSpPr/>
          <p:nvPr/>
        </p:nvGrpSpPr>
        <p:grpSpPr>
          <a:xfrm rot="0">
            <a:off x="5554980" y="3291840"/>
            <a:ext cx="754380" cy="754380"/>
            <a:chOff x="0" y="0"/>
            <a:chExt cx="1005840" cy="1005840"/>
          </a:xfrm>
        </p:grpSpPr>
        <p:sp>
          <p:nvSpPr>
            <p:cNvPr name="Freeform 29" id="29"/>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2">
                <a:alphaModFix amt="0"/>
              </a:blip>
              <a:stretch>
                <a:fillRect l="-78303" t="0" r="-78303" b="0"/>
              </a:stretch>
            </a:blipFill>
          </p:spPr>
        </p:sp>
        <p:sp>
          <p:nvSpPr>
            <p:cNvPr name="TextBox 30" id="30"/>
            <p:cNvSpPr txBox="true"/>
            <p:nvPr/>
          </p:nvSpPr>
          <p:spPr>
            <a:xfrm>
              <a:off x="0" y="-19050"/>
              <a:ext cx="1005840" cy="1024890"/>
            </a:xfrm>
            <a:prstGeom prst="rect">
              <a:avLst/>
            </a:prstGeom>
          </p:spPr>
          <p:txBody>
            <a:bodyPr anchor="ctr" rtlCol="false" tIns="0" lIns="0" bIns="0" rIns="0"/>
            <a:lstStyle/>
            <a:p>
              <a:pPr algn="ctr">
                <a:lnSpc>
                  <a:spcPts val="3600"/>
                </a:lnSpc>
              </a:pPr>
              <a:r>
                <a:rPr lang="en-US" sz="3000" b="true">
                  <a:solidFill>
                    <a:srgbClr val="FFFFFF"/>
                  </a:solidFill>
                  <a:latin typeface="Cambria Bold"/>
                  <a:ea typeface="Cambria Bold"/>
                  <a:cs typeface="Cambria Bold"/>
                  <a:sym typeface="Cambria Bold"/>
                </a:rPr>
                <a:t>2</a:t>
              </a:r>
            </a:p>
          </p:txBody>
        </p:sp>
      </p:grpSp>
      <p:grpSp>
        <p:nvGrpSpPr>
          <p:cNvPr name="Group 31" id="31"/>
          <p:cNvGrpSpPr/>
          <p:nvPr/>
        </p:nvGrpSpPr>
        <p:grpSpPr>
          <a:xfrm rot="0">
            <a:off x="5554980" y="4320540"/>
            <a:ext cx="3223260" cy="548640"/>
            <a:chOff x="0" y="0"/>
            <a:chExt cx="4297680" cy="731520"/>
          </a:xfrm>
        </p:grpSpPr>
        <p:sp>
          <p:nvSpPr>
            <p:cNvPr name="Freeform 32" id="32"/>
            <p:cNvSpPr/>
            <p:nvPr/>
          </p:nvSpPr>
          <p:spPr>
            <a:xfrm flipH="false" flipV="false" rot="0">
              <a:off x="0" y="0"/>
              <a:ext cx="4297680" cy="731520"/>
            </a:xfrm>
            <a:custGeom>
              <a:avLst/>
              <a:gdLst/>
              <a:ahLst/>
              <a:cxnLst/>
              <a:rect r="r" b="b" t="t" l="l"/>
              <a:pathLst>
                <a:path h="731520" w="4297680">
                  <a:moveTo>
                    <a:pt x="0" y="0"/>
                  </a:moveTo>
                  <a:lnTo>
                    <a:pt x="4297680" y="0"/>
                  </a:lnTo>
                  <a:lnTo>
                    <a:pt x="4297680" y="731520"/>
                  </a:lnTo>
                  <a:lnTo>
                    <a:pt x="0" y="731520"/>
                  </a:lnTo>
                  <a:close/>
                </a:path>
              </a:pathLst>
            </a:custGeom>
            <a:blipFill>
              <a:blip r:embed="rId2">
                <a:alphaModFix amt="0"/>
              </a:blip>
              <a:stretch>
                <a:fillRect l="0" t="-64474" r="0" b="-64474"/>
              </a:stretch>
            </a:blipFill>
          </p:spPr>
        </p:sp>
        <p:sp>
          <p:nvSpPr>
            <p:cNvPr name="TextBox 33" id="33"/>
            <p:cNvSpPr txBox="true"/>
            <p:nvPr/>
          </p:nvSpPr>
          <p:spPr>
            <a:xfrm>
              <a:off x="0" y="-9525"/>
              <a:ext cx="4297680" cy="741045"/>
            </a:xfrm>
            <a:prstGeom prst="rect">
              <a:avLst/>
            </a:prstGeom>
          </p:spPr>
          <p:txBody>
            <a:bodyPr anchor="ctr" rtlCol="false" tIns="0" lIns="0" bIns="0" rIns="0"/>
            <a:lstStyle/>
            <a:p>
              <a:pPr algn="l">
                <a:lnSpc>
                  <a:spcPts val="3060"/>
                </a:lnSpc>
              </a:pPr>
              <a:r>
                <a:rPr lang="en-US" sz="2550" b="true">
                  <a:solidFill>
                    <a:srgbClr val="1E2761"/>
                  </a:solidFill>
                  <a:latin typeface="Cambria Bold"/>
                  <a:ea typeface="Cambria Bold"/>
                  <a:cs typeface="Cambria Bold"/>
                  <a:sym typeface="Cambria Bold"/>
                </a:rPr>
                <a:t>Retrieve</a:t>
              </a:r>
            </a:p>
          </p:txBody>
        </p:sp>
      </p:grpSp>
      <p:grpSp>
        <p:nvGrpSpPr>
          <p:cNvPr name="Group 34" id="34"/>
          <p:cNvGrpSpPr/>
          <p:nvPr/>
        </p:nvGrpSpPr>
        <p:grpSpPr>
          <a:xfrm rot="0">
            <a:off x="5554980" y="4937760"/>
            <a:ext cx="3223260" cy="1783080"/>
            <a:chOff x="0" y="0"/>
            <a:chExt cx="4297680" cy="2377440"/>
          </a:xfrm>
        </p:grpSpPr>
        <p:sp>
          <p:nvSpPr>
            <p:cNvPr name="Freeform 35" id="35"/>
            <p:cNvSpPr/>
            <p:nvPr/>
          </p:nvSpPr>
          <p:spPr>
            <a:xfrm flipH="false" flipV="false" rot="0">
              <a:off x="0" y="0"/>
              <a:ext cx="4297680" cy="2377440"/>
            </a:xfrm>
            <a:custGeom>
              <a:avLst/>
              <a:gdLst/>
              <a:ahLst/>
              <a:cxnLst/>
              <a:rect r="r" b="b" t="t" l="l"/>
              <a:pathLst>
                <a:path h="2377440" w="4297680">
                  <a:moveTo>
                    <a:pt x="0" y="0"/>
                  </a:moveTo>
                  <a:lnTo>
                    <a:pt x="4297680" y="0"/>
                  </a:lnTo>
                  <a:lnTo>
                    <a:pt x="4297680" y="2377440"/>
                  </a:lnTo>
                  <a:lnTo>
                    <a:pt x="0" y="2377440"/>
                  </a:lnTo>
                  <a:close/>
                </a:path>
              </a:pathLst>
            </a:custGeom>
            <a:blipFill>
              <a:blip r:embed="rId2">
                <a:alphaModFix amt="0"/>
              </a:blip>
              <a:stretch>
                <a:fillRect l="-20976" t="0" r="-20976" b="0"/>
              </a:stretch>
            </a:blipFill>
          </p:spPr>
        </p:sp>
        <p:sp>
          <p:nvSpPr>
            <p:cNvPr name="TextBox 36" id="36"/>
            <p:cNvSpPr txBox="true"/>
            <p:nvPr/>
          </p:nvSpPr>
          <p:spPr>
            <a:xfrm>
              <a:off x="0" y="-57150"/>
              <a:ext cx="4297680" cy="2434590"/>
            </a:xfrm>
            <a:prstGeom prst="rect">
              <a:avLst/>
            </a:prstGeom>
          </p:spPr>
          <p:txBody>
            <a:bodyPr anchor="ctr" rtlCol="false" tIns="0" lIns="0" bIns="0" rIns="0"/>
            <a:lstStyle/>
            <a:p>
              <a:pPr algn="l">
                <a:lnSpc>
                  <a:spcPts val="2250"/>
                </a:lnSpc>
              </a:pPr>
              <a:r>
                <a:rPr lang="en-US" sz="1725">
                  <a:solidFill>
                    <a:srgbClr val="2B2B38"/>
                  </a:solidFill>
                  <a:latin typeface="Calibri (MS)"/>
                  <a:ea typeface="Calibri (MS)"/>
                  <a:cs typeface="Calibri (MS)"/>
                  <a:sym typeface="Calibri (MS)"/>
                </a:rPr>
                <a:t>An index (vectors, keywords, or a graph) pulls candidate passages from a corpus.</a:t>
              </a:r>
            </a:p>
          </p:txBody>
        </p:sp>
      </p:grpSp>
      <p:grpSp>
        <p:nvGrpSpPr>
          <p:cNvPr name="Group 37" id="37"/>
          <p:cNvGrpSpPr/>
          <p:nvPr/>
        </p:nvGrpSpPr>
        <p:grpSpPr>
          <a:xfrm rot="0">
            <a:off x="9052560" y="4594860"/>
            <a:ext cx="480060" cy="548640"/>
            <a:chOff x="0" y="0"/>
            <a:chExt cx="640080" cy="731520"/>
          </a:xfrm>
        </p:grpSpPr>
        <p:sp>
          <p:nvSpPr>
            <p:cNvPr name="Freeform 38" id="38"/>
            <p:cNvSpPr/>
            <p:nvPr/>
          </p:nvSpPr>
          <p:spPr>
            <a:xfrm flipH="false" flipV="false" rot="0">
              <a:off x="0" y="0"/>
              <a:ext cx="640080" cy="731520"/>
            </a:xfrm>
            <a:custGeom>
              <a:avLst/>
              <a:gdLst/>
              <a:ahLst/>
              <a:cxnLst/>
              <a:rect r="r" b="b" t="t" l="l"/>
              <a:pathLst>
                <a:path h="731520" w="640080">
                  <a:moveTo>
                    <a:pt x="0" y="0"/>
                  </a:moveTo>
                  <a:lnTo>
                    <a:pt x="640080" y="0"/>
                  </a:lnTo>
                  <a:lnTo>
                    <a:pt x="640080" y="731520"/>
                  </a:lnTo>
                  <a:lnTo>
                    <a:pt x="0" y="731520"/>
                  </a:lnTo>
                  <a:close/>
                </a:path>
              </a:pathLst>
            </a:custGeom>
            <a:blipFill>
              <a:blip r:embed="rId2">
                <a:alphaModFix amt="0"/>
              </a:blip>
              <a:stretch>
                <a:fillRect l="-96632" t="0" r="-96632" b="0"/>
              </a:stretch>
            </a:blipFill>
          </p:spPr>
        </p:sp>
        <p:sp>
          <p:nvSpPr>
            <p:cNvPr name="TextBox 39" id="39"/>
            <p:cNvSpPr txBox="true"/>
            <p:nvPr/>
          </p:nvSpPr>
          <p:spPr>
            <a:xfrm>
              <a:off x="0" y="-66675"/>
              <a:ext cx="640080" cy="798195"/>
            </a:xfrm>
            <a:prstGeom prst="rect">
              <a:avLst/>
            </a:prstGeom>
          </p:spPr>
          <p:txBody>
            <a:bodyPr anchor="ctr" rtlCol="false" tIns="0" lIns="0" bIns="0" rIns="0"/>
            <a:lstStyle/>
            <a:p>
              <a:pPr algn="ctr">
                <a:lnSpc>
                  <a:spcPts val="3960"/>
                </a:lnSpc>
              </a:pPr>
              <a:r>
                <a:rPr lang="en-US" sz="3300" b="true">
                  <a:solidFill>
                    <a:srgbClr val="E8664F"/>
                  </a:solidFill>
                  <a:latin typeface="Calibri (MS) Bold"/>
                  <a:ea typeface="Calibri (MS) Bold"/>
                  <a:cs typeface="Calibri (MS) Bold"/>
                  <a:sym typeface="Calibri (MS) Bold"/>
                </a:rPr>
                <a:t>→</a:t>
              </a:r>
            </a:p>
          </p:txBody>
        </p:sp>
      </p:grpSp>
      <p:grpSp>
        <p:nvGrpSpPr>
          <p:cNvPr name="Group 40" id="40"/>
          <p:cNvGrpSpPr/>
          <p:nvPr/>
        </p:nvGrpSpPr>
        <p:grpSpPr>
          <a:xfrm rot="0">
            <a:off x="9454515" y="2870835"/>
            <a:ext cx="3928110" cy="3996690"/>
            <a:chOff x="0" y="0"/>
            <a:chExt cx="5237480" cy="5328920"/>
          </a:xfrm>
        </p:grpSpPr>
        <p:sp>
          <p:nvSpPr>
            <p:cNvPr name="Freeform 41" id="41"/>
            <p:cNvSpPr/>
            <p:nvPr/>
          </p:nvSpPr>
          <p:spPr>
            <a:xfrm flipH="false" flipV="false" rot="0">
              <a:off x="0" y="0"/>
              <a:ext cx="5237480" cy="5328920"/>
            </a:xfrm>
            <a:custGeom>
              <a:avLst/>
              <a:gdLst/>
              <a:ahLst/>
              <a:cxnLst/>
              <a:rect r="r" b="b" t="t" l="l"/>
              <a:pathLst>
                <a:path h="5328920" w="5237480">
                  <a:moveTo>
                    <a:pt x="0" y="183769"/>
                  </a:moveTo>
                  <a:cubicBezTo>
                    <a:pt x="0" y="82296"/>
                    <a:pt x="82296" y="0"/>
                    <a:pt x="183769" y="0"/>
                  </a:cubicBezTo>
                  <a:lnTo>
                    <a:pt x="5053711" y="0"/>
                  </a:lnTo>
                  <a:cubicBezTo>
                    <a:pt x="5155184" y="0"/>
                    <a:pt x="5237480" y="82296"/>
                    <a:pt x="5237480" y="183769"/>
                  </a:cubicBezTo>
                  <a:lnTo>
                    <a:pt x="5237480" y="5145151"/>
                  </a:lnTo>
                  <a:cubicBezTo>
                    <a:pt x="5237480" y="5246624"/>
                    <a:pt x="5155184" y="5328920"/>
                    <a:pt x="5053711" y="5328920"/>
                  </a:cubicBezTo>
                  <a:lnTo>
                    <a:pt x="183769" y="5328920"/>
                  </a:lnTo>
                  <a:cubicBezTo>
                    <a:pt x="82296" y="5328920"/>
                    <a:pt x="0" y="5246624"/>
                    <a:pt x="0" y="5145151"/>
                  </a:cubicBezTo>
                  <a:close/>
                </a:path>
              </a:pathLst>
            </a:custGeom>
            <a:solidFill>
              <a:srgbClr val="FFFFFF"/>
            </a:solidFill>
            <a:ln w="19050" cap="sq">
              <a:solidFill>
                <a:srgbClr val="DCE2F5"/>
              </a:solidFill>
              <a:prstDash val="solid"/>
              <a:miter/>
            </a:ln>
          </p:spPr>
        </p:sp>
      </p:grpSp>
      <p:grpSp>
        <p:nvGrpSpPr>
          <p:cNvPr name="Group 42" id="42"/>
          <p:cNvGrpSpPr/>
          <p:nvPr/>
        </p:nvGrpSpPr>
        <p:grpSpPr>
          <a:xfrm rot="0">
            <a:off x="9806940" y="3291840"/>
            <a:ext cx="754380" cy="754380"/>
            <a:chOff x="0" y="0"/>
            <a:chExt cx="1005840" cy="1005840"/>
          </a:xfrm>
        </p:grpSpPr>
        <p:sp>
          <p:nvSpPr>
            <p:cNvPr name="Freeform 43" id="43"/>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E2761"/>
            </a:solidFill>
          </p:spPr>
        </p:sp>
      </p:grpSp>
      <p:grpSp>
        <p:nvGrpSpPr>
          <p:cNvPr name="Group 44" id="44"/>
          <p:cNvGrpSpPr/>
          <p:nvPr/>
        </p:nvGrpSpPr>
        <p:grpSpPr>
          <a:xfrm rot="0">
            <a:off x="9806940" y="3291840"/>
            <a:ext cx="754380" cy="754380"/>
            <a:chOff x="0" y="0"/>
            <a:chExt cx="1005840" cy="1005840"/>
          </a:xfrm>
        </p:grpSpPr>
        <p:sp>
          <p:nvSpPr>
            <p:cNvPr name="Freeform 45" id="45"/>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2">
                <a:alphaModFix amt="0"/>
              </a:blip>
              <a:stretch>
                <a:fillRect l="-78303" t="0" r="-78303" b="0"/>
              </a:stretch>
            </a:blipFill>
          </p:spPr>
        </p:sp>
        <p:sp>
          <p:nvSpPr>
            <p:cNvPr name="TextBox 46" id="46"/>
            <p:cNvSpPr txBox="true"/>
            <p:nvPr/>
          </p:nvSpPr>
          <p:spPr>
            <a:xfrm>
              <a:off x="0" y="-19050"/>
              <a:ext cx="1005840" cy="1024890"/>
            </a:xfrm>
            <a:prstGeom prst="rect">
              <a:avLst/>
            </a:prstGeom>
          </p:spPr>
          <p:txBody>
            <a:bodyPr anchor="ctr" rtlCol="false" tIns="0" lIns="0" bIns="0" rIns="0"/>
            <a:lstStyle/>
            <a:p>
              <a:pPr algn="ctr">
                <a:lnSpc>
                  <a:spcPts val="3600"/>
                </a:lnSpc>
              </a:pPr>
              <a:r>
                <a:rPr lang="en-US" sz="3000" b="true">
                  <a:solidFill>
                    <a:srgbClr val="FFFFFF"/>
                  </a:solidFill>
                  <a:latin typeface="Cambria Bold"/>
                  <a:ea typeface="Cambria Bold"/>
                  <a:cs typeface="Cambria Bold"/>
                  <a:sym typeface="Cambria Bold"/>
                </a:rPr>
                <a:t>3</a:t>
              </a:r>
            </a:p>
          </p:txBody>
        </p:sp>
      </p:grpSp>
      <p:grpSp>
        <p:nvGrpSpPr>
          <p:cNvPr name="Group 47" id="47"/>
          <p:cNvGrpSpPr/>
          <p:nvPr/>
        </p:nvGrpSpPr>
        <p:grpSpPr>
          <a:xfrm rot="0">
            <a:off x="9806940" y="4320540"/>
            <a:ext cx="3223260" cy="548640"/>
            <a:chOff x="0" y="0"/>
            <a:chExt cx="4297680" cy="731520"/>
          </a:xfrm>
        </p:grpSpPr>
        <p:sp>
          <p:nvSpPr>
            <p:cNvPr name="Freeform 48" id="48"/>
            <p:cNvSpPr/>
            <p:nvPr/>
          </p:nvSpPr>
          <p:spPr>
            <a:xfrm flipH="false" flipV="false" rot="0">
              <a:off x="0" y="0"/>
              <a:ext cx="4297680" cy="731520"/>
            </a:xfrm>
            <a:custGeom>
              <a:avLst/>
              <a:gdLst/>
              <a:ahLst/>
              <a:cxnLst/>
              <a:rect r="r" b="b" t="t" l="l"/>
              <a:pathLst>
                <a:path h="731520" w="4297680">
                  <a:moveTo>
                    <a:pt x="0" y="0"/>
                  </a:moveTo>
                  <a:lnTo>
                    <a:pt x="4297680" y="0"/>
                  </a:lnTo>
                  <a:lnTo>
                    <a:pt x="4297680" y="731520"/>
                  </a:lnTo>
                  <a:lnTo>
                    <a:pt x="0" y="731520"/>
                  </a:lnTo>
                  <a:close/>
                </a:path>
              </a:pathLst>
            </a:custGeom>
            <a:blipFill>
              <a:blip r:embed="rId2">
                <a:alphaModFix amt="0"/>
              </a:blip>
              <a:stretch>
                <a:fillRect l="0" t="-64474" r="0" b="-64474"/>
              </a:stretch>
            </a:blipFill>
          </p:spPr>
        </p:sp>
        <p:sp>
          <p:nvSpPr>
            <p:cNvPr name="TextBox 49" id="49"/>
            <p:cNvSpPr txBox="true"/>
            <p:nvPr/>
          </p:nvSpPr>
          <p:spPr>
            <a:xfrm>
              <a:off x="0" y="-9525"/>
              <a:ext cx="4297680" cy="741045"/>
            </a:xfrm>
            <a:prstGeom prst="rect">
              <a:avLst/>
            </a:prstGeom>
          </p:spPr>
          <p:txBody>
            <a:bodyPr anchor="ctr" rtlCol="false" tIns="0" lIns="0" bIns="0" rIns="0"/>
            <a:lstStyle/>
            <a:p>
              <a:pPr algn="l">
                <a:lnSpc>
                  <a:spcPts val="3060"/>
                </a:lnSpc>
              </a:pPr>
              <a:r>
                <a:rPr lang="en-US" sz="2550" b="true">
                  <a:solidFill>
                    <a:srgbClr val="1E2761"/>
                  </a:solidFill>
                  <a:latin typeface="Cambria Bold"/>
                  <a:ea typeface="Cambria Bold"/>
                  <a:cs typeface="Cambria Bold"/>
                  <a:sym typeface="Cambria Bold"/>
                </a:rPr>
                <a:t>Augment</a:t>
              </a:r>
            </a:p>
          </p:txBody>
        </p:sp>
      </p:grpSp>
      <p:grpSp>
        <p:nvGrpSpPr>
          <p:cNvPr name="Group 50" id="50"/>
          <p:cNvGrpSpPr/>
          <p:nvPr/>
        </p:nvGrpSpPr>
        <p:grpSpPr>
          <a:xfrm rot="0">
            <a:off x="9806940" y="4937760"/>
            <a:ext cx="3223260" cy="1783080"/>
            <a:chOff x="0" y="0"/>
            <a:chExt cx="4297680" cy="2377440"/>
          </a:xfrm>
        </p:grpSpPr>
        <p:sp>
          <p:nvSpPr>
            <p:cNvPr name="Freeform 51" id="51"/>
            <p:cNvSpPr/>
            <p:nvPr/>
          </p:nvSpPr>
          <p:spPr>
            <a:xfrm flipH="false" flipV="false" rot="0">
              <a:off x="0" y="0"/>
              <a:ext cx="4297680" cy="2377440"/>
            </a:xfrm>
            <a:custGeom>
              <a:avLst/>
              <a:gdLst/>
              <a:ahLst/>
              <a:cxnLst/>
              <a:rect r="r" b="b" t="t" l="l"/>
              <a:pathLst>
                <a:path h="2377440" w="4297680">
                  <a:moveTo>
                    <a:pt x="0" y="0"/>
                  </a:moveTo>
                  <a:lnTo>
                    <a:pt x="4297680" y="0"/>
                  </a:lnTo>
                  <a:lnTo>
                    <a:pt x="4297680" y="2377440"/>
                  </a:lnTo>
                  <a:lnTo>
                    <a:pt x="0" y="2377440"/>
                  </a:lnTo>
                  <a:close/>
                </a:path>
              </a:pathLst>
            </a:custGeom>
            <a:blipFill>
              <a:blip r:embed="rId2">
                <a:alphaModFix amt="0"/>
              </a:blip>
              <a:stretch>
                <a:fillRect l="-20976" t="0" r="-20976" b="0"/>
              </a:stretch>
            </a:blipFill>
          </p:spPr>
        </p:sp>
        <p:sp>
          <p:nvSpPr>
            <p:cNvPr name="TextBox 52" id="52"/>
            <p:cNvSpPr txBox="true"/>
            <p:nvPr/>
          </p:nvSpPr>
          <p:spPr>
            <a:xfrm>
              <a:off x="0" y="-57150"/>
              <a:ext cx="4297680" cy="2434590"/>
            </a:xfrm>
            <a:prstGeom prst="rect">
              <a:avLst/>
            </a:prstGeom>
          </p:spPr>
          <p:txBody>
            <a:bodyPr anchor="ctr" rtlCol="false" tIns="0" lIns="0" bIns="0" rIns="0"/>
            <a:lstStyle/>
            <a:p>
              <a:pPr algn="l">
                <a:lnSpc>
                  <a:spcPts val="2250"/>
                </a:lnSpc>
              </a:pPr>
              <a:r>
                <a:rPr lang="en-US" sz="1725">
                  <a:solidFill>
                    <a:srgbClr val="2B2B38"/>
                  </a:solidFill>
                  <a:latin typeface="Calibri (MS)"/>
                  <a:ea typeface="Calibri (MS)"/>
                  <a:cs typeface="Calibri (MS)"/>
                  <a:sym typeface="Calibri (MS)"/>
                </a:rPr>
                <a:t>Retrieved passages are inserted into the model's context window.</a:t>
              </a:r>
            </a:p>
          </p:txBody>
        </p:sp>
      </p:grpSp>
      <p:grpSp>
        <p:nvGrpSpPr>
          <p:cNvPr name="Group 53" id="53"/>
          <p:cNvGrpSpPr/>
          <p:nvPr/>
        </p:nvGrpSpPr>
        <p:grpSpPr>
          <a:xfrm rot="0">
            <a:off x="13304520" y="4594860"/>
            <a:ext cx="480060" cy="548640"/>
            <a:chOff x="0" y="0"/>
            <a:chExt cx="640080" cy="731520"/>
          </a:xfrm>
        </p:grpSpPr>
        <p:sp>
          <p:nvSpPr>
            <p:cNvPr name="Freeform 54" id="54"/>
            <p:cNvSpPr/>
            <p:nvPr/>
          </p:nvSpPr>
          <p:spPr>
            <a:xfrm flipH="false" flipV="false" rot="0">
              <a:off x="0" y="0"/>
              <a:ext cx="640080" cy="731520"/>
            </a:xfrm>
            <a:custGeom>
              <a:avLst/>
              <a:gdLst/>
              <a:ahLst/>
              <a:cxnLst/>
              <a:rect r="r" b="b" t="t" l="l"/>
              <a:pathLst>
                <a:path h="731520" w="640080">
                  <a:moveTo>
                    <a:pt x="0" y="0"/>
                  </a:moveTo>
                  <a:lnTo>
                    <a:pt x="640080" y="0"/>
                  </a:lnTo>
                  <a:lnTo>
                    <a:pt x="640080" y="731520"/>
                  </a:lnTo>
                  <a:lnTo>
                    <a:pt x="0" y="731520"/>
                  </a:lnTo>
                  <a:close/>
                </a:path>
              </a:pathLst>
            </a:custGeom>
            <a:blipFill>
              <a:blip r:embed="rId2">
                <a:alphaModFix amt="0"/>
              </a:blip>
              <a:stretch>
                <a:fillRect l="-96632" t="0" r="-96632" b="0"/>
              </a:stretch>
            </a:blipFill>
          </p:spPr>
        </p:sp>
        <p:sp>
          <p:nvSpPr>
            <p:cNvPr name="TextBox 55" id="55"/>
            <p:cNvSpPr txBox="true"/>
            <p:nvPr/>
          </p:nvSpPr>
          <p:spPr>
            <a:xfrm>
              <a:off x="0" y="-66675"/>
              <a:ext cx="640080" cy="798195"/>
            </a:xfrm>
            <a:prstGeom prst="rect">
              <a:avLst/>
            </a:prstGeom>
          </p:spPr>
          <p:txBody>
            <a:bodyPr anchor="ctr" rtlCol="false" tIns="0" lIns="0" bIns="0" rIns="0"/>
            <a:lstStyle/>
            <a:p>
              <a:pPr algn="ctr">
                <a:lnSpc>
                  <a:spcPts val="3960"/>
                </a:lnSpc>
              </a:pPr>
              <a:r>
                <a:rPr lang="en-US" sz="3300" b="true">
                  <a:solidFill>
                    <a:srgbClr val="E8664F"/>
                  </a:solidFill>
                  <a:latin typeface="Calibri (MS) Bold"/>
                  <a:ea typeface="Calibri (MS) Bold"/>
                  <a:cs typeface="Calibri (MS) Bold"/>
                  <a:sym typeface="Calibri (MS) Bold"/>
                </a:rPr>
                <a:t>→</a:t>
              </a:r>
            </a:p>
          </p:txBody>
        </p:sp>
      </p:grpSp>
      <p:grpSp>
        <p:nvGrpSpPr>
          <p:cNvPr name="Group 56" id="56"/>
          <p:cNvGrpSpPr/>
          <p:nvPr/>
        </p:nvGrpSpPr>
        <p:grpSpPr>
          <a:xfrm rot="0">
            <a:off x="13706475" y="2870835"/>
            <a:ext cx="3928110" cy="3996690"/>
            <a:chOff x="0" y="0"/>
            <a:chExt cx="5237480" cy="5328920"/>
          </a:xfrm>
        </p:grpSpPr>
        <p:sp>
          <p:nvSpPr>
            <p:cNvPr name="Freeform 57" id="57"/>
            <p:cNvSpPr/>
            <p:nvPr/>
          </p:nvSpPr>
          <p:spPr>
            <a:xfrm flipH="false" flipV="false" rot="0">
              <a:off x="0" y="0"/>
              <a:ext cx="5237480" cy="5328920"/>
            </a:xfrm>
            <a:custGeom>
              <a:avLst/>
              <a:gdLst/>
              <a:ahLst/>
              <a:cxnLst/>
              <a:rect r="r" b="b" t="t" l="l"/>
              <a:pathLst>
                <a:path h="5328920" w="5237480">
                  <a:moveTo>
                    <a:pt x="0" y="183769"/>
                  </a:moveTo>
                  <a:cubicBezTo>
                    <a:pt x="0" y="82296"/>
                    <a:pt x="82296" y="0"/>
                    <a:pt x="183769" y="0"/>
                  </a:cubicBezTo>
                  <a:lnTo>
                    <a:pt x="5053711" y="0"/>
                  </a:lnTo>
                  <a:cubicBezTo>
                    <a:pt x="5155184" y="0"/>
                    <a:pt x="5237480" y="82296"/>
                    <a:pt x="5237480" y="183769"/>
                  </a:cubicBezTo>
                  <a:lnTo>
                    <a:pt x="5237480" y="5145151"/>
                  </a:lnTo>
                  <a:cubicBezTo>
                    <a:pt x="5237480" y="5246624"/>
                    <a:pt x="5155184" y="5328920"/>
                    <a:pt x="5053711" y="5328920"/>
                  </a:cubicBezTo>
                  <a:lnTo>
                    <a:pt x="183769" y="5328920"/>
                  </a:lnTo>
                  <a:cubicBezTo>
                    <a:pt x="82296" y="5328920"/>
                    <a:pt x="0" y="5246624"/>
                    <a:pt x="0" y="5145151"/>
                  </a:cubicBezTo>
                  <a:close/>
                </a:path>
              </a:pathLst>
            </a:custGeom>
            <a:solidFill>
              <a:srgbClr val="FFFFFF"/>
            </a:solidFill>
            <a:ln w="19050" cap="sq">
              <a:solidFill>
                <a:srgbClr val="DCE2F5"/>
              </a:solidFill>
              <a:prstDash val="solid"/>
              <a:miter/>
            </a:ln>
          </p:spPr>
        </p:sp>
      </p:grpSp>
      <p:grpSp>
        <p:nvGrpSpPr>
          <p:cNvPr name="Group 58" id="58"/>
          <p:cNvGrpSpPr/>
          <p:nvPr/>
        </p:nvGrpSpPr>
        <p:grpSpPr>
          <a:xfrm rot="0">
            <a:off x="14058900" y="3291840"/>
            <a:ext cx="754380" cy="754380"/>
            <a:chOff x="0" y="0"/>
            <a:chExt cx="1005840" cy="1005840"/>
          </a:xfrm>
        </p:grpSpPr>
        <p:sp>
          <p:nvSpPr>
            <p:cNvPr name="Freeform 59" id="59"/>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1E2761"/>
            </a:solidFill>
          </p:spPr>
        </p:sp>
      </p:grpSp>
      <p:grpSp>
        <p:nvGrpSpPr>
          <p:cNvPr name="Group 60" id="60"/>
          <p:cNvGrpSpPr/>
          <p:nvPr/>
        </p:nvGrpSpPr>
        <p:grpSpPr>
          <a:xfrm rot="0">
            <a:off x="14058900" y="3291840"/>
            <a:ext cx="754380" cy="754380"/>
            <a:chOff x="0" y="0"/>
            <a:chExt cx="1005840" cy="1005840"/>
          </a:xfrm>
        </p:grpSpPr>
        <p:sp>
          <p:nvSpPr>
            <p:cNvPr name="Freeform 61" id="61"/>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2">
                <a:alphaModFix amt="0"/>
              </a:blip>
              <a:stretch>
                <a:fillRect l="-78303" t="0" r="-78303" b="0"/>
              </a:stretch>
            </a:blipFill>
          </p:spPr>
        </p:sp>
        <p:sp>
          <p:nvSpPr>
            <p:cNvPr name="TextBox 62" id="62"/>
            <p:cNvSpPr txBox="true"/>
            <p:nvPr/>
          </p:nvSpPr>
          <p:spPr>
            <a:xfrm>
              <a:off x="0" y="-19050"/>
              <a:ext cx="1005840" cy="1024890"/>
            </a:xfrm>
            <a:prstGeom prst="rect">
              <a:avLst/>
            </a:prstGeom>
          </p:spPr>
          <p:txBody>
            <a:bodyPr anchor="ctr" rtlCol="false" tIns="0" lIns="0" bIns="0" rIns="0"/>
            <a:lstStyle/>
            <a:p>
              <a:pPr algn="ctr">
                <a:lnSpc>
                  <a:spcPts val="3600"/>
                </a:lnSpc>
              </a:pPr>
              <a:r>
                <a:rPr lang="en-US" sz="3000" b="true">
                  <a:solidFill>
                    <a:srgbClr val="FFFFFF"/>
                  </a:solidFill>
                  <a:latin typeface="Cambria Bold"/>
                  <a:ea typeface="Cambria Bold"/>
                  <a:cs typeface="Cambria Bold"/>
                  <a:sym typeface="Cambria Bold"/>
                </a:rPr>
                <a:t>4</a:t>
              </a:r>
            </a:p>
          </p:txBody>
        </p:sp>
      </p:grpSp>
      <p:grpSp>
        <p:nvGrpSpPr>
          <p:cNvPr name="Group 63" id="63"/>
          <p:cNvGrpSpPr/>
          <p:nvPr/>
        </p:nvGrpSpPr>
        <p:grpSpPr>
          <a:xfrm rot="0">
            <a:off x="14058900" y="4320540"/>
            <a:ext cx="3223260" cy="548640"/>
            <a:chOff x="0" y="0"/>
            <a:chExt cx="4297680" cy="731520"/>
          </a:xfrm>
        </p:grpSpPr>
        <p:sp>
          <p:nvSpPr>
            <p:cNvPr name="Freeform 64" id="64"/>
            <p:cNvSpPr/>
            <p:nvPr/>
          </p:nvSpPr>
          <p:spPr>
            <a:xfrm flipH="false" flipV="false" rot="0">
              <a:off x="0" y="0"/>
              <a:ext cx="4297680" cy="731520"/>
            </a:xfrm>
            <a:custGeom>
              <a:avLst/>
              <a:gdLst/>
              <a:ahLst/>
              <a:cxnLst/>
              <a:rect r="r" b="b" t="t" l="l"/>
              <a:pathLst>
                <a:path h="731520" w="4297680">
                  <a:moveTo>
                    <a:pt x="0" y="0"/>
                  </a:moveTo>
                  <a:lnTo>
                    <a:pt x="4297680" y="0"/>
                  </a:lnTo>
                  <a:lnTo>
                    <a:pt x="4297680" y="731520"/>
                  </a:lnTo>
                  <a:lnTo>
                    <a:pt x="0" y="731520"/>
                  </a:lnTo>
                  <a:close/>
                </a:path>
              </a:pathLst>
            </a:custGeom>
            <a:blipFill>
              <a:blip r:embed="rId2">
                <a:alphaModFix amt="0"/>
              </a:blip>
              <a:stretch>
                <a:fillRect l="0" t="-64474" r="0" b="-64474"/>
              </a:stretch>
            </a:blipFill>
          </p:spPr>
        </p:sp>
        <p:sp>
          <p:nvSpPr>
            <p:cNvPr name="TextBox 65" id="65"/>
            <p:cNvSpPr txBox="true"/>
            <p:nvPr/>
          </p:nvSpPr>
          <p:spPr>
            <a:xfrm>
              <a:off x="0" y="-9525"/>
              <a:ext cx="4297680" cy="741045"/>
            </a:xfrm>
            <a:prstGeom prst="rect">
              <a:avLst/>
            </a:prstGeom>
          </p:spPr>
          <p:txBody>
            <a:bodyPr anchor="ctr" rtlCol="false" tIns="0" lIns="0" bIns="0" rIns="0"/>
            <a:lstStyle/>
            <a:p>
              <a:pPr algn="l">
                <a:lnSpc>
                  <a:spcPts val="3060"/>
                </a:lnSpc>
              </a:pPr>
              <a:r>
                <a:rPr lang="en-US" sz="2550" b="true">
                  <a:solidFill>
                    <a:srgbClr val="1E2761"/>
                  </a:solidFill>
                  <a:latin typeface="Cambria Bold"/>
                  <a:ea typeface="Cambria Bold"/>
                  <a:cs typeface="Cambria Bold"/>
                  <a:sym typeface="Cambria Bold"/>
                </a:rPr>
                <a:t>Generate</a:t>
              </a:r>
            </a:p>
          </p:txBody>
        </p:sp>
      </p:grpSp>
      <p:grpSp>
        <p:nvGrpSpPr>
          <p:cNvPr name="Group 66" id="66"/>
          <p:cNvGrpSpPr/>
          <p:nvPr/>
        </p:nvGrpSpPr>
        <p:grpSpPr>
          <a:xfrm rot="0">
            <a:off x="14058900" y="4937760"/>
            <a:ext cx="3223260" cy="1783080"/>
            <a:chOff x="0" y="0"/>
            <a:chExt cx="4297680" cy="2377440"/>
          </a:xfrm>
        </p:grpSpPr>
        <p:sp>
          <p:nvSpPr>
            <p:cNvPr name="Freeform 67" id="67"/>
            <p:cNvSpPr/>
            <p:nvPr/>
          </p:nvSpPr>
          <p:spPr>
            <a:xfrm flipH="false" flipV="false" rot="0">
              <a:off x="0" y="0"/>
              <a:ext cx="4297680" cy="2377440"/>
            </a:xfrm>
            <a:custGeom>
              <a:avLst/>
              <a:gdLst/>
              <a:ahLst/>
              <a:cxnLst/>
              <a:rect r="r" b="b" t="t" l="l"/>
              <a:pathLst>
                <a:path h="2377440" w="4297680">
                  <a:moveTo>
                    <a:pt x="0" y="0"/>
                  </a:moveTo>
                  <a:lnTo>
                    <a:pt x="4297680" y="0"/>
                  </a:lnTo>
                  <a:lnTo>
                    <a:pt x="4297680" y="2377440"/>
                  </a:lnTo>
                  <a:lnTo>
                    <a:pt x="0" y="2377440"/>
                  </a:lnTo>
                  <a:close/>
                </a:path>
              </a:pathLst>
            </a:custGeom>
            <a:blipFill>
              <a:blip r:embed="rId2">
                <a:alphaModFix amt="0"/>
              </a:blip>
              <a:stretch>
                <a:fillRect l="-20976" t="0" r="-20976" b="0"/>
              </a:stretch>
            </a:blipFill>
          </p:spPr>
        </p:sp>
        <p:sp>
          <p:nvSpPr>
            <p:cNvPr name="TextBox 68" id="68"/>
            <p:cNvSpPr txBox="true"/>
            <p:nvPr/>
          </p:nvSpPr>
          <p:spPr>
            <a:xfrm>
              <a:off x="0" y="-57150"/>
              <a:ext cx="4297680" cy="2434590"/>
            </a:xfrm>
            <a:prstGeom prst="rect">
              <a:avLst/>
            </a:prstGeom>
          </p:spPr>
          <p:txBody>
            <a:bodyPr anchor="ctr" rtlCol="false" tIns="0" lIns="0" bIns="0" rIns="0"/>
            <a:lstStyle/>
            <a:p>
              <a:pPr algn="l">
                <a:lnSpc>
                  <a:spcPts val="2250"/>
                </a:lnSpc>
              </a:pPr>
              <a:r>
                <a:rPr lang="en-US" sz="1725">
                  <a:solidFill>
                    <a:srgbClr val="2B2B38"/>
                  </a:solidFill>
                  <a:latin typeface="Calibri (MS)"/>
                  <a:ea typeface="Calibri (MS)"/>
                  <a:cs typeface="Calibri (MS)"/>
                  <a:sym typeface="Calibri (MS)"/>
                </a:rPr>
                <a:t>The LLM writes an answer — ideally grounded in what it was handed.</a:t>
              </a:r>
            </a:p>
          </p:txBody>
        </p:sp>
      </p:grpSp>
      <p:grpSp>
        <p:nvGrpSpPr>
          <p:cNvPr name="Group 69" id="69"/>
          <p:cNvGrpSpPr/>
          <p:nvPr/>
        </p:nvGrpSpPr>
        <p:grpSpPr>
          <a:xfrm rot="0">
            <a:off x="17282160" y="9710928"/>
            <a:ext cx="685800" cy="411480"/>
            <a:chOff x="0" y="0"/>
            <a:chExt cx="914400" cy="548640"/>
          </a:xfrm>
        </p:grpSpPr>
        <p:sp>
          <p:nvSpPr>
            <p:cNvPr name="Freeform 70" id="70"/>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1" id="71"/>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E7591"/>
                  </a:solidFill>
                  <a:latin typeface="Calibri (MS)"/>
                  <a:ea typeface="Calibri (MS)"/>
                  <a:cs typeface="Calibri (MS)"/>
                  <a:sym typeface="Calibri (MS)"/>
                </a:rPr>
                <a:t>3</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383349"/>
            <a:ext cx="16064965" cy="770825"/>
            <a:chOff x="0" y="0"/>
            <a:chExt cx="18288000" cy="877491"/>
          </a:xfrm>
        </p:grpSpPr>
        <p:sp>
          <p:nvSpPr>
            <p:cNvPr name="Freeform 3" id="3"/>
            <p:cNvSpPr/>
            <p:nvPr/>
          </p:nvSpPr>
          <p:spPr>
            <a:xfrm flipH="false" flipV="false" rot="0">
              <a:off x="0" y="0"/>
              <a:ext cx="18288000" cy="877491"/>
            </a:xfrm>
            <a:custGeom>
              <a:avLst/>
              <a:gdLst/>
              <a:ahLst/>
              <a:cxnLst/>
              <a:rect r="r" b="b" t="t" l="l"/>
              <a:pathLst>
                <a:path h="877491" w="18288000">
                  <a:moveTo>
                    <a:pt x="0" y="0"/>
                  </a:moveTo>
                  <a:lnTo>
                    <a:pt x="18288000" y="0"/>
                  </a:lnTo>
                  <a:lnTo>
                    <a:pt x="18288000" y="877491"/>
                  </a:lnTo>
                  <a:lnTo>
                    <a:pt x="0" y="877491"/>
                  </a:lnTo>
                  <a:close/>
                </a:path>
              </a:pathLst>
            </a:custGeom>
            <a:blipFill>
              <a:blip r:embed="rId2">
                <a:alphaModFix amt="0"/>
              </a:blip>
              <a:stretch>
                <a:fillRect l="0" t="-364410" r="0" b="-347775"/>
              </a:stretch>
            </a:blipFill>
          </p:spPr>
        </p:sp>
        <p:sp>
          <p:nvSpPr>
            <p:cNvPr name="TextBox 4" id="4"/>
            <p:cNvSpPr txBox="true"/>
            <p:nvPr/>
          </p:nvSpPr>
          <p:spPr>
            <a:xfrm>
              <a:off x="0" y="-85725"/>
              <a:ext cx="18288000" cy="963216"/>
            </a:xfrm>
            <a:prstGeom prst="rect">
              <a:avLst/>
            </a:prstGeom>
          </p:spPr>
          <p:txBody>
            <a:bodyPr anchor="ctr" rtlCol="false" tIns="0" lIns="0" bIns="0" rIns="0"/>
            <a:lstStyle/>
            <a:p>
              <a:pPr algn="l">
                <a:lnSpc>
                  <a:spcPts val="4619"/>
                </a:lnSpc>
              </a:pPr>
              <a:r>
                <a:rPr lang="en-US" sz="3849" i="true">
                  <a:solidFill>
                    <a:srgbClr val="6E7591"/>
                  </a:solidFill>
                  <a:latin typeface="Calibri (MS) Italics"/>
                  <a:ea typeface="Calibri (MS) Italics"/>
                  <a:cs typeface="Calibri (MS) Italics"/>
                  <a:sym typeface="Calibri (MS) Italics"/>
                </a:rPr>
                <a:t>RAG Components</a:t>
              </a:r>
            </a:p>
          </p:txBody>
        </p:sp>
      </p:grpSp>
      <p:grpSp>
        <p:nvGrpSpPr>
          <p:cNvPr name="Group 5" id="5"/>
          <p:cNvGrpSpPr/>
          <p:nvPr/>
        </p:nvGrpSpPr>
        <p:grpSpPr>
          <a:xfrm rot="0">
            <a:off x="2232373" y="2639980"/>
            <a:ext cx="6215416" cy="3555758"/>
            <a:chOff x="0" y="0"/>
            <a:chExt cx="8287221" cy="4741011"/>
          </a:xfrm>
        </p:grpSpPr>
        <p:sp>
          <p:nvSpPr>
            <p:cNvPr name="Freeform 6" id="6"/>
            <p:cNvSpPr/>
            <p:nvPr/>
          </p:nvSpPr>
          <p:spPr>
            <a:xfrm flipH="false" flipV="false" rot="0">
              <a:off x="0" y="0"/>
              <a:ext cx="8287222" cy="4741011"/>
            </a:xfrm>
            <a:custGeom>
              <a:avLst/>
              <a:gdLst/>
              <a:ahLst/>
              <a:cxnLst/>
              <a:rect r="r" b="b" t="t" l="l"/>
              <a:pathLst>
                <a:path h="4741011" w="8287222">
                  <a:moveTo>
                    <a:pt x="0" y="351186"/>
                  </a:moveTo>
                  <a:cubicBezTo>
                    <a:pt x="0" y="157302"/>
                    <a:pt x="47590" y="0"/>
                    <a:pt x="106246" y="0"/>
                  </a:cubicBezTo>
                  <a:lnTo>
                    <a:pt x="8180975" y="0"/>
                  </a:lnTo>
                  <a:cubicBezTo>
                    <a:pt x="8239632" y="0"/>
                    <a:pt x="8287222" y="157302"/>
                    <a:pt x="8287222" y="351186"/>
                  </a:cubicBezTo>
                  <a:lnTo>
                    <a:pt x="8287222" y="4389825"/>
                  </a:lnTo>
                  <a:cubicBezTo>
                    <a:pt x="8287222" y="4583709"/>
                    <a:pt x="8239632" y="4741011"/>
                    <a:pt x="8180975" y="4741011"/>
                  </a:cubicBezTo>
                  <a:lnTo>
                    <a:pt x="106246" y="4741011"/>
                  </a:lnTo>
                  <a:cubicBezTo>
                    <a:pt x="47590" y="4741011"/>
                    <a:pt x="0" y="4583709"/>
                    <a:pt x="0" y="4389825"/>
                  </a:cubicBezTo>
                  <a:close/>
                </a:path>
              </a:pathLst>
            </a:custGeom>
            <a:solidFill>
              <a:srgbClr val="324A9E"/>
            </a:solidFill>
          </p:spPr>
        </p:sp>
      </p:grpSp>
      <p:grpSp>
        <p:nvGrpSpPr>
          <p:cNvPr name="Group 7" id="7"/>
          <p:cNvGrpSpPr/>
          <p:nvPr/>
        </p:nvGrpSpPr>
        <p:grpSpPr>
          <a:xfrm rot="0">
            <a:off x="2207105" y="2601852"/>
            <a:ext cx="6240684" cy="3632013"/>
            <a:chOff x="0" y="0"/>
            <a:chExt cx="9326880" cy="5428147"/>
          </a:xfrm>
        </p:grpSpPr>
        <p:sp>
          <p:nvSpPr>
            <p:cNvPr name="Freeform 8" id="8"/>
            <p:cNvSpPr/>
            <p:nvPr/>
          </p:nvSpPr>
          <p:spPr>
            <a:xfrm flipH="false" flipV="false" rot="0">
              <a:off x="0" y="0"/>
              <a:ext cx="9326880" cy="5428148"/>
            </a:xfrm>
            <a:custGeom>
              <a:avLst/>
              <a:gdLst/>
              <a:ahLst/>
              <a:cxnLst/>
              <a:rect r="r" b="b" t="t" l="l"/>
              <a:pathLst>
                <a:path h="5428148" w="9326880">
                  <a:moveTo>
                    <a:pt x="0" y="0"/>
                  </a:moveTo>
                  <a:lnTo>
                    <a:pt x="9326880" y="0"/>
                  </a:lnTo>
                  <a:lnTo>
                    <a:pt x="9326880" y="5428148"/>
                  </a:lnTo>
                  <a:lnTo>
                    <a:pt x="0" y="5428148"/>
                  </a:lnTo>
                  <a:close/>
                </a:path>
              </a:pathLst>
            </a:custGeom>
            <a:blipFill>
              <a:blip r:embed="rId2">
                <a:alphaModFix amt="0"/>
              </a:blip>
              <a:stretch>
                <a:fillRect l="0" t="-24215" r="0" b="57254"/>
              </a:stretch>
            </a:blipFill>
          </p:spPr>
        </p:sp>
        <p:sp>
          <p:nvSpPr>
            <p:cNvPr name="TextBox 9" id="9"/>
            <p:cNvSpPr txBox="true"/>
            <p:nvPr/>
          </p:nvSpPr>
          <p:spPr>
            <a:xfrm>
              <a:off x="0" y="-9525"/>
              <a:ext cx="9326880" cy="5437672"/>
            </a:xfrm>
            <a:prstGeom prst="rect">
              <a:avLst/>
            </a:prstGeom>
          </p:spPr>
          <p:txBody>
            <a:bodyPr anchor="ctr" rtlCol="false" tIns="0" lIns="0" bIns="0" rIns="0"/>
            <a:lstStyle/>
            <a:p>
              <a:pPr algn="ctr">
                <a:lnSpc>
                  <a:spcPts val="5939"/>
                </a:lnSpc>
              </a:pPr>
              <a:r>
                <a:rPr lang="en-US" b="true" sz="4949" spc="329">
                  <a:solidFill>
                    <a:srgbClr val="FFFFFF"/>
                  </a:solidFill>
                  <a:latin typeface="Cambria Bold"/>
                  <a:ea typeface="Cambria Bold"/>
                  <a:cs typeface="Cambria Bold"/>
                  <a:sym typeface="Cambria Bold"/>
                </a:rPr>
                <a:t>Indexing</a:t>
              </a:r>
            </a:p>
          </p:txBody>
        </p:sp>
      </p:grpSp>
      <p:grpSp>
        <p:nvGrpSpPr>
          <p:cNvPr name="Group 10" id="10"/>
          <p:cNvGrpSpPr/>
          <p:nvPr/>
        </p:nvGrpSpPr>
        <p:grpSpPr>
          <a:xfrm rot="0">
            <a:off x="9416692" y="2611583"/>
            <a:ext cx="6270853" cy="3536298"/>
            <a:chOff x="0" y="0"/>
            <a:chExt cx="8287221" cy="4673381"/>
          </a:xfrm>
        </p:grpSpPr>
        <p:sp>
          <p:nvSpPr>
            <p:cNvPr name="Freeform 11" id="11"/>
            <p:cNvSpPr/>
            <p:nvPr/>
          </p:nvSpPr>
          <p:spPr>
            <a:xfrm flipH="false" flipV="false" rot="0">
              <a:off x="0" y="0"/>
              <a:ext cx="8287222" cy="4673381"/>
            </a:xfrm>
            <a:custGeom>
              <a:avLst/>
              <a:gdLst/>
              <a:ahLst/>
              <a:cxnLst/>
              <a:rect r="r" b="b" t="t" l="l"/>
              <a:pathLst>
                <a:path h="4673381" w="8287222">
                  <a:moveTo>
                    <a:pt x="0" y="346176"/>
                  </a:moveTo>
                  <a:cubicBezTo>
                    <a:pt x="0" y="155058"/>
                    <a:pt x="47590" y="0"/>
                    <a:pt x="106246" y="0"/>
                  </a:cubicBezTo>
                  <a:lnTo>
                    <a:pt x="8180975" y="0"/>
                  </a:lnTo>
                  <a:cubicBezTo>
                    <a:pt x="8239632" y="0"/>
                    <a:pt x="8287222" y="155058"/>
                    <a:pt x="8287222" y="346176"/>
                  </a:cubicBezTo>
                  <a:lnTo>
                    <a:pt x="8287222" y="4327204"/>
                  </a:lnTo>
                  <a:cubicBezTo>
                    <a:pt x="8287222" y="4518322"/>
                    <a:pt x="8239632" y="4673381"/>
                    <a:pt x="8180975" y="4673381"/>
                  </a:cubicBezTo>
                  <a:lnTo>
                    <a:pt x="106246" y="4673381"/>
                  </a:lnTo>
                  <a:cubicBezTo>
                    <a:pt x="47590" y="4673381"/>
                    <a:pt x="0" y="4518322"/>
                    <a:pt x="0" y="4327204"/>
                  </a:cubicBezTo>
                  <a:close/>
                </a:path>
              </a:pathLst>
            </a:custGeom>
            <a:solidFill>
              <a:srgbClr val="E8664F"/>
            </a:solidFill>
          </p:spPr>
        </p:sp>
      </p:grpSp>
      <p:grpSp>
        <p:nvGrpSpPr>
          <p:cNvPr name="Group 12" id="12"/>
          <p:cNvGrpSpPr/>
          <p:nvPr/>
        </p:nvGrpSpPr>
        <p:grpSpPr>
          <a:xfrm rot="0">
            <a:off x="9023343" y="2601852"/>
            <a:ext cx="7057552" cy="3406541"/>
            <a:chOff x="0" y="0"/>
            <a:chExt cx="9326880" cy="4501901"/>
          </a:xfrm>
        </p:grpSpPr>
        <p:sp>
          <p:nvSpPr>
            <p:cNvPr name="Freeform 13" id="13"/>
            <p:cNvSpPr/>
            <p:nvPr/>
          </p:nvSpPr>
          <p:spPr>
            <a:xfrm flipH="false" flipV="false" rot="0">
              <a:off x="0" y="0"/>
              <a:ext cx="9326880" cy="4501901"/>
            </a:xfrm>
            <a:custGeom>
              <a:avLst/>
              <a:gdLst/>
              <a:ahLst/>
              <a:cxnLst/>
              <a:rect r="r" b="b" t="t" l="l"/>
              <a:pathLst>
                <a:path h="4501901" w="9326880">
                  <a:moveTo>
                    <a:pt x="0" y="0"/>
                  </a:moveTo>
                  <a:lnTo>
                    <a:pt x="9326880" y="0"/>
                  </a:lnTo>
                  <a:lnTo>
                    <a:pt x="9326880" y="4501901"/>
                  </a:lnTo>
                  <a:lnTo>
                    <a:pt x="0" y="4501901"/>
                  </a:lnTo>
                  <a:close/>
                </a:path>
              </a:pathLst>
            </a:custGeom>
            <a:blipFill>
              <a:blip r:embed="rId2">
                <a:alphaModFix amt="0"/>
              </a:blip>
              <a:stretch>
                <a:fillRect l="0" t="-29197" r="0" b="48460"/>
              </a:stretch>
            </a:blipFill>
          </p:spPr>
        </p:sp>
        <p:sp>
          <p:nvSpPr>
            <p:cNvPr name="TextBox 14" id="14"/>
            <p:cNvSpPr txBox="true"/>
            <p:nvPr/>
          </p:nvSpPr>
          <p:spPr>
            <a:xfrm>
              <a:off x="0" y="0"/>
              <a:ext cx="9326880" cy="4501901"/>
            </a:xfrm>
            <a:prstGeom prst="rect">
              <a:avLst/>
            </a:prstGeom>
          </p:spPr>
          <p:txBody>
            <a:bodyPr anchor="ctr" rtlCol="false" tIns="0" lIns="0" bIns="0" rIns="0"/>
            <a:lstStyle/>
            <a:p>
              <a:pPr algn="ctr">
                <a:lnSpc>
                  <a:spcPts val="5579"/>
                </a:lnSpc>
              </a:pPr>
              <a:r>
                <a:rPr lang="en-US" b="true" sz="4649" spc="309">
                  <a:solidFill>
                    <a:srgbClr val="FFFFFF"/>
                  </a:solidFill>
                  <a:latin typeface="Cambria Bold"/>
                  <a:ea typeface="Cambria Bold"/>
                  <a:cs typeface="Cambria Bold"/>
                  <a:sym typeface="Cambria Bold"/>
                </a:rPr>
                <a:t>Retrieval</a:t>
              </a:r>
            </a:p>
          </p:txBody>
        </p:sp>
      </p:grpSp>
      <p:grpSp>
        <p:nvGrpSpPr>
          <p:cNvPr name="Group 15" id="15"/>
          <p:cNvGrpSpPr/>
          <p:nvPr/>
        </p:nvGrpSpPr>
        <p:grpSpPr>
          <a:xfrm rot="0">
            <a:off x="884617" y="-920792"/>
            <a:ext cx="11827657" cy="3303594"/>
            <a:chOff x="0" y="0"/>
            <a:chExt cx="15770210" cy="4404792"/>
          </a:xfrm>
        </p:grpSpPr>
        <p:sp>
          <p:nvSpPr>
            <p:cNvPr name="Freeform 16" id="16"/>
            <p:cNvSpPr/>
            <p:nvPr/>
          </p:nvSpPr>
          <p:spPr>
            <a:xfrm flipH="false" flipV="false" rot="0">
              <a:off x="0" y="0"/>
              <a:ext cx="15770209" cy="4404792"/>
            </a:xfrm>
            <a:custGeom>
              <a:avLst/>
              <a:gdLst/>
              <a:ahLst/>
              <a:cxnLst/>
              <a:rect r="r" b="b" t="t" l="l"/>
              <a:pathLst>
                <a:path h="4404792" w="15770209">
                  <a:moveTo>
                    <a:pt x="0" y="0"/>
                  </a:moveTo>
                  <a:lnTo>
                    <a:pt x="15770209" y="0"/>
                  </a:lnTo>
                  <a:lnTo>
                    <a:pt x="15770209" y="4404792"/>
                  </a:lnTo>
                  <a:lnTo>
                    <a:pt x="0" y="4404792"/>
                  </a:lnTo>
                  <a:close/>
                </a:path>
              </a:pathLst>
            </a:custGeom>
            <a:blipFill>
              <a:blip r:embed="rId2">
                <a:alphaModFix amt="0"/>
              </a:blip>
              <a:stretch>
                <a:fillRect l="0" t="-68443" r="-15965" b="6645"/>
              </a:stretch>
            </a:blipFill>
          </p:spPr>
        </p:sp>
        <p:sp>
          <p:nvSpPr>
            <p:cNvPr name="TextBox 17" id="17"/>
            <p:cNvSpPr txBox="true"/>
            <p:nvPr/>
          </p:nvSpPr>
          <p:spPr>
            <a:xfrm>
              <a:off x="0" y="-19050"/>
              <a:ext cx="15770210" cy="4423842"/>
            </a:xfrm>
            <a:prstGeom prst="rect">
              <a:avLst/>
            </a:prstGeom>
          </p:spPr>
          <p:txBody>
            <a:bodyPr anchor="ctr" rtlCol="false" tIns="0" lIns="0" bIns="0" rIns="0"/>
            <a:lstStyle/>
            <a:p>
              <a:pPr algn="l">
                <a:lnSpc>
                  <a:spcPts val="5400"/>
                </a:lnSpc>
              </a:pPr>
              <a:r>
                <a:rPr lang="en-US" sz="4500" b="true">
                  <a:solidFill>
                    <a:srgbClr val="1E2761"/>
                  </a:solidFill>
                  <a:latin typeface="Cambria Bold"/>
                  <a:ea typeface="Cambria Bold"/>
                  <a:cs typeface="Cambria Bold"/>
                  <a:sym typeface="Cambria Bold"/>
                </a:rPr>
                <a:t>Basic architecture of RAG</a:t>
              </a:r>
            </a:p>
          </p:txBody>
        </p:sp>
      </p:grpSp>
      <p:grpSp>
        <p:nvGrpSpPr>
          <p:cNvPr name="Group 18" id="18"/>
          <p:cNvGrpSpPr/>
          <p:nvPr/>
        </p:nvGrpSpPr>
        <p:grpSpPr>
          <a:xfrm rot="0">
            <a:off x="884617" y="1337153"/>
            <a:ext cx="8892642" cy="46196"/>
            <a:chOff x="0" y="0"/>
            <a:chExt cx="1860174" cy="9663"/>
          </a:xfrm>
        </p:grpSpPr>
        <p:sp>
          <p:nvSpPr>
            <p:cNvPr name="Freeform 19" id="19"/>
            <p:cNvSpPr/>
            <p:nvPr/>
          </p:nvSpPr>
          <p:spPr>
            <a:xfrm flipH="false" flipV="false" rot="0">
              <a:off x="0" y="0"/>
              <a:ext cx="1860174" cy="9663"/>
            </a:xfrm>
            <a:custGeom>
              <a:avLst/>
              <a:gdLst/>
              <a:ahLst/>
              <a:cxnLst/>
              <a:rect r="r" b="b" t="t" l="l"/>
              <a:pathLst>
                <a:path h="9663" w="1860174">
                  <a:moveTo>
                    <a:pt x="0" y="4832"/>
                  </a:moveTo>
                  <a:cubicBezTo>
                    <a:pt x="0" y="2163"/>
                    <a:pt x="416308" y="0"/>
                    <a:pt x="930087" y="0"/>
                  </a:cubicBezTo>
                  <a:cubicBezTo>
                    <a:pt x="1443866" y="0"/>
                    <a:pt x="1860174" y="2163"/>
                    <a:pt x="1860174" y="4832"/>
                  </a:cubicBezTo>
                  <a:cubicBezTo>
                    <a:pt x="1860174" y="7501"/>
                    <a:pt x="1443866" y="9663"/>
                    <a:pt x="930087" y="9663"/>
                  </a:cubicBezTo>
                  <a:cubicBezTo>
                    <a:pt x="416308" y="9663"/>
                    <a:pt x="0" y="7501"/>
                    <a:pt x="0" y="4832"/>
                  </a:cubicBezTo>
                  <a:close/>
                </a:path>
              </a:pathLst>
            </a:custGeom>
            <a:solidFill>
              <a:srgbClr val="E8664F"/>
            </a:solidFill>
          </p:spPr>
        </p:sp>
      </p:grpSp>
      <p:grpSp>
        <p:nvGrpSpPr>
          <p:cNvPr name="Group 20" id="20"/>
          <p:cNvGrpSpPr/>
          <p:nvPr/>
        </p:nvGrpSpPr>
        <p:grpSpPr>
          <a:xfrm rot="0">
            <a:off x="937260" y="7169054"/>
            <a:ext cx="16322040" cy="1851660"/>
            <a:chOff x="0" y="0"/>
            <a:chExt cx="21762720" cy="2468880"/>
          </a:xfrm>
        </p:grpSpPr>
        <p:sp>
          <p:nvSpPr>
            <p:cNvPr name="Freeform 21" id="21"/>
            <p:cNvSpPr/>
            <p:nvPr/>
          </p:nvSpPr>
          <p:spPr>
            <a:xfrm flipH="false" flipV="false" rot="0">
              <a:off x="0" y="0"/>
              <a:ext cx="21762720" cy="2468880"/>
            </a:xfrm>
            <a:custGeom>
              <a:avLst/>
              <a:gdLst/>
              <a:ahLst/>
              <a:cxnLst/>
              <a:rect r="r" b="b" t="t" l="l"/>
              <a:pathLst>
                <a:path h="2468880" w="21762720">
                  <a:moveTo>
                    <a:pt x="0" y="182880"/>
                  </a:moveTo>
                  <a:cubicBezTo>
                    <a:pt x="0" y="81915"/>
                    <a:pt x="81915" y="0"/>
                    <a:pt x="182880" y="0"/>
                  </a:cubicBezTo>
                  <a:lnTo>
                    <a:pt x="21579839" y="0"/>
                  </a:lnTo>
                  <a:cubicBezTo>
                    <a:pt x="21680804" y="0"/>
                    <a:pt x="21762720" y="81915"/>
                    <a:pt x="21762720" y="182880"/>
                  </a:cubicBezTo>
                  <a:lnTo>
                    <a:pt x="21762720" y="2286000"/>
                  </a:lnTo>
                  <a:cubicBezTo>
                    <a:pt x="21762720" y="2386965"/>
                    <a:pt x="21680804" y="2468880"/>
                    <a:pt x="21579839" y="2468880"/>
                  </a:cubicBezTo>
                  <a:lnTo>
                    <a:pt x="182880" y="2468880"/>
                  </a:lnTo>
                  <a:cubicBezTo>
                    <a:pt x="81915" y="2468880"/>
                    <a:pt x="0" y="2386965"/>
                    <a:pt x="0" y="2286000"/>
                  </a:cubicBezTo>
                  <a:close/>
                </a:path>
              </a:pathLst>
            </a:custGeom>
            <a:solidFill>
              <a:srgbClr val="1E2761"/>
            </a:solidFill>
          </p:spPr>
        </p:sp>
      </p:grpSp>
      <p:grpSp>
        <p:nvGrpSpPr>
          <p:cNvPr name="Group 22" id="22"/>
          <p:cNvGrpSpPr/>
          <p:nvPr/>
        </p:nvGrpSpPr>
        <p:grpSpPr>
          <a:xfrm rot="0">
            <a:off x="1399958" y="6863445"/>
            <a:ext cx="15396643" cy="2568749"/>
            <a:chOff x="0" y="0"/>
            <a:chExt cx="20528858" cy="3424999"/>
          </a:xfrm>
        </p:grpSpPr>
        <p:sp>
          <p:nvSpPr>
            <p:cNvPr name="Freeform 23" id="23"/>
            <p:cNvSpPr/>
            <p:nvPr/>
          </p:nvSpPr>
          <p:spPr>
            <a:xfrm flipH="false" flipV="false" rot="0">
              <a:off x="0" y="0"/>
              <a:ext cx="20528857" cy="3424999"/>
            </a:xfrm>
            <a:custGeom>
              <a:avLst/>
              <a:gdLst/>
              <a:ahLst/>
              <a:cxnLst/>
              <a:rect r="r" b="b" t="t" l="l"/>
              <a:pathLst>
                <a:path h="3424999" w="20528857">
                  <a:moveTo>
                    <a:pt x="0" y="0"/>
                  </a:moveTo>
                  <a:lnTo>
                    <a:pt x="20528857" y="0"/>
                  </a:lnTo>
                  <a:lnTo>
                    <a:pt x="20528857" y="3424999"/>
                  </a:lnTo>
                  <a:lnTo>
                    <a:pt x="0" y="3424999"/>
                  </a:lnTo>
                  <a:close/>
                </a:path>
              </a:pathLst>
            </a:custGeom>
            <a:blipFill>
              <a:blip r:embed="rId2">
                <a:alphaModFix amt="0"/>
              </a:blip>
              <a:stretch>
                <a:fillRect l="0" t="-9265" r="71493" b="42678"/>
              </a:stretch>
            </a:blipFill>
          </p:spPr>
        </p:sp>
        <p:sp>
          <p:nvSpPr>
            <p:cNvPr name="TextBox 24" id="24"/>
            <p:cNvSpPr txBox="true"/>
            <p:nvPr/>
          </p:nvSpPr>
          <p:spPr>
            <a:xfrm>
              <a:off x="0" y="-9525"/>
              <a:ext cx="20528858" cy="3434524"/>
            </a:xfrm>
            <a:prstGeom prst="rect">
              <a:avLst/>
            </a:prstGeom>
          </p:spPr>
          <p:txBody>
            <a:bodyPr anchor="ctr" rtlCol="false" tIns="0" lIns="0" bIns="0" rIns="0"/>
            <a:lstStyle/>
            <a:p>
              <a:pPr algn="ctr">
                <a:lnSpc>
                  <a:spcPts val="2999"/>
                </a:lnSpc>
              </a:pPr>
              <a:r>
                <a:rPr lang="en-US" sz="2499" b="true">
                  <a:solidFill>
                    <a:srgbClr val="CADCFC"/>
                  </a:solidFill>
                  <a:latin typeface="Cambria Bold"/>
                  <a:ea typeface="Cambria Bold"/>
                  <a:cs typeface="Cambria Bold"/>
                  <a:sym typeface="Cambria Bold"/>
                </a:rPr>
                <a:t>NOTE: for the sake of this study, we will only only consider two major components of RAG as these are where most  changes and comparisons would be made. Other parts such as Augmentation and generation will mostly remain constant</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4F6FC"/>
        </a:solidFill>
      </p:bgPr>
    </p:bg>
    <p:spTree>
      <p:nvGrpSpPr>
        <p:cNvPr id="1" name=""/>
        <p:cNvGrpSpPr/>
        <p:nvPr/>
      </p:nvGrpSpPr>
      <p:grpSpPr>
        <a:xfrm>
          <a:off x="0" y="0"/>
          <a:ext cx="0" cy="0"/>
          <a:chOff x="0" y="0"/>
          <a:chExt cx="0" cy="0"/>
        </a:xfrm>
      </p:grpSpPr>
      <p:grpSp>
        <p:nvGrpSpPr>
          <p:cNvPr name="Group 2" id="2"/>
          <p:cNvGrpSpPr/>
          <p:nvPr/>
        </p:nvGrpSpPr>
        <p:grpSpPr>
          <a:xfrm rot="0">
            <a:off x="1028700" y="-712053"/>
            <a:ext cx="10972800" cy="3516213"/>
            <a:chOff x="0" y="0"/>
            <a:chExt cx="14630400" cy="4688284"/>
          </a:xfrm>
        </p:grpSpPr>
        <p:sp>
          <p:nvSpPr>
            <p:cNvPr name="Freeform 3" id="3"/>
            <p:cNvSpPr/>
            <p:nvPr/>
          </p:nvSpPr>
          <p:spPr>
            <a:xfrm flipH="false" flipV="false" rot="0">
              <a:off x="0" y="0"/>
              <a:ext cx="14630400" cy="4688284"/>
            </a:xfrm>
            <a:custGeom>
              <a:avLst/>
              <a:gdLst/>
              <a:ahLst/>
              <a:cxnLst/>
              <a:rect r="r" b="b" t="t" l="l"/>
              <a:pathLst>
                <a:path h="4688284" w="14630400">
                  <a:moveTo>
                    <a:pt x="0" y="0"/>
                  </a:moveTo>
                  <a:lnTo>
                    <a:pt x="14630400" y="0"/>
                  </a:lnTo>
                  <a:lnTo>
                    <a:pt x="14630400" y="4688284"/>
                  </a:lnTo>
                  <a:lnTo>
                    <a:pt x="0" y="4688284"/>
                  </a:lnTo>
                  <a:close/>
                </a:path>
              </a:pathLst>
            </a:custGeom>
            <a:blipFill>
              <a:blip r:embed="rId2">
                <a:alphaModFix amt="0"/>
              </a:blip>
              <a:stretch>
                <a:fillRect l="0" t="-49103" r="0" b="27492"/>
              </a:stretch>
            </a:blipFill>
          </p:spPr>
        </p:sp>
        <p:sp>
          <p:nvSpPr>
            <p:cNvPr name="TextBox 4" id="4"/>
            <p:cNvSpPr txBox="true"/>
            <p:nvPr/>
          </p:nvSpPr>
          <p:spPr>
            <a:xfrm>
              <a:off x="0" y="-9525"/>
              <a:ext cx="14630400" cy="4697809"/>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Naive RAG Architecture</a:t>
              </a:r>
            </a:p>
          </p:txBody>
        </p:sp>
      </p:grpSp>
      <p:grpSp>
        <p:nvGrpSpPr>
          <p:cNvPr name="Group 5" id="5"/>
          <p:cNvGrpSpPr/>
          <p:nvPr/>
        </p:nvGrpSpPr>
        <p:grpSpPr>
          <a:xfrm rot="0">
            <a:off x="17282160" y="9710928"/>
            <a:ext cx="685800" cy="411480"/>
            <a:chOff x="0" y="0"/>
            <a:chExt cx="914400" cy="548640"/>
          </a:xfrm>
        </p:grpSpPr>
        <p:sp>
          <p:nvSpPr>
            <p:cNvPr name="Freeform 6" id="6"/>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 id="7"/>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E7591"/>
                  </a:solidFill>
                  <a:latin typeface="Calibri (MS)"/>
                  <a:ea typeface="Calibri (MS)"/>
                  <a:cs typeface="Calibri (MS)"/>
                  <a:sym typeface="Calibri (MS)"/>
                </a:rPr>
                <a:t>3</a:t>
              </a:r>
            </a:p>
          </p:txBody>
        </p:sp>
      </p:grpSp>
      <p:grpSp>
        <p:nvGrpSpPr>
          <p:cNvPr name="Group 8" id="8"/>
          <p:cNvGrpSpPr/>
          <p:nvPr/>
        </p:nvGrpSpPr>
        <p:grpSpPr>
          <a:xfrm rot="0">
            <a:off x="2190403" y="1645920"/>
            <a:ext cx="13907195" cy="8065008"/>
            <a:chOff x="0" y="0"/>
            <a:chExt cx="18542927" cy="10753344"/>
          </a:xfrm>
        </p:grpSpPr>
        <p:grpSp>
          <p:nvGrpSpPr>
            <p:cNvPr name="Group 9" id="9"/>
            <p:cNvGrpSpPr/>
            <p:nvPr/>
          </p:nvGrpSpPr>
          <p:grpSpPr>
            <a:xfrm rot="0">
              <a:off x="0" y="0"/>
              <a:ext cx="18542927" cy="10753344"/>
              <a:chOff x="0" y="0"/>
              <a:chExt cx="7587143" cy="4399907"/>
            </a:xfrm>
          </p:grpSpPr>
          <p:sp>
            <p:nvSpPr>
              <p:cNvPr name="Freeform 10" id="10"/>
              <p:cNvSpPr/>
              <p:nvPr/>
            </p:nvSpPr>
            <p:spPr>
              <a:xfrm flipH="false" flipV="false" rot="0">
                <a:off x="0" y="0"/>
                <a:ext cx="7587143" cy="4399908"/>
              </a:xfrm>
              <a:custGeom>
                <a:avLst/>
                <a:gdLst/>
                <a:ahLst/>
                <a:cxnLst/>
                <a:rect r="r" b="b" t="t" l="l"/>
                <a:pathLst>
                  <a:path h="4399908" w="7587143">
                    <a:moveTo>
                      <a:pt x="0" y="112818"/>
                    </a:moveTo>
                    <a:cubicBezTo>
                      <a:pt x="0" y="50533"/>
                      <a:pt x="123578" y="0"/>
                      <a:pt x="275896" y="0"/>
                    </a:cubicBezTo>
                    <a:lnTo>
                      <a:pt x="7311247" y="0"/>
                    </a:lnTo>
                    <a:cubicBezTo>
                      <a:pt x="7463565" y="0"/>
                      <a:pt x="7587143" y="50533"/>
                      <a:pt x="7587143" y="112818"/>
                    </a:cubicBezTo>
                    <a:lnTo>
                      <a:pt x="7587143" y="4287089"/>
                    </a:lnTo>
                    <a:cubicBezTo>
                      <a:pt x="7587143" y="4349374"/>
                      <a:pt x="7463565" y="4399908"/>
                      <a:pt x="7311247" y="4399908"/>
                    </a:cubicBezTo>
                    <a:lnTo>
                      <a:pt x="275896" y="4399908"/>
                    </a:lnTo>
                    <a:cubicBezTo>
                      <a:pt x="123578" y="4399907"/>
                      <a:pt x="0" y="4349374"/>
                      <a:pt x="0" y="4287089"/>
                    </a:cubicBezTo>
                    <a:close/>
                  </a:path>
                </a:pathLst>
              </a:custGeom>
              <a:solidFill>
                <a:srgbClr val="263172"/>
              </a:solidFill>
            </p:spPr>
          </p:sp>
        </p:grpSp>
        <p:sp>
          <p:nvSpPr>
            <p:cNvPr name="Freeform 11" id="11"/>
            <p:cNvSpPr/>
            <p:nvPr/>
          </p:nvSpPr>
          <p:spPr>
            <a:xfrm flipH="false" flipV="false" rot="0">
              <a:off x="275755" y="365760"/>
              <a:ext cx="18060484" cy="10113264"/>
            </a:xfrm>
            <a:custGeom>
              <a:avLst/>
              <a:gdLst/>
              <a:ahLst/>
              <a:cxnLst/>
              <a:rect r="r" b="b" t="t" l="l"/>
              <a:pathLst>
                <a:path h="10113264" w="18060484">
                  <a:moveTo>
                    <a:pt x="0" y="0"/>
                  </a:moveTo>
                  <a:lnTo>
                    <a:pt x="18060484" y="0"/>
                  </a:lnTo>
                  <a:lnTo>
                    <a:pt x="18060484" y="10113264"/>
                  </a:lnTo>
                  <a:lnTo>
                    <a:pt x="0" y="10113264"/>
                  </a:lnTo>
                  <a:lnTo>
                    <a:pt x="0" y="0"/>
                  </a:lnTo>
                  <a:close/>
                </a:path>
              </a:pathLst>
            </a:custGeom>
            <a:blipFill>
              <a:blip r:embed="rId3"/>
              <a:stretch>
                <a:fillRect l="0" t="0" r="-548" b="0"/>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820024" y="-498693"/>
            <a:ext cx="10972800" cy="3516213"/>
            <a:chOff x="0" y="0"/>
            <a:chExt cx="14630400" cy="4688284"/>
          </a:xfrm>
        </p:grpSpPr>
        <p:sp>
          <p:nvSpPr>
            <p:cNvPr name="Freeform 3" id="3"/>
            <p:cNvSpPr/>
            <p:nvPr/>
          </p:nvSpPr>
          <p:spPr>
            <a:xfrm flipH="false" flipV="false" rot="0">
              <a:off x="0" y="0"/>
              <a:ext cx="14630400" cy="4688284"/>
            </a:xfrm>
            <a:custGeom>
              <a:avLst/>
              <a:gdLst/>
              <a:ahLst/>
              <a:cxnLst/>
              <a:rect r="r" b="b" t="t" l="l"/>
              <a:pathLst>
                <a:path h="4688284" w="14630400">
                  <a:moveTo>
                    <a:pt x="0" y="0"/>
                  </a:moveTo>
                  <a:lnTo>
                    <a:pt x="14630400" y="0"/>
                  </a:lnTo>
                  <a:lnTo>
                    <a:pt x="14630400" y="4688284"/>
                  </a:lnTo>
                  <a:lnTo>
                    <a:pt x="0" y="4688284"/>
                  </a:lnTo>
                  <a:close/>
                </a:path>
              </a:pathLst>
            </a:custGeom>
            <a:blipFill>
              <a:blip r:embed="rId2">
                <a:alphaModFix amt="0"/>
              </a:blip>
              <a:stretch>
                <a:fillRect l="0" t="-49103" r="0" b="27492"/>
              </a:stretch>
            </a:blipFill>
          </p:spPr>
        </p:sp>
        <p:sp>
          <p:nvSpPr>
            <p:cNvPr name="TextBox 4" id="4"/>
            <p:cNvSpPr txBox="true"/>
            <p:nvPr/>
          </p:nvSpPr>
          <p:spPr>
            <a:xfrm>
              <a:off x="0" y="-9525"/>
              <a:ext cx="14630400" cy="4697809"/>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Other RAG Architectures</a:t>
              </a:r>
            </a:p>
          </p:txBody>
        </p:sp>
      </p:grpSp>
      <p:grpSp>
        <p:nvGrpSpPr>
          <p:cNvPr name="Group 5" id="5"/>
          <p:cNvGrpSpPr/>
          <p:nvPr/>
        </p:nvGrpSpPr>
        <p:grpSpPr>
          <a:xfrm rot="0">
            <a:off x="1046690" y="2885043"/>
            <a:ext cx="4430876" cy="2404435"/>
            <a:chOff x="0" y="0"/>
            <a:chExt cx="2261695" cy="1227319"/>
          </a:xfrm>
        </p:grpSpPr>
        <p:sp>
          <p:nvSpPr>
            <p:cNvPr name="Freeform 6" id="6"/>
            <p:cNvSpPr/>
            <p:nvPr/>
          </p:nvSpPr>
          <p:spPr>
            <a:xfrm flipH="false" flipV="false" rot="0">
              <a:off x="0" y="0"/>
              <a:ext cx="2261695" cy="1227319"/>
            </a:xfrm>
            <a:custGeom>
              <a:avLst/>
              <a:gdLst/>
              <a:ahLst/>
              <a:cxnLst/>
              <a:rect r="r" b="b" t="t" l="l"/>
              <a:pathLst>
                <a:path h="1227319" w="2261695">
                  <a:moveTo>
                    <a:pt x="0" y="31470"/>
                  </a:moveTo>
                  <a:cubicBezTo>
                    <a:pt x="0" y="14096"/>
                    <a:pt x="36838" y="0"/>
                    <a:pt x="82243" y="0"/>
                  </a:cubicBezTo>
                  <a:lnTo>
                    <a:pt x="2179451" y="0"/>
                  </a:lnTo>
                  <a:cubicBezTo>
                    <a:pt x="2224857" y="0"/>
                    <a:pt x="2261695" y="14096"/>
                    <a:pt x="2261695" y="31470"/>
                  </a:cubicBezTo>
                  <a:lnTo>
                    <a:pt x="2261695" y="1195849"/>
                  </a:lnTo>
                  <a:cubicBezTo>
                    <a:pt x="2261695" y="1213223"/>
                    <a:pt x="2224857" y="1227319"/>
                    <a:pt x="2179451" y="1227319"/>
                  </a:cubicBezTo>
                  <a:lnTo>
                    <a:pt x="82243" y="1227319"/>
                  </a:lnTo>
                  <a:cubicBezTo>
                    <a:pt x="36838" y="1227319"/>
                    <a:pt x="0" y="1213223"/>
                    <a:pt x="0" y="1195849"/>
                  </a:cubicBezTo>
                  <a:close/>
                </a:path>
              </a:pathLst>
            </a:custGeom>
            <a:solidFill>
              <a:srgbClr val="263172"/>
            </a:solidFill>
          </p:spPr>
        </p:sp>
      </p:grpSp>
      <p:grpSp>
        <p:nvGrpSpPr>
          <p:cNvPr name="Group 7" id="7"/>
          <p:cNvGrpSpPr/>
          <p:nvPr/>
        </p:nvGrpSpPr>
        <p:grpSpPr>
          <a:xfrm rot="0">
            <a:off x="1368936" y="1796270"/>
            <a:ext cx="3786385" cy="4567552"/>
            <a:chOff x="0" y="0"/>
            <a:chExt cx="1932721" cy="2331459"/>
          </a:xfrm>
        </p:grpSpPr>
        <p:sp>
          <p:nvSpPr>
            <p:cNvPr name="Freeform 8" id="8"/>
            <p:cNvSpPr/>
            <p:nvPr/>
          </p:nvSpPr>
          <p:spPr>
            <a:xfrm flipH="false" flipV="false" rot="0">
              <a:off x="0" y="0"/>
              <a:ext cx="1932721" cy="2331459"/>
            </a:xfrm>
            <a:custGeom>
              <a:avLst/>
              <a:gdLst/>
              <a:ahLst/>
              <a:cxnLst/>
              <a:rect r="r" b="b" t="t" l="l"/>
              <a:pathLst>
                <a:path h="2331459" w="1932721">
                  <a:moveTo>
                    <a:pt x="0" y="0"/>
                  </a:moveTo>
                  <a:lnTo>
                    <a:pt x="1932721" y="0"/>
                  </a:lnTo>
                  <a:lnTo>
                    <a:pt x="1932721" y="2331459"/>
                  </a:lnTo>
                  <a:lnTo>
                    <a:pt x="0" y="2331459"/>
                  </a:lnTo>
                  <a:close/>
                </a:path>
              </a:pathLst>
            </a:custGeom>
            <a:blipFill>
              <a:blip r:embed="rId2">
                <a:alphaModFix amt="0"/>
              </a:blip>
              <a:stretch>
                <a:fillRect l="0" t="-14346" r="-122364" b="42511"/>
              </a:stretch>
            </a:blipFill>
          </p:spPr>
        </p:sp>
        <p:sp>
          <p:nvSpPr>
            <p:cNvPr name="TextBox 9" id="9"/>
            <p:cNvSpPr txBox="true"/>
            <p:nvPr/>
          </p:nvSpPr>
          <p:spPr>
            <a:xfrm>
              <a:off x="0" y="0"/>
              <a:ext cx="1932721" cy="2331459"/>
            </a:xfrm>
            <a:prstGeom prst="rect">
              <a:avLst/>
            </a:prstGeom>
          </p:spPr>
          <p:txBody>
            <a:bodyPr anchor="ctr" rtlCol="false" tIns="0" lIns="0" bIns="0" rIns="0"/>
            <a:lstStyle/>
            <a:p>
              <a:pPr algn="ctr">
                <a:lnSpc>
                  <a:spcPts val="3299"/>
                </a:lnSpc>
              </a:pPr>
              <a:r>
                <a:rPr lang="en-US" sz="2749" b="true">
                  <a:solidFill>
                    <a:srgbClr val="FFFFFF"/>
                  </a:solidFill>
                  <a:latin typeface="Cambria Bold"/>
                  <a:ea typeface="Cambria Bold"/>
                  <a:cs typeface="Cambria Bold"/>
                  <a:sym typeface="Cambria Bold"/>
                </a:rPr>
                <a:t>Naive RAG</a:t>
              </a:r>
            </a:p>
          </p:txBody>
        </p:sp>
      </p:grpSp>
      <p:grpSp>
        <p:nvGrpSpPr>
          <p:cNvPr name="Group 10" id="10"/>
          <p:cNvGrpSpPr/>
          <p:nvPr/>
        </p:nvGrpSpPr>
        <p:grpSpPr>
          <a:xfrm rot="0">
            <a:off x="17282160" y="9710928"/>
            <a:ext cx="685800" cy="411480"/>
            <a:chOff x="0" y="0"/>
            <a:chExt cx="914400" cy="548640"/>
          </a:xfrm>
        </p:grpSpPr>
        <p:sp>
          <p:nvSpPr>
            <p:cNvPr name="Freeform 11" id="11"/>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12" id="12"/>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E7591"/>
                  </a:solidFill>
                  <a:latin typeface="Calibri (MS)"/>
                  <a:ea typeface="Calibri (MS)"/>
                  <a:cs typeface="Calibri (MS)"/>
                  <a:sym typeface="Calibri (MS)"/>
                </a:rPr>
                <a:t>10</a:t>
              </a:r>
            </a:p>
          </p:txBody>
        </p:sp>
      </p:grpSp>
      <p:grpSp>
        <p:nvGrpSpPr>
          <p:cNvPr name="Group 13" id="13"/>
          <p:cNvGrpSpPr/>
          <p:nvPr/>
        </p:nvGrpSpPr>
        <p:grpSpPr>
          <a:xfrm rot="0">
            <a:off x="10868944" y="2729490"/>
            <a:ext cx="4709839" cy="6314171"/>
            <a:chOff x="0" y="0"/>
            <a:chExt cx="4870530" cy="6529599"/>
          </a:xfrm>
        </p:grpSpPr>
        <p:sp>
          <p:nvSpPr>
            <p:cNvPr name="Freeform 14" id="14"/>
            <p:cNvSpPr/>
            <p:nvPr/>
          </p:nvSpPr>
          <p:spPr>
            <a:xfrm flipH="false" flipV="false" rot="0">
              <a:off x="0" y="0"/>
              <a:ext cx="4870530" cy="6529600"/>
            </a:xfrm>
            <a:custGeom>
              <a:avLst/>
              <a:gdLst/>
              <a:ahLst/>
              <a:cxnLst/>
              <a:rect r="r" b="b" t="t" l="l"/>
              <a:pathLst>
                <a:path h="6529600" w="4870530">
                  <a:moveTo>
                    <a:pt x="0" y="167426"/>
                  </a:moveTo>
                  <a:cubicBezTo>
                    <a:pt x="0" y="74993"/>
                    <a:pt x="79331" y="0"/>
                    <a:pt x="177110" y="0"/>
                  </a:cubicBezTo>
                  <a:lnTo>
                    <a:pt x="4693420" y="0"/>
                  </a:lnTo>
                  <a:cubicBezTo>
                    <a:pt x="4791199" y="0"/>
                    <a:pt x="4870530" y="74993"/>
                    <a:pt x="4870530" y="167426"/>
                  </a:cubicBezTo>
                  <a:lnTo>
                    <a:pt x="4870530" y="6362174"/>
                  </a:lnTo>
                  <a:cubicBezTo>
                    <a:pt x="4870530" y="6454607"/>
                    <a:pt x="4791199" y="6529600"/>
                    <a:pt x="4693420" y="6529600"/>
                  </a:cubicBezTo>
                  <a:lnTo>
                    <a:pt x="177110" y="6529600"/>
                  </a:lnTo>
                  <a:cubicBezTo>
                    <a:pt x="79331" y="6529599"/>
                    <a:pt x="0" y="6454607"/>
                    <a:pt x="0" y="6362174"/>
                  </a:cubicBezTo>
                  <a:close/>
                </a:path>
              </a:pathLst>
            </a:custGeom>
            <a:solidFill>
              <a:srgbClr val="263172"/>
            </a:solidFill>
          </p:spPr>
        </p:sp>
      </p:grpSp>
      <p:grpSp>
        <p:nvGrpSpPr>
          <p:cNvPr name="Group 15" id="15"/>
          <p:cNvGrpSpPr/>
          <p:nvPr/>
        </p:nvGrpSpPr>
        <p:grpSpPr>
          <a:xfrm rot="0">
            <a:off x="11211477" y="2192072"/>
            <a:ext cx="4024772" cy="2254539"/>
            <a:chOff x="0" y="0"/>
            <a:chExt cx="4162089" cy="2331459"/>
          </a:xfrm>
        </p:grpSpPr>
        <p:sp>
          <p:nvSpPr>
            <p:cNvPr name="Freeform 16" id="16"/>
            <p:cNvSpPr/>
            <p:nvPr/>
          </p:nvSpPr>
          <p:spPr>
            <a:xfrm flipH="false" flipV="false" rot="0">
              <a:off x="0" y="0"/>
              <a:ext cx="4162089" cy="2331459"/>
            </a:xfrm>
            <a:custGeom>
              <a:avLst/>
              <a:gdLst/>
              <a:ahLst/>
              <a:cxnLst/>
              <a:rect r="r" b="b" t="t" l="l"/>
              <a:pathLst>
                <a:path h="2331459" w="4162089">
                  <a:moveTo>
                    <a:pt x="0" y="0"/>
                  </a:moveTo>
                  <a:lnTo>
                    <a:pt x="4162089" y="0"/>
                  </a:lnTo>
                  <a:lnTo>
                    <a:pt x="4162089" y="2331459"/>
                  </a:lnTo>
                  <a:lnTo>
                    <a:pt x="0" y="2331459"/>
                  </a:lnTo>
                  <a:close/>
                </a:path>
              </a:pathLst>
            </a:custGeom>
            <a:blipFill>
              <a:blip r:embed="rId2">
                <a:alphaModFix amt="0"/>
              </a:blip>
              <a:stretch>
                <a:fillRect l="0" t="-14346" r="-3257" b="42511"/>
              </a:stretch>
            </a:blipFill>
          </p:spPr>
        </p:sp>
        <p:sp>
          <p:nvSpPr>
            <p:cNvPr name="TextBox 17" id="17"/>
            <p:cNvSpPr txBox="true"/>
            <p:nvPr/>
          </p:nvSpPr>
          <p:spPr>
            <a:xfrm>
              <a:off x="0" y="0"/>
              <a:ext cx="4162089" cy="2331459"/>
            </a:xfrm>
            <a:prstGeom prst="rect">
              <a:avLst/>
            </a:prstGeom>
          </p:spPr>
          <p:txBody>
            <a:bodyPr anchor="ctr" rtlCol="false" tIns="0" lIns="0" bIns="0" rIns="0"/>
            <a:lstStyle/>
            <a:p>
              <a:pPr algn="ctr">
                <a:lnSpc>
                  <a:spcPts val="3299"/>
                </a:lnSpc>
              </a:pPr>
              <a:r>
                <a:rPr lang="en-US" sz="2749" b="true">
                  <a:solidFill>
                    <a:srgbClr val="FFFFFF"/>
                  </a:solidFill>
                  <a:latin typeface="Cambria Bold"/>
                  <a:ea typeface="Cambria Bold"/>
                  <a:cs typeface="Cambria Bold"/>
                  <a:sym typeface="Cambria Bold"/>
                </a:rPr>
                <a:t>Modular RAG</a:t>
              </a:r>
            </a:p>
          </p:txBody>
        </p:sp>
      </p:grpSp>
      <p:grpSp>
        <p:nvGrpSpPr>
          <p:cNvPr name="Group 18" id="18"/>
          <p:cNvGrpSpPr/>
          <p:nvPr/>
        </p:nvGrpSpPr>
        <p:grpSpPr>
          <a:xfrm rot="0">
            <a:off x="11383929" y="3841370"/>
            <a:ext cx="3679869" cy="975304"/>
            <a:chOff x="0" y="0"/>
            <a:chExt cx="10972800" cy="2908207"/>
          </a:xfrm>
        </p:grpSpPr>
        <p:sp>
          <p:nvSpPr>
            <p:cNvPr name="Freeform 19" id="19"/>
            <p:cNvSpPr/>
            <p:nvPr/>
          </p:nvSpPr>
          <p:spPr>
            <a:xfrm flipH="false" flipV="false" rot="0">
              <a:off x="0" y="0"/>
              <a:ext cx="10972800" cy="2908206"/>
            </a:xfrm>
            <a:custGeom>
              <a:avLst/>
              <a:gdLst/>
              <a:ahLst/>
              <a:cxnLst/>
              <a:rect r="r" b="b" t="t" l="l"/>
              <a:pathLst>
                <a:path h="2908206" w="10972800">
                  <a:moveTo>
                    <a:pt x="0" y="215423"/>
                  </a:moveTo>
                  <a:cubicBezTo>
                    <a:pt x="0" y="96491"/>
                    <a:pt x="81915" y="0"/>
                    <a:pt x="182880" y="0"/>
                  </a:cubicBezTo>
                  <a:lnTo>
                    <a:pt x="10789920" y="0"/>
                  </a:lnTo>
                  <a:cubicBezTo>
                    <a:pt x="10890885" y="0"/>
                    <a:pt x="10972800" y="96491"/>
                    <a:pt x="10972800" y="215423"/>
                  </a:cubicBezTo>
                  <a:lnTo>
                    <a:pt x="10972800" y="2692784"/>
                  </a:lnTo>
                  <a:cubicBezTo>
                    <a:pt x="10972800" y="2811715"/>
                    <a:pt x="10890885" y="2908206"/>
                    <a:pt x="10789920" y="2908206"/>
                  </a:cubicBezTo>
                  <a:lnTo>
                    <a:pt x="182880" y="2908206"/>
                  </a:lnTo>
                  <a:cubicBezTo>
                    <a:pt x="81915" y="2908206"/>
                    <a:pt x="0" y="2811715"/>
                    <a:pt x="0" y="2692784"/>
                  </a:cubicBezTo>
                  <a:close/>
                </a:path>
              </a:pathLst>
            </a:custGeom>
            <a:solidFill>
              <a:srgbClr val="085041"/>
            </a:solidFill>
          </p:spPr>
        </p:sp>
      </p:grpSp>
      <p:sp>
        <p:nvSpPr>
          <p:cNvPr name="TextBox 20" id="20"/>
          <p:cNvSpPr txBox="true"/>
          <p:nvPr/>
        </p:nvSpPr>
        <p:spPr>
          <a:xfrm rot="0">
            <a:off x="10703863" y="4032421"/>
            <a:ext cx="5040001" cy="509787"/>
          </a:xfrm>
          <a:prstGeom prst="rect">
            <a:avLst/>
          </a:prstGeom>
        </p:spPr>
        <p:txBody>
          <a:bodyPr anchor="t" rtlCol="false" tIns="0" lIns="0" bIns="0" rIns="0">
            <a:spAutoFit/>
          </a:bodyPr>
          <a:lstStyle/>
          <a:p>
            <a:pPr algn="ctr">
              <a:lnSpc>
                <a:spcPts val="4067"/>
              </a:lnSpc>
              <a:spcBef>
                <a:spcPct val="0"/>
              </a:spcBef>
            </a:pPr>
            <a:r>
              <a:rPr lang="en-US" sz="3119">
                <a:solidFill>
                  <a:srgbClr val="FFFFFF"/>
                </a:solidFill>
                <a:latin typeface="Cambria"/>
                <a:ea typeface="Cambria"/>
                <a:cs typeface="Cambria"/>
                <a:sym typeface="Cambria"/>
              </a:rPr>
              <a:t>Self-RAG</a:t>
            </a:r>
          </a:p>
        </p:txBody>
      </p:sp>
      <p:grpSp>
        <p:nvGrpSpPr>
          <p:cNvPr name="Group 21" id="21"/>
          <p:cNvGrpSpPr/>
          <p:nvPr/>
        </p:nvGrpSpPr>
        <p:grpSpPr>
          <a:xfrm rot="0">
            <a:off x="11383929" y="5080565"/>
            <a:ext cx="3679869" cy="975304"/>
            <a:chOff x="0" y="0"/>
            <a:chExt cx="10972800" cy="2908207"/>
          </a:xfrm>
        </p:grpSpPr>
        <p:sp>
          <p:nvSpPr>
            <p:cNvPr name="Freeform 22" id="22"/>
            <p:cNvSpPr/>
            <p:nvPr/>
          </p:nvSpPr>
          <p:spPr>
            <a:xfrm flipH="false" flipV="false" rot="0">
              <a:off x="0" y="0"/>
              <a:ext cx="10972800" cy="2908206"/>
            </a:xfrm>
            <a:custGeom>
              <a:avLst/>
              <a:gdLst/>
              <a:ahLst/>
              <a:cxnLst/>
              <a:rect r="r" b="b" t="t" l="l"/>
              <a:pathLst>
                <a:path h="2908206" w="10972800">
                  <a:moveTo>
                    <a:pt x="0" y="215423"/>
                  </a:moveTo>
                  <a:cubicBezTo>
                    <a:pt x="0" y="96491"/>
                    <a:pt x="81915" y="0"/>
                    <a:pt x="182880" y="0"/>
                  </a:cubicBezTo>
                  <a:lnTo>
                    <a:pt x="10789920" y="0"/>
                  </a:lnTo>
                  <a:cubicBezTo>
                    <a:pt x="10890885" y="0"/>
                    <a:pt x="10972800" y="96491"/>
                    <a:pt x="10972800" y="215423"/>
                  </a:cubicBezTo>
                  <a:lnTo>
                    <a:pt x="10972800" y="2692784"/>
                  </a:lnTo>
                  <a:cubicBezTo>
                    <a:pt x="10972800" y="2811715"/>
                    <a:pt x="10890885" y="2908206"/>
                    <a:pt x="10789920" y="2908206"/>
                  </a:cubicBezTo>
                  <a:lnTo>
                    <a:pt x="182880" y="2908206"/>
                  </a:lnTo>
                  <a:cubicBezTo>
                    <a:pt x="81915" y="2908206"/>
                    <a:pt x="0" y="2811715"/>
                    <a:pt x="0" y="2692784"/>
                  </a:cubicBezTo>
                  <a:close/>
                </a:path>
              </a:pathLst>
            </a:custGeom>
            <a:solidFill>
              <a:srgbClr val="085041"/>
            </a:solidFill>
          </p:spPr>
        </p:sp>
      </p:grpSp>
      <p:sp>
        <p:nvSpPr>
          <p:cNvPr name="TextBox 23" id="23"/>
          <p:cNvSpPr txBox="true"/>
          <p:nvPr/>
        </p:nvSpPr>
        <p:spPr>
          <a:xfrm rot="0">
            <a:off x="10703863" y="5271615"/>
            <a:ext cx="5040001" cy="509787"/>
          </a:xfrm>
          <a:prstGeom prst="rect">
            <a:avLst/>
          </a:prstGeom>
        </p:spPr>
        <p:txBody>
          <a:bodyPr anchor="t" rtlCol="false" tIns="0" lIns="0" bIns="0" rIns="0">
            <a:spAutoFit/>
          </a:bodyPr>
          <a:lstStyle/>
          <a:p>
            <a:pPr algn="ctr">
              <a:lnSpc>
                <a:spcPts val="4067"/>
              </a:lnSpc>
              <a:spcBef>
                <a:spcPct val="0"/>
              </a:spcBef>
            </a:pPr>
            <a:r>
              <a:rPr lang="en-US" sz="3119">
                <a:solidFill>
                  <a:srgbClr val="FFFFFF"/>
                </a:solidFill>
                <a:latin typeface="Cambria"/>
                <a:ea typeface="Cambria"/>
                <a:cs typeface="Cambria"/>
                <a:sym typeface="Cambria"/>
              </a:rPr>
              <a:t>Corrective RAG</a:t>
            </a:r>
          </a:p>
        </p:txBody>
      </p:sp>
      <p:grpSp>
        <p:nvGrpSpPr>
          <p:cNvPr name="Group 24" id="24"/>
          <p:cNvGrpSpPr/>
          <p:nvPr/>
        </p:nvGrpSpPr>
        <p:grpSpPr>
          <a:xfrm rot="0">
            <a:off x="11383929" y="6323053"/>
            <a:ext cx="3679869" cy="975304"/>
            <a:chOff x="0" y="0"/>
            <a:chExt cx="10972800" cy="2908207"/>
          </a:xfrm>
        </p:grpSpPr>
        <p:sp>
          <p:nvSpPr>
            <p:cNvPr name="Freeform 25" id="25"/>
            <p:cNvSpPr/>
            <p:nvPr/>
          </p:nvSpPr>
          <p:spPr>
            <a:xfrm flipH="false" flipV="false" rot="0">
              <a:off x="0" y="0"/>
              <a:ext cx="10972800" cy="2908206"/>
            </a:xfrm>
            <a:custGeom>
              <a:avLst/>
              <a:gdLst/>
              <a:ahLst/>
              <a:cxnLst/>
              <a:rect r="r" b="b" t="t" l="l"/>
              <a:pathLst>
                <a:path h="2908206" w="10972800">
                  <a:moveTo>
                    <a:pt x="0" y="215423"/>
                  </a:moveTo>
                  <a:cubicBezTo>
                    <a:pt x="0" y="96491"/>
                    <a:pt x="81915" y="0"/>
                    <a:pt x="182880" y="0"/>
                  </a:cubicBezTo>
                  <a:lnTo>
                    <a:pt x="10789920" y="0"/>
                  </a:lnTo>
                  <a:cubicBezTo>
                    <a:pt x="10890885" y="0"/>
                    <a:pt x="10972800" y="96491"/>
                    <a:pt x="10972800" y="215423"/>
                  </a:cubicBezTo>
                  <a:lnTo>
                    <a:pt x="10972800" y="2692784"/>
                  </a:lnTo>
                  <a:cubicBezTo>
                    <a:pt x="10972800" y="2811715"/>
                    <a:pt x="10890885" y="2908206"/>
                    <a:pt x="10789920" y="2908206"/>
                  </a:cubicBezTo>
                  <a:lnTo>
                    <a:pt x="182880" y="2908206"/>
                  </a:lnTo>
                  <a:cubicBezTo>
                    <a:pt x="81915" y="2908206"/>
                    <a:pt x="0" y="2811715"/>
                    <a:pt x="0" y="2692784"/>
                  </a:cubicBezTo>
                  <a:close/>
                </a:path>
              </a:pathLst>
            </a:custGeom>
            <a:solidFill>
              <a:srgbClr val="085041"/>
            </a:solidFill>
          </p:spPr>
        </p:sp>
      </p:grpSp>
      <p:sp>
        <p:nvSpPr>
          <p:cNvPr name="TextBox 26" id="26"/>
          <p:cNvSpPr txBox="true"/>
          <p:nvPr/>
        </p:nvSpPr>
        <p:spPr>
          <a:xfrm rot="0">
            <a:off x="10703863" y="6514104"/>
            <a:ext cx="5040001" cy="509787"/>
          </a:xfrm>
          <a:prstGeom prst="rect">
            <a:avLst/>
          </a:prstGeom>
        </p:spPr>
        <p:txBody>
          <a:bodyPr anchor="t" rtlCol="false" tIns="0" lIns="0" bIns="0" rIns="0">
            <a:spAutoFit/>
          </a:bodyPr>
          <a:lstStyle/>
          <a:p>
            <a:pPr algn="ctr">
              <a:lnSpc>
                <a:spcPts val="4067"/>
              </a:lnSpc>
              <a:spcBef>
                <a:spcPct val="0"/>
              </a:spcBef>
            </a:pPr>
            <a:r>
              <a:rPr lang="en-US" sz="3119">
                <a:solidFill>
                  <a:srgbClr val="FFFFFF"/>
                </a:solidFill>
                <a:latin typeface="Cambria"/>
                <a:ea typeface="Cambria"/>
                <a:cs typeface="Cambria"/>
                <a:sym typeface="Cambria"/>
              </a:rPr>
              <a:t>Agentic RAG</a:t>
            </a:r>
          </a:p>
        </p:txBody>
      </p:sp>
      <p:grpSp>
        <p:nvGrpSpPr>
          <p:cNvPr name="Group 27" id="27"/>
          <p:cNvGrpSpPr/>
          <p:nvPr/>
        </p:nvGrpSpPr>
        <p:grpSpPr>
          <a:xfrm rot="0">
            <a:off x="11383929" y="7565541"/>
            <a:ext cx="3679869" cy="975304"/>
            <a:chOff x="0" y="0"/>
            <a:chExt cx="10972800" cy="2908207"/>
          </a:xfrm>
        </p:grpSpPr>
        <p:sp>
          <p:nvSpPr>
            <p:cNvPr name="Freeform 28" id="28"/>
            <p:cNvSpPr/>
            <p:nvPr/>
          </p:nvSpPr>
          <p:spPr>
            <a:xfrm flipH="false" flipV="false" rot="0">
              <a:off x="0" y="0"/>
              <a:ext cx="10972800" cy="2908206"/>
            </a:xfrm>
            <a:custGeom>
              <a:avLst/>
              <a:gdLst/>
              <a:ahLst/>
              <a:cxnLst/>
              <a:rect r="r" b="b" t="t" l="l"/>
              <a:pathLst>
                <a:path h="2908206" w="10972800">
                  <a:moveTo>
                    <a:pt x="0" y="215423"/>
                  </a:moveTo>
                  <a:cubicBezTo>
                    <a:pt x="0" y="96491"/>
                    <a:pt x="81915" y="0"/>
                    <a:pt x="182880" y="0"/>
                  </a:cubicBezTo>
                  <a:lnTo>
                    <a:pt x="10789920" y="0"/>
                  </a:lnTo>
                  <a:cubicBezTo>
                    <a:pt x="10890885" y="0"/>
                    <a:pt x="10972800" y="96491"/>
                    <a:pt x="10972800" y="215423"/>
                  </a:cubicBezTo>
                  <a:lnTo>
                    <a:pt x="10972800" y="2692784"/>
                  </a:lnTo>
                  <a:cubicBezTo>
                    <a:pt x="10972800" y="2811715"/>
                    <a:pt x="10890885" y="2908206"/>
                    <a:pt x="10789920" y="2908206"/>
                  </a:cubicBezTo>
                  <a:lnTo>
                    <a:pt x="182880" y="2908206"/>
                  </a:lnTo>
                  <a:cubicBezTo>
                    <a:pt x="81915" y="2908206"/>
                    <a:pt x="0" y="2811715"/>
                    <a:pt x="0" y="2692784"/>
                  </a:cubicBezTo>
                  <a:close/>
                </a:path>
              </a:pathLst>
            </a:custGeom>
            <a:solidFill>
              <a:srgbClr val="085041"/>
            </a:solidFill>
          </p:spPr>
        </p:sp>
      </p:grpSp>
      <p:sp>
        <p:nvSpPr>
          <p:cNvPr name="TextBox 29" id="29"/>
          <p:cNvSpPr txBox="true"/>
          <p:nvPr/>
        </p:nvSpPr>
        <p:spPr>
          <a:xfrm rot="0">
            <a:off x="10703863" y="7756592"/>
            <a:ext cx="5040001" cy="509787"/>
          </a:xfrm>
          <a:prstGeom prst="rect">
            <a:avLst/>
          </a:prstGeom>
        </p:spPr>
        <p:txBody>
          <a:bodyPr anchor="t" rtlCol="false" tIns="0" lIns="0" bIns="0" rIns="0">
            <a:spAutoFit/>
          </a:bodyPr>
          <a:lstStyle/>
          <a:p>
            <a:pPr algn="ctr">
              <a:lnSpc>
                <a:spcPts val="4067"/>
              </a:lnSpc>
              <a:spcBef>
                <a:spcPct val="0"/>
              </a:spcBef>
            </a:pPr>
            <a:r>
              <a:rPr lang="en-US" sz="3119">
                <a:solidFill>
                  <a:srgbClr val="FFFFFF"/>
                </a:solidFill>
                <a:latin typeface="Cambria"/>
                <a:ea typeface="Cambria"/>
                <a:cs typeface="Cambria"/>
                <a:sym typeface="Cambria"/>
              </a:rPr>
              <a:t>Adaptive RAG</a:t>
            </a:r>
          </a:p>
        </p:txBody>
      </p:sp>
      <p:grpSp>
        <p:nvGrpSpPr>
          <p:cNvPr name="Group 30" id="30"/>
          <p:cNvGrpSpPr/>
          <p:nvPr/>
        </p:nvGrpSpPr>
        <p:grpSpPr>
          <a:xfrm rot="0">
            <a:off x="5875277" y="2892259"/>
            <a:ext cx="4430876" cy="2404435"/>
            <a:chOff x="0" y="0"/>
            <a:chExt cx="2261695" cy="1227319"/>
          </a:xfrm>
        </p:grpSpPr>
        <p:sp>
          <p:nvSpPr>
            <p:cNvPr name="Freeform 31" id="31"/>
            <p:cNvSpPr/>
            <p:nvPr/>
          </p:nvSpPr>
          <p:spPr>
            <a:xfrm flipH="false" flipV="false" rot="0">
              <a:off x="0" y="0"/>
              <a:ext cx="2261695" cy="1227319"/>
            </a:xfrm>
            <a:custGeom>
              <a:avLst/>
              <a:gdLst/>
              <a:ahLst/>
              <a:cxnLst/>
              <a:rect r="r" b="b" t="t" l="l"/>
              <a:pathLst>
                <a:path h="1227319" w="2261695">
                  <a:moveTo>
                    <a:pt x="0" y="31470"/>
                  </a:moveTo>
                  <a:cubicBezTo>
                    <a:pt x="0" y="14096"/>
                    <a:pt x="36838" y="0"/>
                    <a:pt x="82243" y="0"/>
                  </a:cubicBezTo>
                  <a:lnTo>
                    <a:pt x="2179451" y="0"/>
                  </a:lnTo>
                  <a:cubicBezTo>
                    <a:pt x="2224857" y="0"/>
                    <a:pt x="2261695" y="14096"/>
                    <a:pt x="2261695" y="31470"/>
                  </a:cubicBezTo>
                  <a:lnTo>
                    <a:pt x="2261695" y="1195849"/>
                  </a:lnTo>
                  <a:cubicBezTo>
                    <a:pt x="2261695" y="1213223"/>
                    <a:pt x="2224857" y="1227319"/>
                    <a:pt x="2179451" y="1227319"/>
                  </a:cubicBezTo>
                  <a:lnTo>
                    <a:pt x="82243" y="1227319"/>
                  </a:lnTo>
                  <a:cubicBezTo>
                    <a:pt x="36838" y="1227319"/>
                    <a:pt x="0" y="1213223"/>
                    <a:pt x="0" y="1195849"/>
                  </a:cubicBezTo>
                  <a:close/>
                </a:path>
              </a:pathLst>
            </a:custGeom>
            <a:solidFill>
              <a:srgbClr val="263172"/>
            </a:solidFill>
          </p:spPr>
        </p:sp>
      </p:grpSp>
      <p:grpSp>
        <p:nvGrpSpPr>
          <p:cNvPr name="Group 32" id="32"/>
          <p:cNvGrpSpPr/>
          <p:nvPr/>
        </p:nvGrpSpPr>
        <p:grpSpPr>
          <a:xfrm rot="0">
            <a:off x="6197522" y="1803485"/>
            <a:ext cx="3786385" cy="4567552"/>
            <a:chOff x="0" y="0"/>
            <a:chExt cx="1932721" cy="2331459"/>
          </a:xfrm>
        </p:grpSpPr>
        <p:sp>
          <p:nvSpPr>
            <p:cNvPr name="Freeform 33" id="33"/>
            <p:cNvSpPr/>
            <p:nvPr/>
          </p:nvSpPr>
          <p:spPr>
            <a:xfrm flipH="false" flipV="false" rot="0">
              <a:off x="0" y="0"/>
              <a:ext cx="1932721" cy="2331459"/>
            </a:xfrm>
            <a:custGeom>
              <a:avLst/>
              <a:gdLst/>
              <a:ahLst/>
              <a:cxnLst/>
              <a:rect r="r" b="b" t="t" l="l"/>
              <a:pathLst>
                <a:path h="2331459" w="1932721">
                  <a:moveTo>
                    <a:pt x="0" y="0"/>
                  </a:moveTo>
                  <a:lnTo>
                    <a:pt x="1932721" y="0"/>
                  </a:lnTo>
                  <a:lnTo>
                    <a:pt x="1932721" y="2331459"/>
                  </a:lnTo>
                  <a:lnTo>
                    <a:pt x="0" y="2331459"/>
                  </a:lnTo>
                  <a:close/>
                </a:path>
              </a:pathLst>
            </a:custGeom>
            <a:blipFill>
              <a:blip r:embed="rId2">
                <a:alphaModFix amt="0"/>
              </a:blip>
              <a:stretch>
                <a:fillRect l="0" t="-14346" r="-122364" b="42511"/>
              </a:stretch>
            </a:blipFill>
          </p:spPr>
        </p:sp>
        <p:sp>
          <p:nvSpPr>
            <p:cNvPr name="TextBox 34" id="34"/>
            <p:cNvSpPr txBox="true"/>
            <p:nvPr/>
          </p:nvSpPr>
          <p:spPr>
            <a:xfrm>
              <a:off x="0" y="0"/>
              <a:ext cx="1932721" cy="2331459"/>
            </a:xfrm>
            <a:prstGeom prst="rect">
              <a:avLst/>
            </a:prstGeom>
          </p:spPr>
          <p:txBody>
            <a:bodyPr anchor="ctr" rtlCol="false" tIns="0" lIns="0" bIns="0" rIns="0"/>
            <a:lstStyle/>
            <a:p>
              <a:pPr algn="ctr">
                <a:lnSpc>
                  <a:spcPts val="3299"/>
                </a:lnSpc>
              </a:pPr>
              <a:r>
                <a:rPr lang="en-US" sz="2749" b="true">
                  <a:solidFill>
                    <a:srgbClr val="FFFFFF"/>
                  </a:solidFill>
                  <a:latin typeface="Cambria Bold"/>
                  <a:ea typeface="Cambria Bold"/>
                  <a:cs typeface="Cambria Bold"/>
                  <a:sym typeface="Cambria Bold"/>
                </a:rPr>
                <a:t>Advanced RAG</a:t>
              </a:r>
            </a:p>
          </p:txBody>
        </p:sp>
      </p:grpSp>
      <p:grpSp>
        <p:nvGrpSpPr>
          <p:cNvPr name="Group 35" id="35"/>
          <p:cNvGrpSpPr/>
          <p:nvPr/>
        </p:nvGrpSpPr>
        <p:grpSpPr>
          <a:xfrm rot="0">
            <a:off x="3262128" y="6103354"/>
            <a:ext cx="4430876" cy="2404435"/>
            <a:chOff x="0" y="0"/>
            <a:chExt cx="2261695" cy="1227319"/>
          </a:xfrm>
        </p:grpSpPr>
        <p:sp>
          <p:nvSpPr>
            <p:cNvPr name="Freeform 36" id="36"/>
            <p:cNvSpPr/>
            <p:nvPr/>
          </p:nvSpPr>
          <p:spPr>
            <a:xfrm flipH="false" flipV="false" rot="0">
              <a:off x="0" y="0"/>
              <a:ext cx="2261695" cy="1227319"/>
            </a:xfrm>
            <a:custGeom>
              <a:avLst/>
              <a:gdLst/>
              <a:ahLst/>
              <a:cxnLst/>
              <a:rect r="r" b="b" t="t" l="l"/>
              <a:pathLst>
                <a:path h="1227319" w="2261695">
                  <a:moveTo>
                    <a:pt x="0" y="31470"/>
                  </a:moveTo>
                  <a:cubicBezTo>
                    <a:pt x="0" y="14096"/>
                    <a:pt x="36838" y="0"/>
                    <a:pt x="82243" y="0"/>
                  </a:cubicBezTo>
                  <a:lnTo>
                    <a:pt x="2179451" y="0"/>
                  </a:lnTo>
                  <a:cubicBezTo>
                    <a:pt x="2224857" y="0"/>
                    <a:pt x="2261695" y="14096"/>
                    <a:pt x="2261695" y="31470"/>
                  </a:cubicBezTo>
                  <a:lnTo>
                    <a:pt x="2261695" y="1195849"/>
                  </a:lnTo>
                  <a:cubicBezTo>
                    <a:pt x="2261695" y="1213223"/>
                    <a:pt x="2224857" y="1227319"/>
                    <a:pt x="2179451" y="1227319"/>
                  </a:cubicBezTo>
                  <a:lnTo>
                    <a:pt x="82243" y="1227319"/>
                  </a:lnTo>
                  <a:cubicBezTo>
                    <a:pt x="36838" y="1227319"/>
                    <a:pt x="0" y="1213223"/>
                    <a:pt x="0" y="1195849"/>
                  </a:cubicBezTo>
                  <a:close/>
                </a:path>
              </a:pathLst>
            </a:custGeom>
            <a:solidFill>
              <a:srgbClr val="263172"/>
            </a:solidFill>
          </p:spPr>
        </p:sp>
      </p:grpSp>
      <p:grpSp>
        <p:nvGrpSpPr>
          <p:cNvPr name="Group 37" id="37"/>
          <p:cNvGrpSpPr/>
          <p:nvPr/>
        </p:nvGrpSpPr>
        <p:grpSpPr>
          <a:xfrm rot="0">
            <a:off x="3584374" y="5014581"/>
            <a:ext cx="3786385" cy="4567552"/>
            <a:chOff x="0" y="0"/>
            <a:chExt cx="1932721" cy="2331459"/>
          </a:xfrm>
        </p:grpSpPr>
        <p:sp>
          <p:nvSpPr>
            <p:cNvPr name="Freeform 38" id="38"/>
            <p:cNvSpPr/>
            <p:nvPr/>
          </p:nvSpPr>
          <p:spPr>
            <a:xfrm flipH="false" flipV="false" rot="0">
              <a:off x="0" y="0"/>
              <a:ext cx="1932721" cy="2331459"/>
            </a:xfrm>
            <a:custGeom>
              <a:avLst/>
              <a:gdLst/>
              <a:ahLst/>
              <a:cxnLst/>
              <a:rect r="r" b="b" t="t" l="l"/>
              <a:pathLst>
                <a:path h="2331459" w="1932721">
                  <a:moveTo>
                    <a:pt x="0" y="0"/>
                  </a:moveTo>
                  <a:lnTo>
                    <a:pt x="1932721" y="0"/>
                  </a:lnTo>
                  <a:lnTo>
                    <a:pt x="1932721" y="2331459"/>
                  </a:lnTo>
                  <a:lnTo>
                    <a:pt x="0" y="2331459"/>
                  </a:lnTo>
                  <a:close/>
                </a:path>
              </a:pathLst>
            </a:custGeom>
            <a:blipFill>
              <a:blip r:embed="rId2">
                <a:alphaModFix amt="0"/>
              </a:blip>
              <a:stretch>
                <a:fillRect l="0" t="-14346" r="-122364" b="42511"/>
              </a:stretch>
            </a:blipFill>
          </p:spPr>
        </p:sp>
        <p:sp>
          <p:nvSpPr>
            <p:cNvPr name="TextBox 39" id="39"/>
            <p:cNvSpPr txBox="true"/>
            <p:nvPr/>
          </p:nvSpPr>
          <p:spPr>
            <a:xfrm>
              <a:off x="0" y="0"/>
              <a:ext cx="1932721" cy="2331459"/>
            </a:xfrm>
            <a:prstGeom prst="rect">
              <a:avLst/>
            </a:prstGeom>
          </p:spPr>
          <p:txBody>
            <a:bodyPr anchor="ctr" rtlCol="false" tIns="0" lIns="0" bIns="0" rIns="0"/>
            <a:lstStyle/>
            <a:p>
              <a:pPr algn="ctr">
                <a:lnSpc>
                  <a:spcPts val="3299"/>
                </a:lnSpc>
              </a:pPr>
              <a:r>
                <a:rPr lang="en-US" sz="2749" b="true">
                  <a:solidFill>
                    <a:srgbClr val="FFFFFF"/>
                  </a:solidFill>
                  <a:latin typeface="Cambria Bold"/>
                  <a:ea typeface="Cambria Bold"/>
                  <a:cs typeface="Cambria Bold"/>
                  <a:sym typeface="Cambria Bold"/>
                </a:rPr>
                <a:t>Graph RAG</a:t>
              </a:r>
            </a:p>
          </p:txBody>
        </p:sp>
      </p:grpSp>
      <p:grpSp>
        <p:nvGrpSpPr>
          <p:cNvPr name="Group 40" id="40"/>
          <p:cNvGrpSpPr/>
          <p:nvPr/>
        </p:nvGrpSpPr>
        <p:grpSpPr>
          <a:xfrm rot="0">
            <a:off x="820024" y="1749872"/>
            <a:ext cx="8931618" cy="46398"/>
            <a:chOff x="0" y="0"/>
            <a:chExt cx="1860174" cy="9663"/>
          </a:xfrm>
        </p:grpSpPr>
        <p:sp>
          <p:nvSpPr>
            <p:cNvPr name="Freeform 41" id="41"/>
            <p:cNvSpPr/>
            <p:nvPr/>
          </p:nvSpPr>
          <p:spPr>
            <a:xfrm flipH="false" flipV="false" rot="0">
              <a:off x="0" y="0"/>
              <a:ext cx="1860174" cy="9663"/>
            </a:xfrm>
            <a:custGeom>
              <a:avLst/>
              <a:gdLst/>
              <a:ahLst/>
              <a:cxnLst/>
              <a:rect r="r" b="b" t="t" l="l"/>
              <a:pathLst>
                <a:path h="9663" w="1860174">
                  <a:moveTo>
                    <a:pt x="0" y="4832"/>
                  </a:moveTo>
                  <a:cubicBezTo>
                    <a:pt x="0" y="2163"/>
                    <a:pt x="416308" y="0"/>
                    <a:pt x="930087" y="0"/>
                  </a:cubicBezTo>
                  <a:cubicBezTo>
                    <a:pt x="1443866" y="0"/>
                    <a:pt x="1860174" y="2163"/>
                    <a:pt x="1860174" y="4832"/>
                  </a:cubicBezTo>
                  <a:cubicBezTo>
                    <a:pt x="1860174" y="7501"/>
                    <a:pt x="1443866" y="9663"/>
                    <a:pt x="930087" y="9663"/>
                  </a:cubicBezTo>
                  <a:cubicBezTo>
                    <a:pt x="416308" y="9663"/>
                    <a:pt x="0" y="7501"/>
                    <a:pt x="0" y="4832"/>
                  </a:cubicBezTo>
                  <a:close/>
                </a:path>
              </a:pathLst>
            </a:custGeom>
            <a:solidFill>
              <a:srgbClr val="E8664F"/>
            </a:solid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1418082" y="-729407"/>
            <a:ext cx="10972800" cy="3516213"/>
            <a:chOff x="0" y="0"/>
            <a:chExt cx="14630400" cy="4688284"/>
          </a:xfrm>
        </p:grpSpPr>
        <p:sp>
          <p:nvSpPr>
            <p:cNvPr name="Freeform 3" id="3"/>
            <p:cNvSpPr/>
            <p:nvPr/>
          </p:nvSpPr>
          <p:spPr>
            <a:xfrm flipH="false" flipV="false" rot="0">
              <a:off x="0" y="0"/>
              <a:ext cx="14630400" cy="4688284"/>
            </a:xfrm>
            <a:custGeom>
              <a:avLst/>
              <a:gdLst/>
              <a:ahLst/>
              <a:cxnLst/>
              <a:rect r="r" b="b" t="t" l="l"/>
              <a:pathLst>
                <a:path h="4688284" w="14630400">
                  <a:moveTo>
                    <a:pt x="0" y="0"/>
                  </a:moveTo>
                  <a:lnTo>
                    <a:pt x="14630400" y="0"/>
                  </a:lnTo>
                  <a:lnTo>
                    <a:pt x="14630400" y="4688284"/>
                  </a:lnTo>
                  <a:lnTo>
                    <a:pt x="0" y="4688284"/>
                  </a:lnTo>
                  <a:close/>
                </a:path>
              </a:pathLst>
            </a:custGeom>
            <a:blipFill>
              <a:blip r:embed="rId2">
                <a:alphaModFix amt="0"/>
              </a:blip>
              <a:stretch>
                <a:fillRect l="0" t="-49103" r="0" b="27492"/>
              </a:stretch>
            </a:blipFill>
          </p:spPr>
        </p:sp>
        <p:sp>
          <p:nvSpPr>
            <p:cNvPr name="TextBox 4" id="4"/>
            <p:cNvSpPr txBox="true"/>
            <p:nvPr/>
          </p:nvSpPr>
          <p:spPr>
            <a:xfrm>
              <a:off x="0" y="-9525"/>
              <a:ext cx="14630400" cy="4697809"/>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Methodology</a:t>
              </a:r>
            </a:p>
          </p:txBody>
        </p:sp>
      </p:grpSp>
      <p:grpSp>
        <p:nvGrpSpPr>
          <p:cNvPr name="Group 5" id="5"/>
          <p:cNvGrpSpPr/>
          <p:nvPr/>
        </p:nvGrpSpPr>
        <p:grpSpPr>
          <a:xfrm rot="0">
            <a:off x="1450086" y="1577340"/>
            <a:ext cx="13226034" cy="548640"/>
            <a:chOff x="0" y="0"/>
            <a:chExt cx="17634712" cy="731520"/>
          </a:xfrm>
        </p:grpSpPr>
        <p:sp>
          <p:nvSpPr>
            <p:cNvPr name="Freeform 6" id="6"/>
            <p:cNvSpPr/>
            <p:nvPr/>
          </p:nvSpPr>
          <p:spPr>
            <a:xfrm flipH="false" flipV="false" rot="0">
              <a:off x="0" y="0"/>
              <a:ext cx="17634713" cy="731520"/>
            </a:xfrm>
            <a:custGeom>
              <a:avLst/>
              <a:gdLst/>
              <a:ahLst/>
              <a:cxnLst/>
              <a:rect r="r" b="b" t="t" l="l"/>
              <a:pathLst>
                <a:path h="731520" w="17634713">
                  <a:moveTo>
                    <a:pt x="0" y="0"/>
                  </a:moveTo>
                  <a:lnTo>
                    <a:pt x="17634713" y="0"/>
                  </a:lnTo>
                  <a:lnTo>
                    <a:pt x="17634713" y="731520"/>
                  </a:lnTo>
                  <a:lnTo>
                    <a:pt x="0" y="731520"/>
                  </a:lnTo>
                  <a:close/>
                </a:path>
              </a:pathLst>
            </a:custGeom>
            <a:blipFill>
              <a:blip r:embed="rId2">
                <a:alphaModFix amt="0"/>
              </a:blip>
              <a:stretch>
                <a:fillRect l="0" t="-437125" r="-3704" b="-437125"/>
              </a:stretch>
            </a:blipFill>
          </p:spPr>
        </p:sp>
        <p:sp>
          <p:nvSpPr>
            <p:cNvPr name="TextBox 7" id="7"/>
            <p:cNvSpPr txBox="true"/>
            <p:nvPr/>
          </p:nvSpPr>
          <p:spPr>
            <a:xfrm>
              <a:off x="0" y="-57150"/>
              <a:ext cx="17634712" cy="788670"/>
            </a:xfrm>
            <a:prstGeom prst="rect">
              <a:avLst/>
            </a:prstGeom>
          </p:spPr>
          <p:txBody>
            <a:bodyPr anchor="ctr" rtlCol="false" tIns="0" lIns="0" bIns="0" rIns="0"/>
            <a:lstStyle/>
            <a:p>
              <a:pPr algn="l">
                <a:lnSpc>
                  <a:spcPts val="2700"/>
                </a:lnSpc>
              </a:pPr>
              <a:r>
                <a:rPr lang="en-US" sz="2250" i="true">
                  <a:solidFill>
                    <a:srgbClr val="CADCFC"/>
                  </a:solidFill>
                  <a:latin typeface="Calibri (MS) Italics"/>
                  <a:ea typeface="Calibri (MS) Italics"/>
                  <a:cs typeface="Calibri (MS) Italics"/>
                  <a:sym typeface="Calibri (MS) Italics"/>
                </a:rPr>
                <a:t>Proposed mehtodology for this study</a:t>
              </a:r>
            </a:p>
          </p:txBody>
        </p:sp>
      </p:grpSp>
      <p:grpSp>
        <p:nvGrpSpPr>
          <p:cNvPr name="Group 8" id="8"/>
          <p:cNvGrpSpPr/>
          <p:nvPr/>
        </p:nvGrpSpPr>
        <p:grpSpPr>
          <a:xfrm rot="0">
            <a:off x="10904220" y="2554389"/>
            <a:ext cx="3771900" cy="3301938"/>
            <a:chOff x="0" y="0"/>
            <a:chExt cx="5029200" cy="4402584"/>
          </a:xfrm>
        </p:grpSpPr>
        <p:sp>
          <p:nvSpPr>
            <p:cNvPr name="Freeform 9" id="9"/>
            <p:cNvSpPr/>
            <p:nvPr/>
          </p:nvSpPr>
          <p:spPr>
            <a:xfrm flipH="false" flipV="false" rot="0">
              <a:off x="0" y="0"/>
              <a:ext cx="5029200" cy="4402584"/>
            </a:xfrm>
            <a:custGeom>
              <a:avLst/>
              <a:gdLst/>
              <a:ahLst/>
              <a:cxnLst/>
              <a:rect r="r" b="b" t="t" l="l"/>
              <a:pathLst>
                <a:path h="4402584" w="5029200">
                  <a:moveTo>
                    <a:pt x="0" y="112887"/>
                  </a:moveTo>
                  <a:cubicBezTo>
                    <a:pt x="0" y="50564"/>
                    <a:pt x="81915" y="0"/>
                    <a:pt x="182880" y="0"/>
                  </a:cubicBezTo>
                  <a:lnTo>
                    <a:pt x="4846320" y="0"/>
                  </a:lnTo>
                  <a:cubicBezTo>
                    <a:pt x="4947285" y="0"/>
                    <a:pt x="5029200" y="50564"/>
                    <a:pt x="5029200" y="112887"/>
                  </a:cubicBezTo>
                  <a:lnTo>
                    <a:pt x="5029200" y="4289697"/>
                  </a:lnTo>
                  <a:cubicBezTo>
                    <a:pt x="5029200" y="4352020"/>
                    <a:pt x="4947285" y="4402584"/>
                    <a:pt x="4846320" y="4402584"/>
                  </a:cubicBezTo>
                  <a:lnTo>
                    <a:pt x="182880" y="4402584"/>
                  </a:lnTo>
                  <a:cubicBezTo>
                    <a:pt x="81915" y="4402583"/>
                    <a:pt x="0" y="4352020"/>
                    <a:pt x="0" y="4289697"/>
                  </a:cubicBezTo>
                  <a:close/>
                </a:path>
              </a:pathLst>
            </a:custGeom>
            <a:solidFill>
              <a:srgbClr val="263172"/>
            </a:solidFill>
          </p:spPr>
        </p:sp>
      </p:grpSp>
      <p:grpSp>
        <p:nvGrpSpPr>
          <p:cNvPr name="Group 10" id="10"/>
          <p:cNvGrpSpPr/>
          <p:nvPr/>
        </p:nvGrpSpPr>
        <p:grpSpPr>
          <a:xfrm rot="0">
            <a:off x="12378690" y="2946108"/>
            <a:ext cx="822960" cy="783439"/>
            <a:chOff x="0" y="0"/>
            <a:chExt cx="1097280" cy="1044586"/>
          </a:xfrm>
        </p:grpSpPr>
        <p:sp>
          <p:nvSpPr>
            <p:cNvPr name="Freeform 11" id="11"/>
            <p:cNvSpPr/>
            <p:nvPr/>
          </p:nvSpPr>
          <p:spPr>
            <a:xfrm flipH="false" flipV="false" rot="0">
              <a:off x="0" y="0"/>
              <a:ext cx="1097280" cy="1044586"/>
            </a:xfrm>
            <a:custGeom>
              <a:avLst/>
              <a:gdLst/>
              <a:ahLst/>
              <a:cxnLst/>
              <a:rect r="r" b="b" t="t" l="l"/>
              <a:pathLst>
                <a:path h="1044586" w="1097280">
                  <a:moveTo>
                    <a:pt x="0" y="522293"/>
                  </a:moveTo>
                  <a:cubicBezTo>
                    <a:pt x="0" y="233823"/>
                    <a:pt x="245618" y="0"/>
                    <a:pt x="548640" y="0"/>
                  </a:cubicBezTo>
                  <a:cubicBezTo>
                    <a:pt x="851662" y="0"/>
                    <a:pt x="1097280" y="233823"/>
                    <a:pt x="1097280" y="522293"/>
                  </a:cubicBezTo>
                  <a:cubicBezTo>
                    <a:pt x="1097280" y="810763"/>
                    <a:pt x="851662" y="1044586"/>
                    <a:pt x="548640" y="1044586"/>
                  </a:cubicBezTo>
                  <a:cubicBezTo>
                    <a:pt x="245618" y="1044586"/>
                    <a:pt x="0" y="810763"/>
                    <a:pt x="0" y="522293"/>
                  </a:cubicBezTo>
                  <a:close/>
                </a:path>
              </a:pathLst>
            </a:custGeom>
            <a:solidFill>
              <a:srgbClr val="E8664F"/>
            </a:solidFill>
          </p:spPr>
        </p:sp>
      </p:grpSp>
      <p:grpSp>
        <p:nvGrpSpPr>
          <p:cNvPr name="Group 12" id="12"/>
          <p:cNvGrpSpPr/>
          <p:nvPr/>
        </p:nvGrpSpPr>
        <p:grpSpPr>
          <a:xfrm rot="0">
            <a:off x="11158447" y="3788829"/>
            <a:ext cx="3223260" cy="1651797"/>
            <a:chOff x="0" y="0"/>
            <a:chExt cx="4297680" cy="2202396"/>
          </a:xfrm>
        </p:grpSpPr>
        <p:sp>
          <p:nvSpPr>
            <p:cNvPr name="Freeform 13" id="13"/>
            <p:cNvSpPr/>
            <p:nvPr/>
          </p:nvSpPr>
          <p:spPr>
            <a:xfrm flipH="false" flipV="false" rot="0">
              <a:off x="0" y="0"/>
              <a:ext cx="4297680" cy="2202396"/>
            </a:xfrm>
            <a:custGeom>
              <a:avLst/>
              <a:gdLst/>
              <a:ahLst/>
              <a:cxnLst/>
              <a:rect r="r" b="b" t="t" l="l"/>
              <a:pathLst>
                <a:path h="2202396" w="4297680">
                  <a:moveTo>
                    <a:pt x="0" y="0"/>
                  </a:moveTo>
                  <a:lnTo>
                    <a:pt x="4297680" y="0"/>
                  </a:lnTo>
                  <a:lnTo>
                    <a:pt x="4297680" y="2202396"/>
                  </a:lnTo>
                  <a:lnTo>
                    <a:pt x="0" y="2202396"/>
                  </a:lnTo>
                  <a:close/>
                </a:path>
              </a:pathLst>
            </a:custGeom>
            <a:blipFill>
              <a:blip r:embed="rId2">
                <a:alphaModFix amt="0"/>
              </a:blip>
              <a:stretch>
                <a:fillRect l="0" t="-15187" r="0" b="39142"/>
              </a:stretch>
            </a:blipFill>
          </p:spPr>
        </p:sp>
        <p:sp>
          <p:nvSpPr>
            <p:cNvPr name="TextBox 14" id="14"/>
            <p:cNvSpPr txBox="true"/>
            <p:nvPr/>
          </p:nvSpPr>
          <p:spPr>
            <a:xfrm>
              <a:off x="0" y="-19050"/>
              <a:ext cx="4297680" cy="2221446"/>
            </a:xfrm>
            <a:prstGeom prst="rect">
              <a:avLst/>
            </a:prstGeom>
          </p:spPr>
          <p:txBody>
            <a:bodyPr anchor="ctr" rtlCol="false" tIns="0" lIns="0" bIns="0" rIns="0"/>
            <a:lstStyle/>
            <a:p>
              <a:pPr algn="ctr">
                <a:lnSpc>
                  <a:spcPts val="2700"/>
                </a:lnSpc>
              </a:pPr>
              <a:r>
                <a:rPr lang="en-US" sz="2250" b="true">
                  <a:solidFill>
                    <a:srgbClr val="FFFFFF"/>
                  </a:solidFill>
                  <a:latin typeface="Cambria Bold"/>
                  <a:ea typeface="Cambria Bold"/>
                  <a:cs typeface="Cambria Bold"/>
                  <a:sym typeface="Cambria Bold"/>
                </a:rPr>
                <a:t>Choose a RAG strategy</a:t>
              </a:r>
            </a:p>
          </p:txBody>
        </p:sp>
      </p:grpSp>
      <p:grpSp>
        <p:nvGrpSpPr>
          <p:cNvPr name="Group 15" id="15"/>
          <p:cNvGrpSpPr/>
          <p:nvPr/>
        </p:nvGrpSpPr>
        <p:grpSpPr>
          <a:xfrm rot="0">
            <a:off x="6435471" y="3931038"/>
            <a:ext cx="438912" cy="548640"/>
            <a:chOff x="0" y="0"/>
            <a:chExt cx="585216" cy="731520"/>
          </a:xfrm>
        </p:grpSpPr>
        <p:sp>
          <p:nvSpPr>
            <p:cNvPr name="Freeform 16" id="16"/>
            <p:cNvSpPr/>
            <p:nvPr/>
          </p:nvSpPr>
          <p:spPr>
            <a:xfrm flipH="false" flipV="false" rot="0">
              <a:off x="0" y="0"/>
              <a:ext cx="585216" cy="731520"/>
            </a:xfrm>
            <a:custGeom>
              <a:avLst/>
              <a:gdLst/>
              <a:ahLst/>
              <a:cxnLst/>
              <a:rect r="r" b="b" t="t" l="l"/>
              <a:pathLst>
                <a:path h="731520" w="585216">
                  <a:moveTo>
                    <a:pt x="0" y="0"/>
                  </a:moveTo>
                  <a:lnTo>
                    <a:pt x="585216" y="0"/>
                  </a:lnTo>
                  <a:lnTo>
                    <a:pt x="585216" y="731520"/>
                  </a:lnTo>
                  <a:lnTo>
                    <a:pt x="0" y="731520"/>
                  </a:lnTo>
                  <a:close/>
                </a:path>
              </a:pathLst>
            </a:custGeom>
            <a:blipFill>
              <a:blip r:embed="rId2">
                <a:alphaModFix amt="0"/>
              </a:blip>
              <a:stretch>
                <a:fillRect l="-110379" t="0" r="-110379" b="0"/>
              </a:stretch>
            </a:blipFill>
          </p:spPr>
        </p:sp>
        <p:sp>
          <p:nvSpPr>
            <p:cNvPr name="TextBox 17" id="17"/>
            <p:cNvSpPr txBox="true"/>
            <p:nvPr/>
          </p:nvSpPr>
          <p:spPr>
            <a:xfrm>
              <a:off x="0" y="-57150"/>
              <a:ext cx="585216" cy="788670"/>
            </a:xfrm>
            <a:prstGeom prst="rect">
              <a:avLst/>
            </a:prstGeom>
          </p:spPr>
          <p:txBody>
            <a:bodyPr anchor="ctr" rtlCol="false" tIns="0" lIns="0" bIns="0" rIns="0"/>
            <a:lstStyle/>
            <a:p>
              <a:pPr algn="ctr">
                <a:lnSpc>
                  <a:spcPts val="3240"/>
                </a:lnSpc>
              </a:pPr>
              <a:r>
                <a:rPr lang="en-US" sz="2700" b="true">
                  <a:solidFill>
                    <a:srgbClr val="E8664F"/>
                  </a:solidFill>
                  <a:latin typeface="Calibri (MS) Bold"/>
                  <a:ea typeface="Calibri (MS) Bold"/>
                  <a:cs typeface="Calibri (MS) Bold"/>
                  <a:sym typeface="Calibri (MS) Bold"/>
                </a:rPr>
                <a:t>→</a:t>
              </a:r>
            </a:p>
          </p:txBody>
        </p:sp>
      </p:grpSp>
      <p:grpSp>
        <p:nvGrpSpPr>
          <p:cNvPr name="Group 18" id="18"/>
          <p:cNvGrpSpPr/>
          <p:nvPr/>
        </p:nvGrpSpPr>
        <p:grpSpPr>
          <a:xfrm rot="0">
            <a:off x="10900410" y="6248877"/>
            <a:ext cx="3771900" cy="3468504"/>
            <a:chOff x="0" y="0"/>
            <a:chExt cx="5029200" cy="4624673"/>
          </a:xfrm>
        </p:grpSpPr>
        <p:sp>
          <p:nvSpPr>
            <p:cNvPr name="Freeform 19" id="19"/>
            <p:cNvSpPr/>
            <p:nvPr/>
          </p:nvSpPr>
          <p:spPr>
            <a:xfrm flipH="false" flipV="false" rot="0">
              <a:off x="0" y="0"/>
              <a:ext cx="5029200" cy="4624673"/>
            </a:xfrm>
            <a:custGeom>
              <a:avLst/>
              <a:gdLst/>
              <a:ahLst/>
              <a:cxnLst/>
              <a:rect r="r" b="b" t="t" l="l"/>
              <a:pathLst>
                <a:path h="4624673" w="5029200">
                  <a:moveTo>
                    <a:pt x="0" y="118581"/>
                  </a:moveTo>
                  <a:cubicBezTo>
                    <a:pt x="0" y="53115"/>
                    <a:pt x="81915" y="0"/>
                    <a:pt x="182880" y="0"/>
                  </a:cubicBezTo>
                  <a:lnTo>
                    <a:pt x="4846320" y="0"/>
                  </a:lnTo>
                  <a:cubicBezTo>
                    <a:pt x="4947285" y="0"/>
                    <a:pt x="5029200" y="53115"/>
                    <a:pt x="5029200" y="118581"/>
                  </a:cubicBezTo>
                  <a:lnTo>
                    <a:pt x="5029200" y="4506091"/>
                  </a:lnTo>
                  <a:cubicBezTo>
                    <a:pt x="5029200" y="4571558"/>
                    <a:pt x="4947285" y="4624673"/>
                    <a:pt x="4846320" y="4624673"/>
                  </a:cubicBezTo>
                  <a:lnTo>
                    <a:pt x="182880" y="4624673"/>
                  </a:lnTo>
                  <a:cubicBezTo>
                    <a:pt x="81915" y="4624672"/>
                    <a:pt x="0" y="4571558"/>
                    <a:pt x="0" y="4506091"/>
                  </a:cubicBezTo>
                  <a:close/>
                </a:path>
              </a:pathLst>
            </a:custGeom>
            <a:solidFill>
              <a:srgbClr val="263172"/>
            </a:solidFill>
          </p:spPr>
        </p:sp>
      </p:grpSp>
      <p:grpSp>
        <p:nvGrpSpPr>
          <p:cNvPr name="Group 20" id="20"/>
          <p:cNvGrpSpPr/>
          <p:nvPr/>
        </p:nvGrpSpPr>
        <p:grpSpPr>
          <a:xfrm rot="0">
            <a:off x="12374880" y="6660357"/>
            <a:ext cx="822960" cy="822960"/>
            <a:chOff x="0" y="0"/>
            <a:chExt cx="1097280" cy="1097280"/>
          </a:xfrm>
        </p:grpSpPr>
        <p:sp>
          <p:nvSpPr>
            <p:cNvPr name="Freeform 21" id="21"/>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E8664F"/>
            </a:solidFill>
          </p:spPr>
        </p:sp>
      </p:grpSp>
      <p:grpSp>
        <p:nvGrpSpPr>
          <p:cNvPr name="Group 22" id="22"/>
          <p:cNvGrpSpPr/>
          <p:nvPr/>
        </p:nvGrpSpPr>
        <p:grpSpPr>
          <a:xfrm rot="0">
            <a:off x="11170920" y="7340280"/>
            <a:ext cx="3223260" cy="1651797"/>
            <a:chOff x="0" y="0"/>
            <a:chExt cx="4297680" cy="2202396"/>
          </a:xfrm>
        </p:grpSpPr>
        <p:sp>
          <p:nvSpPr>
            <p:cNvPr name="Freeform 23" id="23"/>
            <p:cNvSpPr/>
            <p:nvPr/>
          </p:nvSpPr>
          <p:spPr>
            <a:xfrm flipH="false" flipV="false" rot="0">
              <a:off x="0" y="0"/>
              <a:ext cx="4297680" cy="2202396"/>
            </a:xfrm>
            <a:custGeom>
              <a:avLst/>
              <a:gdLst/>
              <a:ahLst/>
              <a:cxnLst/>
              <a:rect r="r" b="b" t="t" l="l"/>
              <a:pathLst>
                <a:path h="2202396" w="4297680">
                  <a:moveTo>
                    <a:pt x="0" y="0"/>
                  </a:moveTo>
                  <a:lnTo>
                    <a:pt x="4297680" y="0"/>
                  </a:lnTo>
                  <a:lnTo>
                    <a:pt x="4297680" y="2202396"/>
                  </a:lnTo>
                  <a:lnTo>
                    <a:pt x="0" y="2202396"/>
                  </a:lnTo>
                  <a:close/>
                </a:path>
              </a:pathLst>
            </a:custGeom>
            <a:blipFill>
              <a:blip r:embed="rId2">
                <a:alphaModFix amt="0"/>
              </a:blip>
              <a:stretch>
                <a:fillRect l="0" t="-15187" r="0" b="39142"/>
              </a:stretch>
            </a:blipFill>
          </p:spPr>
        </p:sp>
        <p:sp>
          <p:nvSpPr>
            <p:cNvPr name="TextBox 24" id="24"/>
            <p:cNvSpPr txBox="true"/>
            <p:nvPr/>
          </p:nvSpPr>
          <p:spPr>
            <a:xfrm>
              <a:off x="0" y="-19050"/>
              <a:ext cx="4297680" cy="2221446"/>
            </a:xfrm>
            <a:prstGeom prst="rect">
              <a:avLst/>
            </a:prstGeom>
          </p:spPr>
          <p:txBody>
            <a:bodyPr anchor="ctr" rtlCol="false" tIns="0" lIns="0" bIns="0" rIns="0"/>
            <a:lstStyle/>
            <a:p>
              <a:pPr algn="ctr">
                <a:lnSpc>
                  <a:spcPts val="2700"/>
                </a:lnSpc>
              </a:pPr>
              <a:r>
                <a:rPr lang="en-US" sz="2250" b="true">
                  <a:solidFill>
                    <a:srgbClr val="FFFFFF"/>
                  </a:solidFill>
                  <a:latin typeface="Cambria Bold"/>
                  <a:ea typeface="Cambria Bold"/>
                  <a:cs typeface="Cambria Bold"/>
                  <a:sym typeface="Cambria Bold"/>
                </a:rPr>
                <a:t>Provide data and index</a:t>
              </a:r>
            </a:p>
          </p:txBody>
        </p:sp>
      </p:grpSp>
      <p:grpSp>
        <p:nvGrpSpPr>
          <p:cNvPr name="Group 25" id="25"/>
          <p:cNvGrpSpPr/>
          <p:nvPr/>
        </p:nvGrpSpPr>
        <p:grpSpPr>
          <a:xfrm rot="0">
            <a:off x="10593015" y="3931038"/>
            <a:ext cx="438912" cy="548640"/>
            <a:chOff x="0" y="0"/>
            <a:chExt cx="585216" cy="731520"/>
          </a:xfrm>
        </p:grpSpPr>
        <p:sp>
          <p:nvSpPr>
            <p:cNvPr name="Freeform 26" id="26"/>
            <p:cNvSpPr/>
            <p:nvPr/>
          </p:nvSpPr>
          <p:spPr>
            <a:xfrm flipH="false" flipV="false" rot="0">
              <a:off x="0" y="0"/>
              <a:ext cx="585216" cy="731520"/>
            </a:xfrm>
            <a:custGeom>
              <a:avLst/>
              <a:gdLst/>
              <a:ahLst/>
              <a:cxnLst/>
              <a:rect r="r" b="b" t="t" l="l"/>
              <a:pathLst>
                <a:path h="731520" w="585216">
                  <a:moveTo>
                    <a:pt x="0" y="0"/>
                  </a:moveTo>
                  <a:lnTo>
                    <a:pt x="585216" y="0"/>
                  </a:lnTo>
                  <a:lnTo>
                    <a:pt x="585216" y="731520"/>
                  </a:lnTo>
                  <a:lnTo>
                    <a:pt x="0" y="731520"/>
                  </a:lnTo>
                  <a:close/>
                </a:path>
              </a:pathLst>
            </a:custGeom>
            <a:blipFill>
              <a:blip r:embed="rId2">
                <a:alphaModFix amt="0"/>
              </a:blip>
              <a:stretch>
                <a:fillRect l="-110379" t="0" r="-110379" b="0"/>
              </a:stretch>
            </a:blipFill>
          </p:spPr>
        </p:sp>
        <p:sp>
          <p:nvSpPr>
            <p:cNvPr name="TextBox 27" id="27"/>
            <p:cNvSpPr txBox="true"/>
            <p:nvPr/>
          </p:nvSpPr>
          <p:spPr>
            <a:xfrm>
              <a:off x="0" y="-57150"/>
              <a:ext cx="585216" cy="788670"/>
            </a:xfrm>
            <a:prstGeom prst="rect">
              <a:avLst/>
            </a:prstGeom>
          </p:spPr>
          <p:txBody>
            <a:bodyPr anchor="ctr" rtlCol="false" tIns="0" lIns="0" bIns="0" rIns="0"/>
            <a:lstStyle/>
            <a:p>
              <a:pPr algn="ctr">
                <a:lnSpc>
                  <a:spcPts val="3240"/>
                </a:lnSpc>
              </a:pPr>
              <a:r>
                <a:rPr lang="en-US" sz="2700" b="true">
                  <a:solidFill>
                    <a:srgbClr val="E8664F"/>
                  </a:solidFill>
                  <a:latin typeface="Calibri (MS) Bold"/>
                  <a:ea typeface="Calibri (MS) Bold"/>
                  <a:cs typeface="Calibri (MS) Bold"/>
                  <a:sym typeface="Calibri (MS) Bold"/>
                </a:rPr>
                <a:t>→</a:t>
              </a:r>
            </a:p>
          </p:txBody>
        </p:sp>
      </p:grpSp>
      <p:grpSp>
        <p:nvGrpSpPr>
          <p:cNvPr name="Group 28" id="28"/>
          <p:cNvGrpSpPr/>
          <p:nvPr/>
        </p:nvGrpSpPr>
        <p:grpSpPr>
          <a:xfrm rot="0">
            <a:off x="6843622" y="6218204"/>
            <a:ext cx="3771900" cy="3468504"/>
            <a:chOff x="0" y="0"/>
            <a:chExt cx="5029200" cy="4624673"/>
          </a:xfrm>
        </p:grpSpPr>
        <p:sp>
          <p:nvSpPr>
            <p:cNvPr name="Freeform 29" id="29"/>
            <p:cNvSpPr/>
            <p:nvPr/>
          </p:nvSpPr>
          <p:spPr>
            <a:xfrm flipH="false" flipV="false" rot="0">
              <a:off x="0" y="0"/>
              <a:ext cx="5029200" cy="4624673"/>
            </a:xfrm>
            <a:custGeom>
              <a:avLst/>
              <a:gdLst/>
              <a:ahLst/>
              <a:cxnLst/>
              <a:rect r="r" b="b" t="t" l="l"/>
              <a:pathLst>
                <a:path h="4624673" w="5029200">
                  <a:moveTo>
                    <a:pt x="0" y="118581"/>
                  </a:moveTo>
                  <a:cubicBezTo>
                    <a:pt x="0" y="53115"/>
                    <a:pt x="81915" y="0"/>
                    <a:pt x="182880" y="0"/>
                  </a:cubicBezTo>
                  <a:lnTo>
                    <a:pt x="4846320" y="0"/>
                  </a:lnTo>
                  <a:cubicBezTo>
                    <a:pt x="4947285" y="0"/>
                    <a:pt x="5029200" y="53115"/>
                    <a:pt x="5029200" y="118581"/>
                  </a:cubicBezTo>
                  <a:lnTo>
                    <a:pt x="5029200" y="4506091"/>
                  </a:lnTo>
                  <a:cubicBezTo>
                    <a:pt x="5029200" y="4571558"/>
                    <a:pt x="4947285" y="4624673"/>
                    <a:pt x="4846320" y="4624673"/>
                  </a:cubicBezTo>
                  <a:lnTo>
                    <a:pt x="182880" y="4624673"/>
                  </a:lnTo>
                  <a:cubicBezTo>
                    <a:pt x="81915" y="4624672"/>
                    <a:pt x="0" y="4571558"/>
                    <a:pt x="0" y="4506091"/>
                  </a:cubicBezTo>
                  <a:close/>
                </a:path>
              </a:pathLst>
            </a:custGeom>
            <a:solidFill>
              <a:srgbClr val="263172"/>
            </a:solidFill>
          </p:spPr>
        </p:sp>
      </p:grpSp>
      <p:grpSp>
        <p:nvGrpSpPr>
          <p:cNvPr name="Group 30" id="30"/>
          <p:cNvGrpSpPr/>
          <p:nvPr/>
        </p:nvGrpSpPr>
        <p:grpSpPr>
          <a:xfrm rot="0">
            <a:off x="8318092" y="6629684"/>
            <a:ext cx="822960" cy="822960"/>
            <a:chOff x="0" y="0"/>
            <a:chExt cx="1097280" cy="1097280"/>
          </a:xfrm>
        </p:grpSpPr>
        <p:sp>
          <p:nvSpPr>
            <p:cNvPr name="Freeform 31" id="31"/>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E8664F"/>
            </a:solidFill>
          </p:spPr>
        </p:sp>
      </p:grpSp>
      <p:grpSp>
        <p:nvGrpSpPr>
          <p:cNvPr name="Group 32" id="32"/>
          <p:cNvGrpSpPr/>
          <p:nvPr/>
        </p:nvGrpSpPr>
        <p:grpSpPr>
          <a:xfrm rot="0">
            <a:off x="12390882" y="2926348"/>
            <a:ext cx="822960" cy="822960"/>
            <a:chOff x="0" y="0"/>
            <a:chExt cx="1097280" cy="1097280"/>
          </a:xfrm>
        </p:grpSpPr>
        <p:sp>
          <p:nvSpPr>
            <p:cNvPr name="Freeform 33" id="3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2">
                <a:alphaModFix amt="0"/>
              </a:blip>
              <a:stretch>
                <a:fillRect l="-78303" t="0" r="-78303" b="0"/>
              </a:stretch>
            </a:blipFill>
          </p:spPr>
        </p:sp>
        <p:sp>
          <p:nvSpPr>
            <p:cNvPr name="TextBox 34" id="34"/>
            <p:cNvSpPr txBox="true"/>
            <p:nvPr/>
          </p:nvSpPr>
          <p:spPr>
            <a:xfrm>
              <a:off x="0" y="-19050"/>
              <a:ext cx="1097280" cy="1116330"/>
            </a:xfrm>
            <a:prstGeom prst="rect">
              <a:avLst/>
            </a:prstGeom>
          </p:spPr>
          <p:txBody>
            <a:bodyPr anchor="ctr" rtlCol="false" tIns="0" lIns="0" bIns="0" rIns="0"/>
            <a:lstStyle/>
            <a:p>
              <a:pPr algn="ctr">
                <a:lnSpc>
                  <a:spcPts val="3600"/>
                </a:lnSpc>
              </a:pPr>
              <a:r>
                <a:rPr lang="en-US" sz="3000" b="true">
                  <a:solidFill>
                    <a:srgbClr val="FFFFFF"/>
                  </a:solidFill>
                  <a:latin typeface="Cambria Bold"/>
                  <a:ea typeface="Cambria Bold"/>
                  <a:cs typeface="Cambria Bold"/>
                  <a:sym typeface="Cambria Bold"/>
                </a:rPr>
                <a:t>3</a:t>
              </a:r>
            </a:p>
          </p:txBody>
        </p:sp>
      </p:grpSp>
      <p:grpSp>
        <p:nvGrpSpPr>
          <p:cNvPr name="Group 35" id="35"/>
          <p:cNvGrpSpPr/>
          <p:nvPr/>
        </p:nvGrpSpPr>
        <p:grpSpPr>
          <a:xfrm rot="0">
            <a:off x="7121752" y="7281194"/>
            <a:ext cx="3223260" cy="1994697"/>
            <a:chOff x="0" y="0"/>
            <a:chExt cx="4297680" cy="2659596"/>
          </a:xfrm>
        </p:grpSpPr>
        <p:sp>
          <p:nvSpPr>
            <p:cNvPr name="Freeform 36" id="36"/>
            <p:cNvSpPr/>
            <p:nvPr/>
          </p:nvSpPr>
          <p:spPr>
            <a:xfrm flipH="false" flipV="false" rot="0">
              <a:off x="0" y="0"/>
              <a:ext cx="4297680" cy="2659596"/>
            </a:xfrm>
            <a:custGeom>
              <a:avLst/>
              <a:gdLst/>
              <a:ahLst/>
              <a:cxnLst/>
              <a:rect r="r" b="b" t="t" l="l"/>
              <a:pathLst>
                <a:path h="2659596" w="4297680">
                  <a:moveTo>
                    <a:pt x="0" y="0"/>
                  </a:moveTo>
                  <a:lnTo>
                    <a:pt x="4297680" y="0"/>
                  </a:lnTo>
                  <a:lnTo>
                    <a:pt x="4297680" y="2659596"/>
                  </a:lnTo>
                  <a:lnTo>
                    <a:pt x="0" y="2659596"/>
                  </a:lnTo>
                  <a:close/>
                </a:path>
              </a:pathLst>
            </a:custGeom>
            <a:blipFill>
              <a:blip r:embed="rId2">
                <a:alphaModFix amt="0"/>
              </a:blip>
              <a:stretch>
                <a:fillRect l="0" t="-12576" r="0" b="49604"/>
              </a:stretch>
            </a:blipFill>
          </p:spPr>
        </p:sp>
        <p:sp>
          <p:nvSpPr>
            <p:cNvPr name="TextBox 37" id="37"/>
            <p:cNvSpPr txBox="true"/>
            <p:nvPr/>
          </p:nvSpPr>
          <p:spPr>
            <a:xfrm>
              <a:off x="0" y="-19050"/>
              <a:ext cx="4297680" cy="2678646"/>
            </a:xfrm>
            <a:prstGeom prst="rect">
              <a:avLst/>
            </a:prstGeom>
          </p:spPr>
          <p:txBody>
            <a:bodyPr anchor="ctr" rtlCol="false" tIns="0" lIns="0" bIns="0" rIns="0"/>
            <a:lstStyle/>
            <a:p>
              <a:pPr algn="ctr">
                <a:lnSpc>
                  <a:spcPts val="2700"/>
                </a:lnSpc>
              </a:pPr>
              <a:r>
                <a:rPr lang="en-US" sz="2250" b="true">
                  <a:solidFill>
                    <a:srgbClr val="FFFFFF"/>
                  </a:solidFill>
                  <a:latin typeface="Cambria Bold"/>
                  <a:ea typeface="Cambria Bold"/>
                  <a:cs typeface="Cambria Bold"/>
                  <a:sym typeface="Cambria Bold"/>
                </a:rPr>
                <a:t>Retrieve and push to a LLM</a:t>
              </a:r>
            </a:p>
          </p:txBody>
        </p:sp>
      </p:grpSp>
      <p:grpSp>
        <p:nvGrpSpPr>
          <p:cNvPr name="Group 38" id="38"/>
          <p:cNvGrpSpPr/>
          <p:nvPr/>
        </p:nvGrpSpPr>
        <p:grpSpPr>
          <a:xfrm rot="0">
            <a:off x="3890973" y="8306277"/>
            <a:ext cx="438912" cy="548640"/>
            <a:chOff x="0" y="0"/>
            <a:chExt cx="585216" cy="731520"/>
          </a:xfrm>
        </p:grpSpPr>
        <p:sp>
          <p:nvSpPr>
            <p:cNvPr name="Freeform 39" id="39"/>
            <p:cNvSpPr/>
            <p:nvPr/>
          </p:nvSpPr>
          <p:spPr>
            <a:xfrm flipH="false" flipV="false" rot="0">
              <a:off x="0" y="0"/>
              <a:ext cx="585216" cy="731520"/>
            </a:xfrm>
            <a:custGeom>
              <a:avLst/>
              <a:gdLst/>
              <a:ahLst/>
              <a:cxnLst/>
              <a:rect r="r" b="b" t="t" l="l"/>
              <a:pathLst>
                <a:path h="731520" w="585216">
                  <a:moveTo>
                    <a:pt x="0" y="0"/>
                  </a:moveTo>
                  <a:lnTo>
                    <a:pt x="585216" y="0"/>
                  </a:lnTo>
                  <a:lnTo>
                    <a:pt x="585216" y="731520"/>
                  </a:lnTo>
                  <a:lnTo>
                    <a:pt x="0" y="731520"/>
                  </a:lnTo>
                  <a:close/>
                </a:path>
              </a:pathLst>
            </a:custGeom>
            <a:blipFill>
              <a:blip r:embed="rId2">
                <a:alphaModFix amt="0"/>
              </a:blip>
              <a:stretch>
                <a:fillRect l="-110379" t="0" r="-110379" b="0"/>
              </a:stretch>
            </a:blipFill>
          </p:spPr>
        </p:sp>
        <p:sp>
          <p:nvSpPr>
            <p:cNvPr name="TextBox 40" id="40"/>
            <p:cNvSpPr txBox="true"/>
            <p:nvPr/>
          </p:nvSpPr>
          <p:spPr>
            <a:xfrm>
              <a:off x="0" y="-57150"/>
              <a:ext cx="585216" cy="788670"/>
            </a:xfrm>
            <a:prstGeom prst="rect">
              <a:avLst/>
            </a:prstGeom>
          </p:spPr>
          <p:txBody>
            <a:bodyPr anchor="ctr" rtlCol="false" tIns="0" lIns="0" bIns="0" rIns="0"/>
            <a:lstStyle/>
            <a:p>
              <a:pPr algn="ctr">
                <a:lnSpc>
                  <a:spcPts val="3240"/>
                </a:lnSpc>
              </a:pPr>
              <a:r>
                <a:rPr lang="en-US" sz="2700" b="true">
                  <a:solidFill>
                    <a:srgbClr val="E8664F"/>
                  </a:solidFill>
                  <a:latin typeface="Calibri (MS) Bold"/>
                  <a:ea typeface="Calibri (MS) Bold"/>
                  <a:cs typeface="Calibri (MS) Bold"/>
                  <a:sym typeface="Calibri (MS) Bold"/>
                </a:rPr>
                <a:t>→</a:t>
              </a:r>
            </a:p>
          </p:txBody>
        </p:sp>
      </p:grpSp>
      <p:grpSp>
        <p:nvGrpSpPr>
          <p:cNvPr name="Group 41" id="41"/>
          <p:cNvGrpSpPr/>
          <p:nvPr/>
        </p:nvGrpSpPr>
        <p:grpSpPr>
          <a:xfrm rot="0">
            <a:off x="2663571" y="6218204"/>
            <a:ext cx="3771900" cy="3468504"/>
            <a:chOff x="0" y="0"/>
            <a:chExt cx="5029200" cy="4624673"/>
          </a:xfrm>
        </p:grpSpPr>
        <p:sp>
          <p:nvSpPr>
            <p:cNvPr name="Freeform 42" id="42"/>
            <p:cNvSpPr/>
            <p:nvPr/>
          </p:nvSpPr>
          <p:spPr>
            <a:xfrm flipH="false" flipV="false" rot="0">
              <a:off x="0" y="0"/>
              <a:ext cx="5029200" cy="4624673"/>
            </a:xfrm>
            <a:custGeom>
              <a:avLst/>
              <a:gdLst/>
              <a:ahLst/>
              <a:cxnLst/>
              <a:rect r="r" b="b" t="t" l="l"/>
              <a:pathLst>
                <a:path h="4624673" w="5029200">
                  <a:moveTo>
                    <a:pt x="0" y="118581"/>
                  </a:moveTo>
                  <a:cubicBezTo>
                    <a:pt x="0" y="53115"/>
                    <a:pt x="81915" y="0"/>
                    <a:pt x="182880" y="0"/>
                  </a:cubicBezTo>
                  <a:lnTo>
                    <a:pt x="4846320" y="0"/>
                  </a:lnTo>
                  <a:cubicBezTo>
                    <a:pt x="4947285" y="0"/>
                    <a:pt x="5029200" y="53115"/>
                    <a:pt x="5029200" y="118581"/>
                  </a:cubicBezTo>
                  <a:lnTo>
                    <a:pt x="5029200" y="4506091"/>
                  </a:lnTo>
                  <a:cubicBezTo>
                    <a:pt x="5029200" y="4571558"/>
                    <a:pt x="4947285" y="4624673"/>
                    <a:pt x="4846320" y="4624673"/>
                  </a:cubicBezTo>
                  <a:lnTo>
                    <a:pt x="182880" y="4624673"/>
                  </a:lnTo>
                  <a:cubicBezTo>
                    <a:pt x="81915" y="4624672"/>
                    <a:pt x="0" y="4571558"/>
                    <a:pt x="0" y="4506091"/>
                  </a:cubicBezTo>
                  <a:close/>
                </a:path>
              </a:pathLst>
            </a:custGeom>
            <a:solidFill>
              <a:srgbClr val="263172"/>
            </a:solidFill>
          </p:spPr>
        </p:sp>
      </p:grpSp>
      <p:grpSp>
        <p:nvGrpSpPr>
          <p:cNvPr name="Group 43" id="43"/>
          <p:cNvGrpSpPr/>
          <p:nvPr/>
        </p:nvGrpSpPr>
        <p:grpSpPr>
          <a:xfrm rot="0">
            <a:off x="4138041" y="6629684"/>
            <a:ext cx="822960" cy="822960"/>
            <a:chOff x="0" y="0"/>
            <a:chExt cx="1097280" cy="1097280"/>
          </a:xfrm>
        </p:grpSpPr>
        <p:sp>
          <p:nvSpPr>
            <p:cNvPr name="Freeform 44" id="44"/>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E8664F"/>
            </a:solidFill>
          </p:spPr>
        </p:sp>
      </p:grpSp>
      <p:grpSp>
        <p:nvGrpSpPr>
          <p:cNvPr name="Group 45" id="45"/>
          <p:cNvGrpSpPr/>
          <p:nvPr/>
        </p:nvGrpSpPr>
        <p:grpSpPr>
          <a:xfrm rot="0">
            <a:off x="12358597" y="6629684"/>
            <a:ext cx="822960" cy="822960"/>
            <a:chOff x="0" y="0"/>
            <a:chExt cx="1097280" cy="1097280"/>
          </a:xfrm>
        </p:grpSpPr>
        <p:sp>
          <p:nvSpPr>
            <p:cNvPr name="Freeform 46" id="46"/>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2">
                <a:alphaModFix amt="0"/>
              </a:blip>
              <a:stretch>
                <a:fillRect l="-78303" t="0" r="-78303" b="0"/>
              </a:stretch>
            </a:blipFill>
          </p:spPr>
        </p:sp>
        <p:sp>
          <p:nvSpPr>
            <p:cNvPr name="TextBox 47" id="47"/>
            <p:cNvSpPr txBox="true"/>
            <p:nvPr/>
          </p:nvSpPr>
          <p:spPr>
            <a:xfrm>
              <a:off x="0" y="-19050"/>
              <a:ext cx="1097280" cy="1116330"/>
            </a:xfrm>
            <a:prstGeom prst="rect">
              <a:avLst/>
            </a:prstGeom>
          </p:spPr>
          <p:txBody>
            <a:bodyPr anchor="ctr" rtlCol="false" tIns="0" lIns="0" bIns="0" rIns="0"/>
            <a:lstStyle/>
            <a:p>
              <a:pPr algn="ctr">
                <a:lnSpc>
                  <a:spcPts val="3600"/>
                </a:lnSpc>
              </a:pPr>
              <a:r>
                <a:rPr lang="en-US" sz="3000" b="true">
                  <a:solidFill>
                    <a:srgbClr val="FFFFFF"/>
                  </a:solidFill>
                  <a:latin typeface="Cambria Bold"/>
                  <a:ea typeface="Cambria Bold"/>
                  <a:cs typeface="Cambria Bold"/>
                  <a:sym typeface="Cambria Bold"/>
                </a:rPr>
                <a:t>4</a:t>
              </a:r>
            </a:p>
          </p:txBody>
        </p:sp>
      </p:grpSp>
      <p:grpSp>
        <p:nvGrpSpPr>
          <p:cNvPr name="Group 48" id="48"/>
          <p:cNvGrpSpPr/>
          <p:nvPr/>
        </p:nvGrpSpPr>
        <p:grpSpPr>
          <a:xfrm rot="0">
            <a:off x="3008376" y="6982739"/>
            <a:ext cx="3223260" cy="2337597"/>
            <a:chOff x="0" y="0"/>
            <a:chExt cx="4297680" cy="3116796"/>
          </a:xfrm>
        </p:grpSpPr>
        <p:sp>
          <p:nvSpPr>
            <p:cNvPr name="Freeform 49" id="49"/>
            <p:cNvSpPr/>
            <p:nvPr/>
          </p:nvSpPr>
          <p:spPr>
            <a:xfrm flipH="false" flipV="false" rot="0">
              <a:off x="0" y="0"/>
              <a:ext cx="4297680" cy="3116796"/>
            </a:xfrm>
            <a:custGeom>
              <a:avLst/>
              <a:gdLst/>
              <a:ahLst/>
              <a:cxnLst/>
              <a:rect r="r" b="b" t="t" l="l"/>
              <a:pathLst>
                <a:path h="3116796" w="4297680">
                  <a:moveTo>
                    <a:pt x="0" y="0"/>
                  </a:moveTo>
                  <a:lnTo>
                    <a:pt x="4297680" y="0"/>
                  </a:lnTo>
                  <a:lnTo>
                    <a:pt x="4297680" y="3116796"/>
                  </a:lnTo>
                  <a:lnTo>
                    <a:pt x="0" y="3116796"/>
                  </a:lnTo>
                  <a:close/>
                </a:path>
              </a:pathLst>
            </a:custGeom>
            <a:blipFill>
              <a:blip r:embed="rId2">
                <a:alphaModFix amt="0"/>
              </a:blip>
              <a:stretch>
                <a:fillRect l="0" t="-10731" r="0" b="56996"/>
              </a:stretch>
            </a:blipFill>
          </p:spPr>
        </p:sp>
        <p:sp>
          <p:nvSpPr>
            <p:cNvPr name="TextBox 50" id="50"/>
            <p:cNvSpPr txBox="true"/>
            <p:nvPr/>
          </p:nvSpPr>
          <p:spPr>
            <a:xfrm>
              <a:off x="0" y="-19050"/>
              <a:ext cx="4297680" cy="3135846"/>
            </a:xfrm>
            <a:prstGeom prst="rect">
              <a:avLst/>
            </a:prstGeom>
          </p:spPr>
          <p:txBody>
            <a:bodyPr anchor="ctr" rtlCol="false" tIns="0" lIns="0" bIns="0" rIns="0"/>
            <a:lstStyle/>
            <a:p>
              <a:pPr algn="ctr">
                <a:lnSpc>
                  <a:spcPts val="2700"/>
                </a:lnSpc>
              </a:pPr>
              <a:r>
                <a:rPr lang="en-US" sz="2250" b="true">
                  <a:solidFill>
                    <a:srgbClr val="FFFFFF"/>
                  </a:solidFill>
                  <a:latin typeface="Cambria Bold"/>
                  <a:ea typeface="Cambria Bold"/>
                  <a:cs typeface="Cambria Bold"/>
                  <a:sym typeface="Cambria Bold"/>
                </a:rPr>
                <a:t>Apply hallucination Evals/RAG Evals</a:t>
              </a:r>
            </a:p>
            <a:p>
              <a:pPr algn="ctr">
                <a:lnSpc>
                  <a:spcPts val="2700"/>
                </a:lnSpc>
              </a:pPr>
              <a:r>
                <a:rPr lang="en-US" sz="2250" b="true">
                  <a:solidFill>
                    <a:srgbClr val="FFFFFF"/>
                  </a:solidFill>
                  <a:latin typeface="Cambria Bold"/>
                  <a:ea typeface="Cambria Bold"/>
                  <a:cs typeface="Cambria Bold"/>
                  <a:sym typeface="Cambria Bold"/>
                </a:rPr>
                <a:t>on generated outcome</a:t>
              </a:r>
            </a:p>
          </p:txBody>
        </p:sp>
      </p:grpSp>
      <p:grpSp>
        <p:nvGrpSpPr>
          <p:cNvPr name="Group 51" id="51"/>
          <p:cNvGrpSpPr/>
          <p:nvPr/>
        </p:nvGrpSpPr>
        <p:grpSpPr>
          <a:xfrm rot="0">
            <a:off x="2663571" y="2554389"/>
            <a:ext cx="3771900" cy="3301938"/>
            <a:chOff x="0" y="0"/>
            <a:chExt cx="5029200" cy="4402584"/>
          </a:xfrm>
        </p:grpSpPr>
        <p:sp>
          <p:nvSpPr>
            <p:cNvPr name="Freeform 52" id="52"/>
            <p:cNvSpPr/>
            <p:nvPr/>
          </p:nvSpPr>
          <p:spPr>
            <a:xfrm flipH="false" flipV="false" rot="0">
              <a:off x="0" y="0"/>
              <a:ext cx="5029200" cy="4402584"/>
            </a:xfrm>
            <a:custGeom>
              <a:avLst/>
              <a:gdLst/>
              <a:ahLst/>
              <a:cxnLst/>
              <a:rect r="r" b="b" t="t" l="l"/>
              <a:pathLst>
                <a:path h="4402584" w="5029200">
                  <a:moveTo>
                    <a:pt x="0" y="112887"/>
                  </a:moveTo>
                  <a:cubicBezTo>
                    <a:pt x="0" y="50564"/>
                    <a:pt x="81915" y="0"/>
                    <a:pt x="182880" y="0"/>
                  </a:cubicBezTo>
                  <a:lnTo>
                    <a:pt x="4846320" y="0"/>
                  </a:lnTo>
                  <a:cubicBezTo>
                    <a:pt x="4947285" y="0"/>
                    <a:pt x="5029200" y="50564"/>
                    <a:pt x="5029200" y="112887"/>
                  </a:cubicBezTo>
                  <a:lnTo>
                    <a:pt x="5029200" y="4289697"/>
                  </a:lnTo>
                  <a:cubicBezTo>
                    <a:pt x="5029200" y="4352020"/>
                    <a:pt x="4947285" y="4402584"/>
                    <a:pt x="4846320" y="4402584"/>
                  </a:cubicBezTo>
                  <a:lnTo>
                    <a:pt x="182880" y="4402584"/>
                  </a:lnTo>
                  <a:cubicBezTo>
                    <a:pt x="81915" y="4402583"/>
                    <a:pt x="0" y="4352020"/>
                    <a:pt x="0" y="4289697"/>
                  </a:cubicBezTo>
                  <a:close/>
                </a:path>
              </a:pathLst>
            </a:custGeom>
            <a:solidFill>
              <a:srgbClr val="263172"/>
            </a:solidFill>
          </p:spPr>
        </p:sp>
      </p:grpSp>
      <p:grpSp>
        <p:nvGrpSpPr>
          <p:cNvPr name="Group 53" id="53"/>
          <p:cNvGrpSpPr/>
          <p:nvPr/>
        </p:nvGrpSpPr>
        <p:grpSpPr>
          <a:xfrm rot="0">
            <a:off x="4138041" y="2965869"/>
            <a:ext cx="822960" cy="822960"/>
            <a:chOff x="0" y="0"/>
            <a:chExt cx="1097280" cy="1097280"/>
          </a:xfrm>
        </p:grpSpPr>
        <p:sp>
          <p:nvSpPr>
            <p:cNvPr name="Freeform 54" id="54"/>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E8664F"/>
            </a:solidFill>
          </p:spPr>
        </p:sp>
      </p:grpSp>
      <p:grpSp>
        <p:nvGrpSpPr>
          <p:cNvPr name="Group 55" id="55"/>
          <p:cNvGrpSpPr/>
          <p:nvPr/>
        </p:nvGrpSpPr>
        <p:grpSpPr>
          <a:xfrm rot="0">
            <a:off x="4138041" y="2965869"/>
            <a:ext cx="822960" cy="822960"/>
            <a:chOff x="0" y="0"/>
            <a:chExt cx="1097280" cy="1097280"/>
          </a:xfrm>
        </p:grpSpPr>
        <p:sp>
          <p:nvSpPr>
            <p:cNvPr name="Freeform 56" id="56"/>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2">
                <a:alphaModFix amt="0"/>
              </a:blip>
              <a:stretch>
                <a:fillRect l="-78303" t="0" r="-78303" b="0"/>
              </a:stretch>
            </a:blipFill>
          </p:spPr>
        </p:sp>
        <p:sp>
          <p:nvSpPr>
            <p:cNvPr name="TextBox 57" id="57"/>
            <p:cNvSpPr txBox="true"/>
            <p:nvPr/>
          </p:nvSpPr>
          <p:spPr>
            <a:xfrm>
              <a:off x="0" y="-19050"/>
              <a:ext cx="1097280" cy="1116330"/>
            </a:xfrm>
            <a:prstGeom prst="rect">
              <a:avLst/>
            </a:prstGeom>
          </p:spPr>
          <p:txBody>
            <a:bodyPr anchor="ctr" rtlCol="false" tIns="0" lIns="0" bIns="0" rIns="0"/>
            <a:lstStyle/>
            <a:p>
              <a:pPr algn="ctr">
                <a:lnSpc>
                  <a:spcPts val="3600"/>
                </a:lnSpc>
              </a:pPr>
              <a:r>
                <a:rPr lang="en-US" sz="3000" b="true">
                  <a:solidFill>
                    <a:srgbClr val="FFFFFF"/>
                  </a:solidFill>
                  <a:latin typeface="Cambria Bold"/>
                  <a:ea typeface="Cambria Bold"/>
                  <a:cs typeface="Cambria Bold"/>
                  <a:sym typeface="Cambria Bold"/>
                </a:rPr>
                <a:t>1</a:t>
              </a:r>
            </a:p>
          </p:txBody>
        </p:sp>
      </p:grpSp>
      <p:grpSp>
        <p:nvGrpSpPr>
          <p:cNvPr name="Group 58" id="58"/>
          <p:cNvGrpSpPr/>
          <p:nvPr/>
        </p:nvGrpSpPr>
        <p:grpSpPr>
          <a:xfrm rot="0">
            <a:off x="2934081" y="3645792"/>
            <a:ext cx="3223260" cy="1651797"/>
            <a:chOff x="0" y="0"/>
            <a:chExt cx="4297680" cy="2202396"/>
          </a:xfrm>
        </p:grpSpPr>
        <p:sp>
          <p:nvSpPr>
            <p:cNvPr name="Freeform 59" id="59"/>
            <p:cNvSpPr/>
            <p:nvPr/>
          </p:nvSpPr>
          <p:spPr>
            <a:xfrm flipH="false" flipV="false" rot="0">
              <a:off x="0" y="0"/>
              <a:ext cx="4297680" cy="2202396"/>
            </a:xfrm>
            <a:custGeom>
              <a:avLst/>
              <a:gdLst/>
              <a:ahLst/>
              <a:cxnLst/>
              <a:rect r="r" b="b" t="t" l="l"/>
              <a:pathLst>
                <a:path h="2202396" w="4297680">
                  <a:moveTo>
                    <a:pt x="0" y="0"/>
                  </a:moveTo>
                  <a:lnTo>
                    <a:pt x="4297680" y="0"/>
                  </a:lnTo>
                  <a:lnTo>
                    <a:pt x="4297680" y="2202396"/>
                  </a:lnTo>
                  <a:lnTo>
                    <a:pt x="0" y="2202396"/>
                  </a:lnTo>
                  <a:close/>
                </a:path>
              </a:pathLst>
            </a:custGeom>
            <a:blipFill>
              <a:blip r:embed="rId2">
                <a:alphaModFix amt="0"/>
              </a:blip>
              <a:stretch>
                <a:fillRect l="0" t="-15187" r="0" b="39142"/>
              </a:stretch>
            </a:blipFill>
          </p:spPr>
        </p:sp>
        <p:sp>
          <p:nvSpPr>
            <p:cNvPr name="TextBox 60" id="60"/>
            <p:cNvSpPr txBox="true"/>
            <p:nvPr/>
          </p:nvSpPr>
          <p:spPr>
            <a:xfrm>
              <a:off x="0" y="-19050"/>
              <a:ext cx="4297680" cy="2221446"/>
            </a:xfrm>
            <a:prstGeom prst="rect">
              <a:avLst/>
            </a:prstGeom>
          </p:spPr>
          <p:txBody>
            <a:bodyPr anchor="ctr" rtlCol="false" tIns="0" lIns="0" bIns="0" rIns="0"/>
            <a:lstStyle/>
            <a:p>
              <a:pPr algn="ctr">
                <a:lnSpc>
                  <a:spcPts val="2700"/>
                </a:lnSpc>
              </a:pPr>
              <a:r>
                <a:rPr lang="en-US" sz="2250" b="true">
                  <a:solidFill>
                    <a:srgbClr val="FFFFFF"/>
                  </a:solidFill>
                  <a:latin typeface="Cambria Bold"/>
                  <a:ea typeface="Cambria Bold"/>
                  <a:cs typeface="Cambria Bold"/>
                  <a:sym typeface="Cambria Bold"/>
                </a:rPr>
                <a:t>Choose dataset</a:t>
              </a:r>
            </a:p>
          </p:txBody>
        </p:sp>
      </p:grpSp>
      <p:grpSp>
        <p:nvGrpSpPr>
          <p:cNvPr name="Group 61" id="61"/>
          <p:cNvGrpSpPr/>
          <p:nvPr/>
        </p:nvGrpSpPr>
        <p:grpSpPr>
          <a:xfrm rot="0">
            <a:off x="6856095" y="2554389"/>
            <a:ext cx="3771900" cy="3301938"/>
            <a:chOff x="0" y="0"/>
            <a:chExt cx="5029200" cy="4402584"/>
          </a:xfrm>
        </p:grpSpPr>
        <p:sp>
          <p:nvSpPr>
            <p:cNvPr name="Freeform 62" id="62"/>
            <p:cNvSpPr/>
            <p:nvPr/>
          </p:nvSpPr>
          <p:spPr>
            <a:xfrm flipH="false" flipV="false" rot="0">
              <a:off x="0" y="0"/>
              <a:ext cx="5029200" cy="4402584"/>
            </a:xfrm>
            <a:custGeom>
              <a:avLst/>
              <a:gdLst/>
              <a:ahLst/>
              <a:cxnLst/>
              <a:rect r="r" b="b" t="t" l="l"/>
              <a:pathLst>
                <a:path h="4402584" w="5029200">
                  <a:moveTo>
                    <a:pt x="0" y="112887"/>
                  </a:moveTo>
                  <a:cubicBezTo>
                    <a:pt x="0" y="50564"/>
                    <a:pt x="81915" y="0"/>
                    <a:pt x="182880" y="0"/>
                  </a:cubicBezTo>
                  <a:lnTo>
                    <a:pt x="4846320" y="0"/>
                  </a:lnTo>
                  <a:cubicBezTo>
                    <a:pt x="4947285" y="0"/>
                    <a:pt x="5029200" y="50564"/>
                    <a:pt x="5029200" y="112887"/>
                  </a:cubicBezTo>
                  <a:lnTo>
                    <a:pt x="5029200" y="4289697"/>
                  </a:lnTo>
                  <a:cubicBezTo>
                    <a:pt x="5029200" y="4352020"/>
                    <a:pt x="4947285" y="4402584"/>
                    <a:pt x="4846320" y="4402584"/>
                  </a:cubicBezTo>
                  <a:lnTo>
                    <a:pt x="182880" y="4402584"/>
                  </a:lnTo>
                  <a:cubicBezTo>
                    <a:pt x="81915" y="4402583"/>
                    <a:pt x="0" y="4352020"/>
                    <a:pt x="0" y="4289697"/>
                  </a:cubicBezTo>
                  <a:close/>
                </a:path>
              </a:pathLst>
            </a:custGeom>
            <a:solidFill>
              <a:srgbClr val="263172"/>
            </a:solidFill>
          </p:spPr>
        </p:sp>
      </p:grpSp>
      <p:grpSp>
        <p:nvGrpSpPr>
          <p:cNvPr name="Group 63" id="63"/>
          <p:cNvGrpSpPr/>
          <p:nvPr/>
        </p:nvGrpSpPr>
        <p:grpSpPr>
          <a:xfrm rot="0">
            <a:off x="8330565" y="2965869"/>
            <a:ext cx="822960" cy="822960"/>
            <a:chOff x="0" y="0"/>
            <a:chExt cx="1097280" cy="1097280"/>
          </a:xfrm>
        </p:grpSpPr>
        <p:sp>
          <p:nvSpPr>
            <p:cNvPr name="Freeform 64" id="64"/>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E8664F"/>
            </a:solidFill>
          </p:spPr>
        </p:sp>
      </p:grpSp>
      <p:grpSp>
        <p:nvGrpSpPr>
          <p:cNvPr name="Group 65" id="65"/>
          <p:cNvGrpSpPr/>
          <p:nvPr/>
        </p:nvGrpSpPr>
        <p:grpSpPr>
          <a:xfrm rot="0">
            <a:off x="7126605" y="3645792"/>
            <a:ext cx="3223260" cy="1994697"/>
            <a:chOff x="0" y="0"/>
            <a:chExt cx="4297680" cy="2659596"/>
          </a:xfrm>
        </p:grpSpPr>
        <p:sp>
          <p:nvSpPr>
            <p:cNvPr name="Freeform 66" id="66"/>
            <p:cNvSpPr/>
            <p:nvPr/>
          </p:nvSpPr>
          <p:spPr>
            <a:xfrm flipH="false" flipV="false" rot="0">
              <a:off x="0" y="0"/>
              <a:ext cx="4297680" cy="2659596"/>
            </a:xfrm>
            <a:custGeom>
              <a:avLst/>
              <a:gdLst/>
              <a:ahLst/>
              <a:cxnLst/>
              <a:rect r="r" b="b" t="t" l="l"/>
              <a:pathLst>
                <a:path h="2659596" w="4297680">
                  <a:moveTo>
                    <a:pt x="0" y="0"/>
                  </a:moveTo>
                  <a:lnTo>
                    <a:pt x="4297680" y="0"/>
                  </a:lnTo>
                  <a:lnTo>
                    <a:pt x="4297680" y="2659596"/>
                  </a:lnTo>
                  <a:lnTo>
                    <a:pt x="0" y="2659596"/>
                  </a:lnTo>
                  <a:close/>
                </a:path>
              </a:pathLst>
            </a:custGeom>
            <a:blipFill>
              <a:blip r:embed="rId2">
                <a:alphaModFix amt="0"/>
              </a:blip>
              <a:stretch>
                <a:fillRect l="0" t="-12576" r="0" b="49604"/>
              </a:stretch>
            </a:blipFill>
          </p:spPr>
        </p:sp>
        <p:sp>
          <p:nvSpPr>
            <p:cNvPr name="TextBox 67" id="67"/>
            <p:cNvSpPr txBox="true"/>
            <p:nvPr/>
          </p:nvSpPr>
          <p:spPr>
            <a:xfrm>
              <a:off x="0" y="-19050"/>
              <a:ext cx="4297680" cy="2678646"/>
            </a:xfrm>
            <a:prstGeom prst="rect">
              <a:avLst/>
            </a:prstGeom>
          </p:spPr>
          <p:txBody>
            <a:bodyPr anchor="ctr" rtlCol="false" tIns="0" lIns="0" bIns="0" rIns="0"/>
            <a:lstStyle/>
            <a:p>
              <a:pPr algn="ctr">
                <a:lnSpc>
                  <a:spcPts val="2700"/>
                </a:lnSpc>
              </a:pPr>
              <a:r>
                <a:rPr lang="en-US" sz="2250" b="true">
                  <a:solidFill>
                    <a:srgbClr val="FFFFFF"/>
                  </a:solidFill>
                  <a:latin typeface="Cambria Bold"/>
                  <a:ea typeface="Cambria Bold"/>
                  <a:cs typeface="Cambria Bold"/>
                  <a:sym typeface="Cambria Bold"/>
                </a:rPr>
                <a:t>Choose evaluation metric/framework</a:t>
              </a:r>
            </a:p>
          </p:txBody>
        </p:sp>
      </p:grpSp>
      <p:grpSp>
        <p:nvGrpSpPr>
          <p:cNvPr name="Group 68" id="68"/>
          <p:cNvGrpSpPr/>
          <p:nvPr/>
        </p:nvGrpSpPr>
        <p:grpSpPr>
          <a:xfrm rot="0">
            <a:off x="8330565" y="2965869"/>
            <a:ext cx="822960" cy="822960"/>
            <a:chOff x="0" y="0"/>
            <a:chExt cx="1097280" cy="1097280"/>
          </a:xfrm>
        </p:grpSpPr>
        <p:sp>
          <p:nvSpPr>
            <p:cNvPr name="Freeform 69" id="69"/>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2">
                <a:alphaModFix amt="0"/>
              </a:blip>
              <a:stretch>
                <a:fillRect l="-78303" t="0" r="-78303" b="0"/>
              </a:stretch>
            </a:blipFill>
          </p:spPr>
        </p:sp>
        <p:sp>
          <p:nvSpPr>
            <p:cNvPr name="TextBox 70" id="70"/>
            <p:cNvSpPr txBox="true"/>
            <p:nvPr/>
          </p:nvSpPr>
          <p:spPr>
            <a:xfrm>
              <a:off x="0" y="-19050"/>
              <a:ext cx="1097280" cy="1116330"/>
            </a:xfrm>
            <a:prstGeom prst="rect">
              <a:avLst/>
            </a:prstGeom>
          </p:spPr>
          <p:txBody>
            <a:bodyPr anchor="ctr" rtlCol="false" tIns="0" lIns="0" bIns="0" rIns="0"/>
            <a:lstStyle/>
            <a:p>
              <a:pPr algn="ctr">
                <a:lnSpc>
                  <a:spcPts val="3600"/>
                </a:lnSpc>
              </a:pPr>
              <a:r>
                <a:rPr lang="en-US" sz="3000" b="true">
                  <a:solidFill>
                    <a:srgbClr val="FFFFFF"/>
                  </a:solidFill>
                  <a:latin typeface="Cambria Bold"/>
                  <a:ea typeface="Cambria Bold"/>
                  <a:cs typeface="Cambria Bold"/>
                  <a:sym typeface="Cambria Bold"/>
                </a:rPr>
                <a:t>2</a:t>
              </a:r>
            </a:p>
          </p:txBody>
        </p:sp>
      </p:grpSp>
      <p:grpSp>
        <p:nvGrpSpPr>
          <p:cNvPr name="Group 71" id="71"/>
          <p:cNvGrpSpPr/>
          <p:nvPr/>
        </p:nvGrpSpPr>
        <p:grpSpPr>
          <a:xfrm rot="0">
            <a:off x="8318092" y="5939967"/>
            <a:ext cx="822960" cy="2202396"/>
            <a:chOff x="0" y="0"/>
            <a:chExt cx="1097280" cy="2936528"/>
          </a:xfrm>
        </p:grpSpPr>
        <p:sp>
          <p:nvSpPr>
            <p:cNvPr name="Freeform 72" id="72"/>
            <p:cNvSpPr/>
            <p:nvPr/>
          </p:nvSpPr>
          <p:spPr>
            <a:xfrm flipH="false" flipV="false" rot="0">
              <a:off x="0" y="0"/>
              <a:ext cx="1097280" cy="2936528"/>
            </a:xfrm>
            <a:custGeom>
              <a:avLst/>
              <a:gdLst/>
              <a:ahLst/>
              <a:cxnLst/>
              <a:rect r="r" b="b" t="t" l="l"/>
              <a:pathLst>
                <a:path h="2936528" w="1097280">
                  <a:moveTo>
                    <a:pt x="0" y="0"/>
                  </a:moveTo>
                  <a:lnTo>
                    <a:pt x="1097280" y="0"/>
                  </a:lnTo>
                  <a:lnTo>
                    <a:pt x="1097280" y="2936528"/>
                  </a:lnTo>
                  <a:lnTo>
                    <a:pt x="0" y="2936528"/>
                  </a:lnTo>
                  <a:close/>
                </a:path>
              </a:pathLst>
            </a:custGeom>
            <a:blipFill>
              <a:blip r:embed="rId2">
                <a:alphaModFix amt="0"/>
              </a:blip>
              <a:stretch>
                <a:fillRect l="-78303" t="0" r="-78303" b="62633"/>
              </a:stretch>
            </a:blipFill>
          </p:spPr>
        </p:sp>
        <p:sp>
          <p:nvSpPr>
            <p:cNvPr name="TextBox 73" id="73"/>
            <p:cNvSpPr txBox="true"/>
            <p:nvPr/>
          </p:nvSpPr>
          <p:spPr>
            <a:xfrm>
              <a:off x="0" y="-19050"/>
              <a:ext cx="1097280" cy="2955578"/>
            </a:xfrm>
            <a:prstGeom prst="rect">
              <a:avLst/>
            </a:prstGeom>
          </p:spPr>
          <p:txBody>
            <a:bodyPr anchor="ctr" rtlCol="false" tIns="0" lIns="0" bIns="0" rIns="0"/>
            <a:lstStyle/>
            <a:p>
              <a:pPr algn="ctr">
                <a:lnSpc>
                  <a:spcPts val="3600"/>
                </a:lnSpc>
              </a:pPr>
              <a:r>
                <a:rPr lang="en-US" sz="3000" b="true">
                  <a:solidFill>
                    <a:srgbClr val="FFFFFF"/>
                  </a:solidFill>
                  <a:latin typeface="Cambria Bold"/>
                  <a:ea typeface="Cambria Bold"/>
                  <a:cs typeface="Cambria Bold"/>
                  <a:sym typeface="Cambria Bold"/>
                </a:rPr>
                <a:t>5</a:t>
              </a:r>
            </a:p>
          </p:txBody>
        </p:sp>
      </p:grpSp>
      <p:grpSp>
        <p:nvGrpSpPr>
          <p:cNvPr name="Group 74" id="74"/>
          <p:cNvGrpSpPr/>
          <p:nvPr/>
        </p:nvGrpSpPr>
        <p:grpSpPr>
          <a:xfrm rot="0">
            <a:off x="4138041" y="5939967"/>
            <a:ext cx="822960" cy="2202396"/>
            <a:chOff x="0" y="0"/>
            <a:chExt cx="1097280" cy="2936528"/>
          </a:xfrm>
        </p:grpSpPr>
        <p:sp>
          <p:nvSpPr>
            <p:cNvPr name="Freeform 75" id="75"/>
            <p:cNvSpPr/>
            <p:nvPr/>
          </p:nvSpPr>
          <p:spPr>
            <a:xfrm flipH="false" flipV="false" rot="0">
              <a:off x="0" y="0"/>
              <a:ext cx="1097280" cy="2936528"/>
            </a:xfrm>
            <a:custGeom>
              <a:avLst/>
              <a:gdLst/>
              <a:ahLst/>
              <a:cxnLst/>
              <a:rect r="r" b="b" t="t" l="l"/>
              <a:pathLst>
                <a:path h="2936528" w="1097280">
                  <a:moveTo>
                    <a:pt x="0" y="0"/>
                  </a:moveTo>
                  <a:lnTo>
                    <a:pt x="1097280" y="0"/>
                  </a:lnTo>
                  <a:lnTo>
                    <a:pt x="1097280" y="2936528"/>
                  </a:lnTo>
                  <a:lnTo>
                    <a:pt x="0" y="2936528"/>
                  </a:lnTo>
                  <a:close/>
                </a:path>
              </a:pathLst>
            </a:custGeom>
            <a:blipFill>
              <a:blip r:embed="rId2">
                <a:alphaModFix amt="0"/>
              </a:blip>
              <a:stretch>
                <a:fillRect l="-78303" t="0" r="-78303" b="62633"/>
              </a:stretch>
            </a:blipFill>
          </p:spPr>
        </p:sp>
        <p:sp>
          <p:nvSpPr>
            <p:cNvPr name="TextBox 76" id="76"/>
            <p:cNvSpPr txBox="true"/>
            <p:nvPr/>
          </p:nvSpPr>
          <p:spPr>
            <a:xfrm>
              <a:off x="0" y="-19050"/>
              <a:ext cx="1097280" cy="2955578"/>
            </a:xfrm>
            <a:prstGeom prst="rect">
              <a:avLst/>
            </a:prstGeom>
          </p:spPr>
          <p:txBody>
            <a:bodyPr anchor="ctr" rtlCol="false" tIns="0" lIns="0" bIns="0" rIns="0"/>
            <a:lstStyle/>
            <a:p>
              <a:pPr algn="ctr">
                <a:lnSpc>
                  <a:spcPts val="3600"/>
                </a:lnSpc>
              </a:pPr>
              <a:r>
                <a:rPr lang="en-US" sz="3000" b="true">
                  <a:solidFill>
                    <a:srgbClr val="FFFFFF"/>
                  </a:solidFill>
                  <a:latin typeface="Cambria Bold"/>
                  <a:ea typeface="Cambria Bold"/>
                  <a:cs typeface="Cambria Bold"/>
                  <a:sym typeface="Cambria Bold"/>
                </a:rPr>
                <a:t>6</a:t>
              </a:r>
            </a:p>
          </p:txBody>
        </p:sp>
      </p:grpSp>
      <p:grpSp>
        <p:nvGrpSpPr>
          <p:cNvPr name="Group 77" id="77"/>
          <p:cNvGrpSpPr/>
          <p:nvPr/>
        </p:nvGrpSpPr>
        <p:grpSpPr>
          <a:xfrm rot="5400000">
            <a:off x="12550621" y="5885103"/>
            <a:ext cx="438912" cy="548640"/>
            <a:chOff x="0" y="0"/>
            <a:chExt cx="585216" cy="731520"/>
          </a:xfrm>
        </p:grpSpPr>
        <p:sp>
          <p:nvSpPr>
            <p:cNvPr name="Freeform 78" id="78"/>
            <p:cNvSpPr/>
            <p:nvPr/>
          </p:nvSpPr>
          <p:spPr>
            <a:xfrm flipH="false" flipV="false" rot="0">
              <a:off x="0" y="0"/>
              <a:ext cx="585216" cy="731520"/>
            </a:xfrm>
            <a:custGeom>
              <a:avLst/>
              <a:gdLst/>
              <a:ahLst/>
              <a:cxnLst/>
              <a:rect r="r" b="b" t="t" l="l"/>
              <a:pathLst>
                <a:path h="731520" w="585216">
                  <a:moveTo>
                    <a:pt x="0" y="0"/>
                  </a:moveTo>
                  <a:lnTo>
                    <a:pt x="585216" y="0"/>
                  </a:lnTo>
                  <a:lnTo>
                    <a:pt x="585216" y="731520"/>
                  </a:lnTo>
                  <a:lnTo>
                    <a:pt x="0" y="731520"/>
                  </a:lnTo>
                  <a:close/>
                </a:path>
              </a:pathLst>
            </a:custGeom>
            <a:blipFill>
              <a:blip r:embed="rId2">
                <a:alphaModFix amt="0"/>
              </a:blip>
              <a:stretch>
                <a:fillRect l="-110379" t="0" r="-110379" b="0"/>
              </a:stretch>
            </a:blipFill>
          </p:spPr>
        </p:sp>
        <p:sp>
          <p:nvSpPr>
            <p:cNvPr name="TextBox 79" id="79"/>
            <p:cNvSpPr txBox="true"/>
            <p:nvPr/>
          </p:nvSpPr>
          <p:spPr>
            <a:xfrm>
              <a:off x="0" y="-57150"/>
              <a:ext cx="585216" cy="788670"/>
            </a:xfrm>
            <a:prstGeom prst="rect">
              <a:avLst/>
            </a:prstGeom>
          </p:spPr>
          <p:txBody>
            <a:bodyPr anchor="ctr" rtlCol="false" tIns="0" lIns="0" bIns="0" rIns="0"/>
            <a:lstStyle/>
            <a:p>
              <a:pPr algn="ctr">
                <a:lnSpc>
                  <a:spcPts val="3240"/>
                </a:lnSpc>
              </a:pPr>
              <a:r>
                <a:rPr lang="en-US" sz="2700" b="true">
                  <a:solidFill>
                    <a:srgbClr val="E8664F"/>
                  </a:solidFill>
                  <a:latin typeface="Calibri (MS) Bold"/>
                  <a:ea typeface="Calibri (MS) Bold"/>
                  <a:cs typeface="Calibri (MS) Bold"/>
                  <a:sym typeface="Calibri (MS) Bold"/>
                </a:rPr>
                <a:t>→</a:t>
              </a:r>
            </a:p>
          </p:txBody>
        </p:sp>
      </p:grpSp>
      <p:grpSp>
        <p:nvGrpSpPr>
          <p:cNvPr name="Group 80" id="80"/>
          <p:cNvGrpSpPr/>
          <p:nvPr/>
        </p:nvGrpSpPr>
        <p:grpSpPr>
          <a:xfrm rot="-10800000">
            <a:off x="10538510" y="7434489"/>
            <a:ext cx="438912" cy="548640"/>
            <a:chOff x="0" y="0"/>
            <a:chExt cx="585216" cy="731520"/>
          </a:xfrm>
        </p:grpSpPr>
        <p:sp>
          <p:nvSpPr>
            <p:cNvPr name="Freeform 81" id="81"/>
            <p:cNvSpPr/>
            <p:nvPr/>
          </p:nvSpPr>
          <p:spPr>
            <a:xfrm flipH="false" flipV="false" rot="0">
              <a:off x="0" y="0"/>
              <a:ext cx="585216" cy="731520"/>
            </a:xfrm>
            <a:custGeom>
              <a:avLst/>
              <a:gdLst/>
              <a:ahLst/>
              <a:cxnLst/>
              <a:rect r="r" b="b" t="t" l="l"/>
              <a:pathLst>
                <a:path h="731520" w="585216">
                  <a:moveTo>
                    <a:pt x="0" y="0"/>
                  </a:moveTo>
                  <a:lnTo>
                    <a:pt x="585216" y="0"/>
                  </a:lnTo>
                  <a:lnTo>
                    <a:pt x="585216" y="731520"/>
                  </a:lnTo>
                  <a:lnTo>
                    <a:pt x="0" y="731520"/>
                  </a:lnTo>
                  <a:close/>
                </a:path>
              </a:pathLst>
            </a:custGeom>
            <a:blipFill>
              <a:blip r:embed="rId2">
                <a:alphaModFix amt="0"/>
              </a:blip>
              <a:stretch>
                <a:fillRect l="-110379" t="0" r="-110379" b="0"/>
              </a:stretch>
            </a:blipFill>
          </p:spPr>
        </p:sp>
        <p:sp>
          <p:nvSpPr>
            <p:cNvPr name="TextBox 82" id="82"/>
            <p:cNvSpPr txBox="true"/>
            <p:nvPr/>
          </p:nvSpPr>
          <p:spPr>
            <a:xfrm>
              <a:off x="0" y="-57150"/>
              <a:ext cx="585216" cy="788670"/>
            </a:xfrm>
            <a:prstGeom prst="rect">
              <a:avLst/>
            </a:prstGeom>
          </p:spPr>
          <p:txBody>
            <a:bodyPr anchor="ctr" rtlCol="false" tIns="0" lIns="0" bIns="0" rIns="0"/>
            <a:lstStyle/>
            <a:p>
              <a:pPr algn="ctr">
                <a:lnSpc>
                  <a:spcPts val="3240"/>
                </a:lnSpc>
              </a:pPr>
              <a:r>
                <a:rPr lang="en-US" sz="2700" b="true">
                  <a:solidFill>
                    <a:srgbClr val="E8664F"/>
                  </a:solidFill>
                  <a:latin typeface="Calibri (MS) Bold"/>
                  <a:ea typeface="Calibri (MS) Bold"/>
                  <a:cs typeface="Calibri (MS) Bold"/>
                  <a:sym typeface="Calibri (MS) Bold"/>
                </a:rPr>
                <a:t>→</a:t>
              </a:r>
            </a:p>
          </p:txBody>
        </p:sp>
      </p:grpSp>
      <p:grpSp>
        <p:nvGrpSpPr>
          <p:cNvPr name="Group 83" id="83"/>
          <p:cNvGrpSpPr/>
          <p:nvPr/>
        </p:nvGrpSpPr>
        <p:grpSpPr>
          <a:xfrm rot="-10800000">
            <a:off x="6457238" y="7483317"/>
            <a:ext cx="438912" cy="548640"/>
            <a:chOff x="0" y="0"/>
            <a:chExt cx="585216" cy="731520"/>
          </a:xfrm>
        </p:grpSpPr>
        <p:sp>
          <p:nvSpPr>
            <p:cNvPr name="Freeform 84" id="84"/>
            <p:cNvSpPr/>
            <p:nvPr/>
          </p:nvSpPr>
          <p:spPr>
            <a:xfrm flipH="false" flipV="false" rot="0">
              <a:off x="0" y="0"/>
              <a:ext cx="585216" cy="731520"/>
            </a:xfrm>
            <a:custGeom>
              <a:avLst/>
              <a:gdLst/>
              <a:ahLst/>
              <a:cxnLst/>
              <a:rect r="r" b="b" t="t" l="l"/>
              <a:pathLst>
                <a:path h="731520" w="585216">
                  <a:moveTo>
                    <a:pt x="0" y="0"/>
                  </a:moveTo>
                  <a:lnTo>
                    <a:pt x="585216" y="0"/>
                  </a:lnTo>
                  <a:lnTo>
                    <a:pt x="585216" y="731520"/>
                  </a:lnTo>
                  <a:lnTo>
                    <a:pt x="0" y="731520"/>
                  </a:lnTo>
                  <a:close/>
                </a:path>
              </a:pathLst>
            </a:custGeom>
            <a:blipFill>
              <a:blip r:embed="rId2">
                <a:alphaModFix amt="0"/>
              </a:blip>
              <a:stretch>
                <a:fillRect l="-110379" t="0" r="-110379" b="0"/>
              </a:stretch>
            </a:blipFill>
          </p:spPr>
        </p:sp>
        <p:sp>
          <p:nvSpPr>
            <p:cNvPr name="TextBox 85" id="85"/>
            <p:cNvSpPr txBox="true"/>
            <p:nvPr/>
          </p:nvSpPr>
          <p:spPr>
            <a:xfrm>
              <a:off x="0" y="-57150"/>
              <a:ext cx="585216" cy="788670"/>
            </a:xfrm>
            <a:prstGeom prst="rect">
              <a:avLst/>
            </a:prstGeom>
          </p:spPr>
          <p:txBody>
            <a:bodyPr anchor="ctr" rtlCol="false" tIns="0" lIns="0" bIns="0" rIns="0"/>
            <a:lstStyle/>
            <a:p>
              <a:pPr algn="ctr">
                <a:lnSpc>
                  <a:spcPts val="3240"/>
                </a:lnSpc>
              </a:pPr>
              <a:r>
                <a:rPr lang="en-US" sz="2700" b="true">
                  <a:solidFill>
                    <a:srgbClr val="E8664F"/>
                  </a:solidFill>
                  <a:latin typeface="Calibri (MS) Bold"/>
                  <a:ea typeface="Calibri (MS) Bold"/>
                  <a:cs typeface="Calibri (MS) Bold"/>
                  <a:sym typeface="Calibri (MS) Bold"/>
                </a:rPr>
                <a:t>→</a:t>
              </a:r>
            </a:p>
          </p:txBody>
        </p:sp>
      </p:grpSp>
      <p:grpSp>
        <p:nvGrpSpPr>
          <p:cNvPr name="Group 86" id="86"/>
          <p:cNvGrpSpPr/>
          <p:nvPr/>
        </p:nvGrpSpPr>
        <p:grpSpPr>
          <a:xfrm rot="0">
            <a:off x="1418082" y="1445419"/>
            <a:ext cx="8892642" cy="46196"/>
            <a:chOff x="0" y="0"/>
            <a:chExt cx="1860174" cy="9663"/>
          </a:xfrm>
        </p:grpSpPr>
        <p:sp>
          <p:nvSpPr>
            <p:cNvPr name="Freeform 87" id="87"/>
            <p:cNvSpPr/>
            <p:nvPr/>
          </p:nvSpPr>
          <p:spPr>
            <a:xfrm flipH="false" flipV="false" rot="0">
              <a:off x="0" y="0"/>
              <a:ext cx="1860174" cy="9663"/>
            </a:xfrm>
            <a:custGeom>
              <a:avLst/>
              <a:gdLst/>
              <a:ahLst/>
              <a:cxnLst/>
              <a:rect r="r" b="b" t="t" l="l"/>
              <a:pathLst>
                <a:path h="9663" w="1860174">
                  <a:moveTo>
                    <a:pt x="0" y="4832"/>
                  </a:moveTo>
                  <a:cubicBezTo>
                    <a:pt x="0" y="2163"/>
                    <a:pt x="416308" y="0"/>
                    <a:pt x="930087" y="0"/>
                  </a:cubicBezTo>
                  <a:cubicBezTo>
                    <a:pt x="1443866" y="0"/>
                    <a:pt x="1860174" y="2163"/>
                    <a:pt x="1860174" y="4832"/>
                  </a:cubicBezTo>
                  <a:cubicBezTo>
                    <a:pt x="1860174" y="7501"/>
                    <a:pt x="1443866" y="9663"/>
                    <a:pt x="930087" y="9663"/>
                  </a:cubicBezTo>
                  <a:cubicBezTo>
                    <a:pt x="416308" y="9663"/>
                    <a:pt x="0" y="7501"/>
                    <a:pt x="0" y="4832"/>
                  </a:cubicBezTo>
                  <a:close/>
                </a:path>
              </a:pathLst>
            </a:custGeom>
            <a:solidFill>
              <a:srgbClr val="E8664F"/>
            </a:solid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960120" y="-729407"/>
            <a:ext cx="10972800" cy="3516213"/>
            <a:chOff x="0" y="0"/>
            <a:chExt cx="14630400" cy="4688284"/>
          </a:xfrm>
        </p:grpSpPr>
        <p:sp>
          <p:nvSpPr>
            <p:cNvPr name="Freeform 3" id="3"/>
            <p:cNvSpPr/>
            <p:nvPr/>
          </p:nvSpPr>
          <p:spPr>
            <a:xfrm flipH="false" flipV="false" rot="0">
              <a:off x="0" y="0"/>
              <a:ext cx="14630400" cy="4688284"/>
            </a:xfrm>
            <a:custGeom>
              <a:avLst/>
              <a:gdLst/>
              <a:ahLst/>
              <a:cxnLst/>
              <a:rect r="r" b="b" t="t" l="l"/>
              <a:pathLst>
                <a:path h="4688284" w="14630400">
                  <a:moveTo>
                    <a:pt x="0" y="0"/>
                  </a:moveTo>
                  <a:lnTo>
                    <a:pt x="14630400" y="0"/>
                  </a:lnTo>
                  <a:lnTo>
                    <a:pt x="14630400" y="4688284"/>
                  </a:lnTo>
                  <a:lnTo>
                    <a:pt x="0" y="4688284"/>
                  </a:lnTo>
                  <a:close/>
                </a:path>
              </a:pathLst>
            </a:custGeom>
            <a:blipFill>
              <a:blip r:embed="rId2">
                <a:alphaModFix amt="0"/>
              </a:blip>
              <a:stretch>
                <a:fillRect l="0" t="-49103" r="0" b="27492"/>
              </a:stretch>
            </a:blipFill>
          </p:spPr>
        </p:sp>
        <p:sp>
          <p:nvSpPr>
            <p:cNvPr name="TextBox 4" id="4"/>
            <p:cNvSpPr txBox="true"/>
            <p:nvPr/>
          </p:nvSpPr>
          <p:spPr>
            <a:xfrm>
              <a:off x="0" y="-9525"/>
              <a:ext cx="14630400" cy="4697809"/>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Datasets</a:t>
              </a:r>
            </a:p>
          </p:txBody>
        </p:sp>
      </p:grpSp>
      <p:grpSp>
        <p:nvGrpSpPr>
          <p:cNvPr name="Group 5" id="5"/>
          <p:cNvGrpSpPr/>
          <p:nvPr/>
        </p:nvGrpSpPr>
        <p:grpSpPr>
          <a:xfrm rot="0">
            <a:off x="960120" y="1734498"/>
            <a:ext cx="13716000" cy="548640"/>
            <a:chOff x="0" y="0"/>
            <a:chExt cx="18288000" cy="731520"/>
          </a:xfrm>
        </p:grpSpPr>
        <p:sp>
          <p:nvSpPr>
            <p:cNvPr name="Freeform 6" id="6"/>
            <p:cNvSpPr/>
            <p:nvPr/>
          </p:nvSpPr>
          <p:spPr>
            <a:xfrm flipH="false" flipV="false" rot="0">
              <a:off x="0" y="0"/>
              <a:ext cx="18288000" cy="731520"/>
            </a:xfrm>
            <a:custGeom>
              <a:avLst/>
              <a:gdLst/>
              <a:ahLst/>
              <a:cxnLst/>
              <a:rect r="r" b="b" t="t" l="l"/>
              <a:pathLst>
                <a:path h="731520" w="18288000">
                  <a:moveTo>
                    <a:pt x="0" y="0"/>
                  </a:moveTo>
                  <a:lnTo>
                    <a:pt x="18288000" y="0"/>
                  </a:lnTo>
                  <a:lnTo>
                    <a:pt x="18288000" y="731520"/>
                  </a:lnTo>
                  <a:lnTo>
                    <a:pt x="0" y="731520"/>
                  </a:lnTo>
                  <a:close/>
                </a:path>
              </a:pathLst>
            </a:custGeom>
            <a:blipFill>
              <a:blip r:embed="rId2">
                <a:alphaModFix amt="0"/>
              </a:blip>
              <a:stretch>
                <a:fillRect l="0" t="-437125" r="0" b="-437125"/>
              </a:stretch>
            </a:blipFill>
          </p:spPr>
        </p:sp>
        <p:sp>
          <p:nvSpPr>
            <p:cNvPr name="TextBox 7" id="7"/>
            <p:cNvSpPr txBox="true"/>
            <p:nvPr/>
          </p:nvSpPr>
          <p:spPr>
            <a:xfrm>
              <a:off x="0" y="-57150"/>
              <a:ext cx="18288000" cy="788670"/>
            </a:xfrm>
            <a:prstGeom prst="rect">
              <a:avLst/>
            </a:prstGeom>
          </p:spPr>
          <p:txBody>
            <a:bodyPr anchor="ctr" rtlCol="false" tIns="0" lIns="0" bIns="0" rIns="0"/>
            <a:lstStyle/>
            <a:p>
              <a:pPr algn="l">
                <a:lnSpc>
                  <a:spcPts val="2700"/>
                </a:lnSpc>
              </a:pPr>
              <a:r>
                <a:rPr lang="en-US" sz="2250" i="true">
                  <a:solidFill>
                    <a:srgbClr val="CADCFC"/>
                  </a:solidFill>
                  <a:latin typeface="Calibri (MS) Italics"/>
                  <a:ea typeface="Calibri (MS) Italics"/>
                  <a:cs typeface="Calibri (MS) Italics"/>
                  <a:sym typeface="Calibri (MS) Italics"/>
                </a:rPr>
                <a:t>Datasets that can be used for retrieval</a:t>
              </a:r>
            </a:p>
          </p:txBody>
        </p:sp>
      </p:grpSp>
      <p:grpSp>
        <p:nvGrpSpPr>
          <p:cNvPr name="Group 8" id="8"/>
          <p:cNvGrpSpPr/>
          <p:nvPr/>
        </p:nvGrpSpPr>
        <p:grpSpPr>
          <a:xfrm rot="0">
            <a:off x="763440" y="3194909"/>
            <a:ext cx="3666481" cy="4890602"/>
            <a:chOff x="0" y="0"/>
            <a:chExt cx="4888642" cy="6520802"/>
          </a:xfrm>
        </p:grpSpPr>
        <p:sp>
          <p:nvSpPr>
            <p:cNvPr name="Freeform 9" id="9"/>
            <p:cNvSpPr/>
            <p:nvPr/>
          </p:nvSpPr>
          <p:spPr>
            <a:xfrm flipH="false" flipV="false" rot="0">
              <a:off x="0" y="0"/>
              <a:ext cx="4888642" cy="6520802"/>
            </a:xfrm>
            <a:custGeom>
              <a:avLst/>
              <a:gdLst/>
              <a:ahLst/>
              <a:cxnLst/>
              <a:rect r="r" b="b" t="t" l="l"/>
              <a:pathLst>
                <a:path h="6520802" w="4888642">
                  <a:moveTo>
                    <a:pt x="0" y="483022"/>
                  </a:moveTo>
                  <a:cubicBezTo>
                    <a:pt x="0" y="216354"/>
                    <a:pt x="36495" y="0"/>
                    <a:pt x="81477" y="0"/>
                  </a:cubicBezTo>
                  <a:lnTo>
                    <a:pt x="4807164" y="0"/>
                  </a:lnTo>
                  <a:cubicBezTo>
                    <a:pt x="4852146" y="0"/>
                    <a:pt x="4888642" y="216354"/>
                    <a:pt x="4888642" y="483022"/>
                  </a:cubicBezTo>
                  <a:lnTo>
                    <a:pt x="4888642" y="6037780"/>
                  </a:lnTo>
                  <a:cubicBezTo>
                    <a:pt x="4888642" y="6304449"/>
                    <a:pt x="4852146" y="6520802"/>
                    <a:pt x="4807164" y="6520802"/>
                  </a:cubicBezTo>
                  <a:lnTo>
                    <a:pt x="81477" y="6520802"/>
                  </a:lnTo>
                  <a:cubicBezTo>
                    <a:pt x="36495" y="6520802"/>
                    <a:pt x="0" y="6304449"/>
                    <a:pt x="0" y="6037780"/>
                  </a:cubicBezTo>
                  <a:close/>
                </a:path>
              </a:pathLst>
            </a:custGeom>
            <a:solidFill>
              <a:srgbClr val="E8664F"/>
            </a:solidFill>
          </p:spPr>
        </p:sp>
      </p:grpSp>
      <p:grpSp>
        <p:nvGrpSpPr>
          <p:cNvPr name="Group 10" id="10"/>
          <p:cNvGrpSpPr/>
          <p:nvPr/>
        </p:nvGrpSpPr>
        <p:grpSpPr>
          <a:xfrm rot="0">
            <a:off x="1773594" y="2283138"/>
            <a:ext cx="1646173" cy="3006315"/>
            <a:chOff x="0" y="0"/>
            <a:chExt cx="2194897" cy="4008420"/>
          </a:xfrm>
        </p:grpSpPr>
        <p:sp>
          <p:nvSpPr>
            <p:cNvPr name="Freeform 11" id="11"/>
            <p:cNvSpPr/>
            <p:nvPr/>
          </p:nvSpPr>
          <p:spPr>
            <a:xfrm flipH="false" flipV="false" rot="0">
              <a:off x="0" y="0"/>
              <a:ext cx="2194897" cy="4008420"/>
            </a:xfrm>
            <a:custGeom>
              <a:avLst/>
              <a:gdLst/>
              <a:ahLst/>
              <a:cxnLst/>
              <a:rect r="r" b="b" t="t" l="l"/>
              <a:pathLst>
                <a:path h="4008420" w="2194897">
                  <a:moveTo>
                    <a:pt x="0" y="0"/>
                  </a:moveTo>
                  <a:lnTo>
                    <a:pt x="2194897" y="0"/>
                  </a:lnTo>
                  <a:lnTo>
                    <a:pt x="2194897" y="4008420"/>
                  </a:lnTo>
                  <a:lnTo>
                    <a:pt x="0" y="4008420"/>
                  </a:lnTo>
                  <a:close/>
                </a:path>
              </a:pathLst>
            </a:custGeom>
            <a:blipFill>
              <a:blip r:embed="rId2">
                <a:alphaModFix amt="0"/>
              </a:blip>
              <a:stretch>
                <a:fillRect l="0" t="-31312" r="-283274" b="49525"/>
              </a:stretch>
            </a:blipFill>
          </p:spPr>
        </p:sp>
        <p:sp>
          <p:nvSpPr>
            <p:cNvPr name="TextBox 12" id="12"/>
            <p:cNvSpPr txBox="true"/>
            <p:nvPr/>
          </p:nvSpPr>
          <p:spPr>
            <a:xfrm>
              <a:off x="0" y="-19050"/>
              <a:ext cx="2194897" cy="4027470"/>
            </a:xfrm>
            <a:prstGeom prst="rect">
              <a:avLst/>
            </a:prstGeom>
          </p:spPr>
          <p:txBody>
            <a:bodyPr anchor="ctr" rtlCol="false" tIns="0" lIns="0" bIns="0" rIns="0"/>
            <a:lstStyle/>
            <a:p>
              <a:pPr algn="l">
                <a:lnSpc>
                  <a:spcPts val="3719"/>
                </a:lnSpc>
              </a:pPr>
              <a:r>
                <a:rPr lang="en-US" sz="3099" b="true">
                  <a:solidFill>
                    <a:srgbClr val="FFFFFF"/>
                  </a:solidFill>
                  <a:latin typeface="Cambria Bold"/>
                  <a:ea typeface="Cambria Bold"/>
                  <a:cs typeface="Cambria Bold"/>
                  <a:sym typeface="Cambria Bold"/>
                </a:rPr>
                <a:t>Medical</a:t>
              </a:r>
            </a:p>
          </p:txBody>
        </p:sp>
      </p:grpSp>
      <p:grpSp>
        <p:nvGrpSpPr>
          <p:cNvPr name="Group 13" id="13"/>
          <p:cNvGrpSpPr/>
          <p:nvPr/>
        </p:nvGrpSpPr>
        <p:grpSpPr>
          <a:xfrm rot="0">
            <a:off x="1048854" y="4303062"/>
            <a:ext cx="3095654" cy="3456701"/>
            <a:chOff x="0" y="0"/>
            <a:chExt cx="5029200" cy="5615757"/>
          </a:xfrm>
        </p:grpSpPr>
        <p:sp>
          <p:nvSpPr>
            <p:cNvPr name="Freeform 14" id="14"/>
            <p:cNvSpPr/>
            <p:nvPr/>
          </p:nvSpPr>
          <p:spPr>
            <a:xfrm flipH="false" flipV="false" rot="0">
              <a:off x="0" y="0"/>
              <a:ext cx="5029200" cy="5615758"/>
            </a:xfrm>
            <a:custGeom>
              <a:avLst/>
              <a:gdLst/>
              <a:ahLst/>
              <a:cxnLst/>
              <a:rect r="r" b="b" t="t" l="l"/>
              <a:pathLst>
                <a:path h="5615758" w="5029200">
                  <a:moveTo>
                    <a:pt x="0" y="143994"/>
                  </a:moveTo>
                  <a:cubicBezTo>
                    <a:pt x="0" y="64497"/>
                    <a:pt x="81915" y="0"/>
                    <a:pt x="182880" y="0"/>
                  </a:cubicBezTo>
                  <a:lnTo>
                    <a:pt x="4846320" y="0"/>
                  </a:lnTo>
                  <a:cubicBezTo>
                    <a:pt x="4947285" y="0"/>
                    <a:pt x="5029200" y="64497"/>
                    <a:pt x="5029200" y="143994"/>
                  </a:cubicBezTo>
                  <a:lnTo>
                    <a:pt x="5029200" y="5471764"/>
                  </a:lnTo>
                  <a:cubicBezTo>
                    <a:pt x="5029200" y="5551260"/>
                    <a:pt x="4947285" y="5615758"/>
                    <a:pt x="4846320" y="5615758"/>
                  </a:cubicBezTo>
                  <a:lnTo>
                    <a:pt x="182880" y="5615758"/>
                  </a:lnTo>
                  <a:cubicBezTo>
                    <a:pt x="81915" y="5615757"/>
                    <a:pt x="0" y="5551260"/>
                    <a:pt x="0" y="5471764"/>
                  </a:cubicBezTo>
                  <a:close/>
                </a:path>
              </a:pathLst>
            </a:custGeom>
            <a:solidFill>
              <a:srgbClr val="263172"/>
            </a:solidFill>
          </p:spPr>
        </p:sp>
      </p:grpSp>
      <p:grpSp>
        <p:nvGrpSpPr>
          <p:cNvPr name="Group 15" id="15"/>
          <p:cNvGrpSpPr/>
          <p:nvPr/>
        </p:nvGrpSpPr>
        <p:grpSpPr>
          <a:xfrm rot="0">
            <a:off x="1183191" y="4811475"/>
            <a:ext cx="2826980" cy="1671245"/>
            <a:chOff x="0" y="0"/>
            <a:chExt cx="3769306" cy="2228327"/>
          </a:xfrm>
        </p:grpSpPr>
        <p:sp>
          <p:nvSpPr>
            <p:cNvPr name="Freeform 16" id="16"/>
            <p:cNvSpPr/>
            <p:nvPr/>
          </p:nvSpPr>
          <p:spPr>
            <a:xfrm flipH="false" flipV="false" rot="0">
              <a:off x="0" y="0"/>
              <a:ext cx="3769307" cy="2228327"/>
            </a:xfrm>
            <a:custGeom>
              <a:avLst/>
              <a:gdLst/>
              <a:ahLst/>
              <a:cxnLst/>
              <a:rect r="r" b="b" t="t" l="l"/>
              <a:pathLst>
                <a:path h="2228327" w="3769307">
                  <a:moveTo>
                    <a:pt x="0" y="0"/>
                  </a:moveTo>
                  <a:lnTo>
                    <a:pt x="3769307" y="0"/>
                  </a:lnTo>
                  <a:lnTo>
                    <a:pt x="3769307" y="2228327"/>
                  </a:lnTo>
                  <a:lnTo>
                    <a:pt x="0" y="2228327"/>
                  </a:lnTo>
                  <a:close/>
                </a:path>
              </a:pathLst>
            </a:custGeom>
            <a:blipFill>
              <a:blip r:embed="rId2">
                <a:alphaModFix amt="0"/>
              </a:blip>
              <a:stretch>
                <a:fillRect l="0" t="-48939" r="-123183" b="1818"/>
              </a:stretch>
            </a:blipFill>
          </p:spPr>
        </p:sp>
        <p:sp>
          <p:nvSpPr>
            <p:cNvPr name="TextBox 17" id="17"/>
            <p:cNvSpPr txBox="true"/>
            <p:nvPr/>
          </p:nvSpPr>
          <p:spPr>
            <a:xfrm>
              <a:off x="0" y="-57150"/>
              <a:ext cx="3769306" cy="2285477"/>
            </a:xfrm>
            <a:prstGeom prst="rect">
              <a:avLst/>
            </a:prstGeom>
          </p:spPr>
          <p:txBody>
            <a:bodyPr anchor="ctr" rtlCol="false" tIns="0" lIns="0" bIns="0" rIns="0"/>
            <a:lstStyle/>
            <a:p>
              <a:pPr algn="l" marL="545143" indent="-272572" lvl="1">
                <a:lnSpc>
                  <a:spcPts val="3072"/>
                </a:lnSpc>
                <a:buFont typeface="Arial"/>
                <a:buChar char="•"/>
              </a:pPr>
              <a:r>
                <a:rPr lang="en-US" sz="2524">
                  <a:solidFill>
                    <a:srgbClr val="EAEEFB"/>
                  </a:solidFill>
                  <a:latin typeface="Calibri (MS)"/>
                  <a:ea typeface="Calibri (MS)"/>
                  <a:cs typeface="Calibri (MS)"/>
                  <a:sym typeface="Calibri (MS)"/>
                </a:rPr>
                <a:t>MedRAG</a:t>
              </a:r>
            </a:p>
            <a:p>
              <a:pPr algn="l" marL="545143" indent="-272572" lvl="1">
                <a:lnSpc>
                  <a:spcPts val="3072"/>
                </a:lnSpc>
                <a:buFont typeface="Arial"/>
                <a:buChar char="•"/>
              </a:pPr>
              <a:r>
                <a:rPr lang="en-US" sz="2524">
                  <a:solidFill>
                    <a:srgbClr val="EAEEFB"/>
                  </a:solidFill>
                  <a:latin typeface="Calibri (MS)"/>
                  <a:ea typeface="Calibri (MS)"/>
                  <a:cs typeface="Calibri (MS)"/>
                  <a:sym typeface="Calibri (MS)"/>
                </a:rPr>
                <a:t>Mirage</a:t>
              </a:r>
            </a:p>
            <a:p>
              <a:pPr algn="l" marL="545143" indent="-272572" lvl="1">
                <a:lnSpc>
                  <a:spcPts val="3073"/>
                </a:lnSpc>
                <a:buFont typeface="Arial"/>
                <a:buChar char="•"/>
              </a:pPr>
              <a:r>
                <a:rPr lang="en-US" sz="2524">
                  <a:solidFill>
                    <a:srgbClr val="EAEEFB"/>
                  </a:solidFill>
                  <a:latin typeface="Calibri (MS)"/>
                  <a:ea typeface="Calibri (MS)"/>
                  <a:cs typeface="Calibri (MS)"/>
                  <a:sym typeface="Calibri (MS)"/>
                </a:rPr>
                <a:t>pubMedQA</a:t>
              </a:r>
            </a:p>
          </p:txBody>
        </p:sp>
      </p:grpSp>
      <p:grpSp>
        <p:nvGrpSpPr>
          <p:cNvPr name="Group 18" id="18"/>
          <p:cNvGrpSpPr/>
          <p:nvPr/>
        </p:nvGrpSpPr>
        <p:grpSpPr>
          <a:xfrm rot="0">
            <a:off x="17282160" y="9710928"/>
            <a:ext cx="685800" cy="411480"/>
            <a:chOff x="0" y="0"/>
            <a:chExt cx="914400" cy="548640"/>
          </a:xfrm>
        </p:grpSpPr>
        <p:sp>
          <p:nvSpPr>
            <p:cNvPr name="Freeform 19" id="1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20" id="20"/>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E7591"/>
                  </a:solidFill>
                  <a:latin typeface="Calibri (MS)"/>
                  <a:ea typeface="Calibri (MS)"/>
                  <a:cs typeface="Calibri (MS)"/>
                  <a:sym typeface="Calibri (MS)"/>
                </a:rPr>
                <a:t>7</a:t>
              </a:r>
            </a:p>
          </p:txBody>
        </p:sp>
      </p:grpSp>
      <p:grpSp>
        <p:nvGrpSpPr>
          <p:cNvPr name="Group 21" id="21"/>
          <p:cNvGrpSpPr/>
          <p:nvPr/>
        </p:nvGrpSpPr>
        <p:grpSpPr>
          <a:xfrm rot="0">
            <a:off x="5038658" y="3194909"/>
            <a:ext cx="3666481" cy="4890602"/>
            <a:chOff x="0" y="0"/>
            <a:chExt cx="4888642" cy="6520802"/>
          </a:xfrm>
        </p:grpSpPr>
        <p:sp>
          <p:nvSpPr>
            <p:cNvPr name="Freeform 22" id="22"/>
            <p:cNvSpPr/>
            <p:nvPr/>
          </p:nvSpPr>
          <p:spPr>
            <a:xfrm flipH="false" flipV="false" rot="0">
              <a:off x="0" y="0"/>
              <a:ext cx="4888642" cy="6520802"/>
            </a:xfrm>
            <a:custGeom>
              <a:avLst/>
              <a:gdLst/>
              <a:ahLst/>
              <a:cxnLst/>
              <a:rect r="r" b="b" t="t" l="l"/>
              <a:pathLst>
                <a:path h="6520802" w="4888642">
                  <a:moveTo>
                    <a:pt x="0" y="483022"/>
                  </a:moveTo>
                  <a:cubicBezTo>
                    <a:pt x="0" y="216354"/>
                    <a:pt x="36495" y="0"/>
                    <a:pt x="81477" y="0"/>
                  </a:cubicBezTo>
                  <a:lnTo>
                    <a:pt x="4807164" y="0"/>
                  </a:lnTo>
                  <a:cubicBezTo>
                    <a:pt x="4852146" y="0"/>
                    <a:pt x="4888642" y="216354"/>
                    <a:pt x="4888642" y="483022"/>
                  </a:cubicBezTo>
                  <a:lnTo>
                    <a:pt x="4888642" y="6037780"/>
                  </a:lnTo>
                  <a:cubicBezTo>
                    <a:pt x="4888642" y="6304449"/>
                    <a:pt x="4852146" y="6520802"/>
                    <a:pt x="4807164" y="6520802"/>
                  </a:cubicBezTo>
                  <a:lnTo>
                    <a:pt x="81477" y="6520802"/>
                  </a:lnTo>
                  <a:cubicBezTo>
                    <a:pt x="36495" y="6520802"/>
                    <a:pt x="0" y="6304449"/>
                    <a:pt x="0" y="6037780"/>
                  </a:cubicBezTo>
                  <a:close/>
                </a:path>
              </a:pathLst>
            </a:custGeom>
            <a:solidFill>
              <a:srgbClr val="E8664F"/>
            </a:solidFill>
          </p:spPr>
        </p:sp>
      </p:grpSp>
      <p:grpSp>
        <p:nvGrpSpPr>
          <p:cNvPr name="Group 23" id="23"/>
          <p:cNvGrpSpPr/>
          <p:nvPr/>
        </p:nvGrpSpPr>
        <p:grpSpPr>
          <a:xfrm rot="0">
            <a:off x="6446520" y="2283138"/>
            <a:ext cx="1646173" cy="3006315"/>
            <a:chOff x="0" y="0"/>
            <a:chExt cx="2194897" cy="4008420"/>
          </a:xfrm>
        </p:grpSpPr>
        <p:sp>
          <p:nvSpPr>
            <p:cNvPr name="Freeform 24" id="24"/>
            <p:cNvSpPr/>
            <p:nvPr/>
          </p:nvSpPr>
          <p:spPr>
            <a:xfrm flipH="false" flipV="false" rot="0">
              <a:off x="0" y="0"/>
              <a:ext cx="2194897" cy="4008420"/>
            </a:xfrm>
            <a:custGeom>
              <a:avLst/>
              <a:gdLst/>
              <a:ahLst/>
              <a:cxnLst/>
              <a:rect r="r" b="b" t="t" l="l"/>
              <a:pathLst>
                <a:path h="4008420" w="2194897">
                  <a:moveTo>
                    <a:pt x="0" y="0"/>
                  </a:moveTo>
                  <a:lnTo>
                    <a:pt x="2194897" y="0"/>
                  </a:lnTo>
                  <a:lnTo>
                    <a:pt x="2194897" y="4008420"/>
                  </a:lnTo>
                  <a:lnTo>
                    <a:pt x="0" y="4008420"/>
                  </a:lnTo>
                  <a:close/>
                </a:path>
              </a:pathLst>
            </a:custGeom>
            <a:blipFill>
              <a:blip r:embed="rId2">
                <a:alphaModFix amt="0"/>
              </a:blip>
              <a:stretch>
                <a:fillRect l="0" t="-31312" r="-283274" b="49525"/>
              </a:stretch>
            </a:blipFill>
          </p:spPr>
        </p:sp>
        <p:sp>
          <p:nvSpPr>
            <p:cNvPr name="TextBox 25" id="25"/>
            <p:cNvSpPr txBox="true"/>
            <p:nvPr/>
          </p:nvSpPr>
          <p:spPr>
            <a:xfrm>
              <a:off x="0" y="-19050"/>
              <a:ext cx="2194897" cy="4027470"/>
            </a:xfrm>
            <a:prstGeom prst="rect">
              <a:avLst/>
            </a:prstGeom>
          </p:spPr>
          <p:txBody>
            <a:bodyPr anchor="ctr" rtlCol="false" tIns="0" lIns="0" bIns="0" rIns="0"/>
            <a:lstStyle/>
            <a:p>
              <a:pPr algn="l">
                <a:lnSpc>
                  <a:spcPts val="3719"/>
                </a:lnSpc>
              </a:pPr>
              <a:r>
                <a:rPr lang="en-US" sz="3099" b="true">
                  <a:solidFill>
                    <a:srgbClr val="FFFFFF"/>
                  </a:solidFill>
                  <a:latin typeface="Cambria Bold"/>
                  <a:ea typeface="Cambria Bold"/>
                  <a:cs typeface="Cambria Bold"/>
                  <a:sym typeface="Cambria Bold"/>
                </a:rPr>
                <a:t>Law</a:t>
              </a:r>
            </a:p>
          </p:txBody>
        </p:sp>
      </p:grpSp>
      <p:grpSp>
        <p:nvGrpSpPr>
          <p:cNvPr name="Group 26" id="26"/>
          <p:cNvGrpSpPr/>
          <p:nvPr/>
        </p:nvGrpSpPr>
        <p:grpSpPr>
          <a:xfrm rot="0">
            <a:off x="5324072" y="4303062"/>
            <a:ext cx="3095654" cy="3456701"/>
            <a:chOff x="0" y="0"/>
            <a:chExt cx="5029200" cy="5615757"/>
          </a:xfrm>
        </p:grpSpPr>
        <p:sp>
          <p:nvSpPr>
            <p:cNvPr name="Freeform 27" id="27"/>
            <p:cNvSpPr/>
            <p:nvPr/>
          </p:nvSpPr>
          <p:spPr>
            <a:xfrm flipH="false" flipV="false" rot="0">
              <a:off x="0" y="0"/>
              <a:ext cx="5029200" cy="5615758"/>
            </a:xfrm>
            <a:custGeom>
              <a:avLst/>
              <a:gdLst/>
              <a:ahLst/>
              <a:cxnLst/>
              <a:rect r="r" b="b" t="t" l="l"/>
              <a:pathLst>
                <a:path h="5615758" w="5029200">
                  <a:moveTo>
                    <a:pt x="0" y="143994"/>
                  </a:moveTo>
                  <a:cubicBezTo>
                    <a:pt x="0" y="64497"/>
                    <a:pt x="81915" y="0"/>
                    <a:pt x="182880" y="0"/>
                  </a:cubicBezTo>
                  <a:lnTo>
                    <a:pt x="4846320" y="0"/>
                  </a:lnTo>
                  <a:cubicBezTo>
                    <a:pt x="4947285" y="0"/>
                    <a:pt x="5029200" y="64497"/>
                    <a:pt x="5029200" y="143994"/>
                  </a:cubicBezTo>
                  <a:lnTo>
                    <a:pt x="5029200" y="5471764"/>
                  </a:lnTo>
                  <a:cubicBezTo>
                    <a:pt x="5029200" y="5551260"/>
                    <a:pt x="4947285" y="5615758"/>
                    <a:pt x="4846320" y="5615758"/>
                  </a:cubicBezTo>
                  <a:lnTo>
                    <a:pt x="182880" y="5615758"/>
                  </a:lnTo>
                  <a:cubicBezTo>
                    <a:pt x="81915" y="5615757"/>
                    <a:pt x="0" y="5551260"/>
                    <a:pt x="0" y="5471764"/>
                  </a:cubicBezTo>
                  <a:close/>
                </a:path>
              </a:pathLst>
            </a:custGeom>
            <a:solidFill>
              <a:srgbClr val="263172"/>
            </a:solidFill>
          </p:spPr>
        </p:sp>
      </p:grpSp>
      <p:grpSp>
        <p:nvGrpSpPr>
          <p:cNvPr name="Group 28" id="28"/>
          <p:cNvGrpSpPr/>
          <p:nvPr/>
        </p:nvGrpSpPr>
        <p:grpSpPr>
          <a:xfrm rot="0">
            <a:off x="5324072" y="4811475"/>
            <a:ext cx="2826980" cy="1671245"/>
            <a:chOff x="0" y="0"/>
            <a:chExt cx="3769306" cy="2228327"/>
          </a:xfrm>
        </p:grpSpPr>
        <p:sp>
          <p:nvSpPr>
            <p:cNvPr name="Freeform 29" id="29"/>
            <p:cNvSpPr/>
            <p:nvPr/>
          </p:nvSpPr>
          <p:spPr>
            <a:xfrm flipH="false" flipV="false" rot="0">
              <a:off x="0" y="0"/>
              <a:ext cx="3769307" cy="2228327"/>
            </a:xfrm>
            <a:custGeom>
              <a:avLst/>
              <a:gdLst/>
              <a:ahLst/>
              <a:cxnLst/>
              <a:rect r="r" b="b" t="t" l="l"/>
              <a:pathLst>
                <a:path h="2228327" w="3769307">
                  <a:moveTo>
                    <a:pt x="0" y="0"/>
                  </a:moveTo>
                  <a:lnTo>
                    <a:pt x="3769307" y="0"/>
                  </a:lnTo>
                  <a:lnTo>
                    <a:pt x="3769307" y="2228327"/>
                  </a:lnTo>
                  <a:lnTo>
                    <a:pt x="0" y="2228327"/>
                  </a:lnTo>
                  <a:close/>
                </a:path>
              </a:pathLst>
            </a:custGeom>
            <a:blipFill>
              <a:blip r:embed="rId2">
                <a:alphaModFix amt="0"/>
              </a:blip>
              <a:stretch>
                <a:fillRect l="0" t="-48939" r="-123183" b="1818"/>
              </a:stretch>
            </a:blipFill>
          </p:spPr>
        </p:sp>
        <p:sp>
          <p:nvSpPr>
            <p:cNvPr name="TextBox 30" id="30"/>
            <p:cNvSpPr txBox="true"/>
            <p:nvPr/>
          </p:nvSpPr>
          <p:spPr>
            <a:xfrm>
              <a:off x="0" y="-57150"/>
              <a:ext cx="3769306" cy="2285477"/>
            </a:xfrm>
            <a:prstGeom prst="rect">
              <a:avLst/>
            </a:prstGeom>
          </p:spPr>
          <p:txBody>
            <a:bodyPr anchor="ctr" rtlCol="false" tIns="0" lIns="0" bIns="0" rIns="0"/>
            <a:lstStyle/>
            <a:p>
              <a:pPr algn="l" marL="545143" indent="-272572" lvl="1">
                <a:lnSpc>
                  <a:spcPts val="3072"/>
                </a:lnSpc>
                <a:buFont typeface="Arial"/>
                <a:buChar char="•"/>
              </a:pPr>
              <a:r>
                <a:rPr lang="en-US" sz="2524">
                  <a:solidFill>
                    <a:srgbClr val="EAEEFB"/>
                  </a:solidFill>
                  <a:latin typeface="Calibri (MS)"/>
                  <a:ea typeface="Calibri (MS)"/>
                  <a:cs typeface="Calibri (MS)"/>
                  <a:sym typeface="Calibri (MS)"/>
                </a:rPr>
                <a:t>Legalbench-RAG</a:t>
              </a:r>
            </a:p>
            <a:p>
              <a:pPr algn="l" marL="545143" indent="-272572" lvl="1">
                <a:lnSpc>
                  <a:spcPts val="3072"/>
                </a:lnSpc>
                <a:buFont typeface="Arial"/>
                <a:buChar char="•"/>
              </a:pPr>
              <a:r>
                <a:rPr lang="en-US" sz="2524">
                  <a:solidFill>
                    <a:srgbClr val="EAEEFB"/>
                  </a:solidFill>
                  <a:latin typeface="Calibri (MS)"/>
                  <a:ea typeface="Calibri (MS)"/>
                  <a:cs typeface="Calibri (MS)"/>
                  <a:sym typeface="Calibri (MS)"/>
                </a:rPr>
                <a:t>SC Judgements</a:t>
              </a:r>
            </a:p>
            <a:p>
              <a:pPr algn="l" marL="545143" indent="-272572" lvl="1">
                <a:lnSpc>
                  <a:spcPts val="3073"/>
                </a:lnSpc>
                <a:buFont typeface="Arial"/>
                <a:buChar char="•"/>
              </a:pPr>
              <a:r>
                <a:rPr lang="en-US" sz="2524">
                  <a:solidFill>
                    <a:srgbClr val="EAEEFB"/>
                  </a:solidFill>
                  <a:latin typeface="Calibri (MS)"/>
                  <a:ea typeface="Calibri (MS)"/>
                  <a:cs typeface="Calibri (MS)"/>
                  <a:sym typeface="Calibri (MS)"/>
                </a:rPr>
                <a:t>Legal RAG bench</a:t>
              </a:r>
            </a:p>
          </p:txBody>
        </p:sp>
      </p:grpSp>
      <p:grpSp>
        <p:nvGrpSpPr>
          <p:cNvPr name="Group 31" id="31"/>
          <p:cNvGrpSpPr/>
          <p:nvPr/>
        </p:nvGrpSpPr>
        <p:grpSpPr>
          <a:xfrm rot="0">
            <a:off x="9144000" y="3194909"/>
            <a:ext cx="3666481" cy="4890602"/>
            <a:chOff x="0" y="0"/>
            <a:chExt cx="4888642" cy="6520802"/>
          </a:xfrm>
        </p:grpSpPr>
        <p:sp>
          <p:nvSpPr>
            <p:cNvPr name="Freeform 32" id="32"/>
            <p:cNvSpPr/>
            <p:nvPr/>
          </p:nvSpPr>
          <p:spPr>
            <a:xfrm flipH="false" flipV="false" rot="0">
              <a:off x="0" y="0"/>
              <a:ext cx="4888642" cy="6520802"/>
            </a:xfrm>
            <a:custGeom>
              <a:avLst/>
              <a:gdLst/>
              <a:ahLst/>
              <a:cxnLst/>
              <a:rect r="r" b="b" t="t" l="l"/>
              <a:pathLst>
                <a:path h="6520802" w="4888642">
                  <a:moveTo>
                    <a:pt x="0" y="483022"/>
                  </a:moveTo>
                  <a:cubicBezTo>
                    <a:pt x="0" y="216354"/>
                    <a:pt x="36495" y="0"/>
                    <a:pt x="81477" y="0"/>
                  </a:cubicBezTo>
                  <a:lnTo>
                    <a:pt x="4807164" y="0"/>
                  </a:lnTo>
                  <a:cubicBezTo>
                    <a:pt x="4852146" y="0"/>
                    <a:pt x="4888642" y="216354"/>
                    <a:pt x="4888642" y="483022"/>
                  </a:cubicBezTo>
                  <a:lnTo>
                    <a:pt x="4888642" y="6037780"/>
                  </a:lnTo>
                  <a:cubicBezTo>
                    <a:pt x="4888642" y="6304449"/>
                    <a:pt x="4852146" y="6520802"/>
                    <a:pt x="4807164" y="6520802"/>
                  </a:cubicBezTo>
                  <a:lnTo>
                    <a:pt x="81477" y="6520802"/>
                  </a:lnTo>
                  <a:cubicBezTo>
                    <a:pt x="36495" y="6520802"/>
                    <a:pt x="0" y="6304449"/>
                    <a:pt x="0" y="6037780"/>
                  </a:cubicBezTo>
                  <a:close/>
                </a:path>
              </a:pathLst>
            </a:custGeom>
            <a:solidFill>
              <a:srgbClr val="E8664F"/>
            </a:solidFill>
          </p:spPr>
        </p:sp>
      </p:grpSp>
      <p:grpSp>
        <p:nvGrpSpPr>
          <p:cNvPr name="Group 33" id="33"/>
          <p:cNvGrpSpPr/>
          <p:nvPr/>
        </p:nvGrpSpPr>
        <p:grpSpPr>
          <a:xfrm rot="0">
            <a:off x="10019589" y="2283138"/>
            <a:ext cx="2258619" cy="3006315"/>
            <a:chOff x="0" y="0"/>
            <a:chExt cx="3011492" cy="4008420"/>
          </a:xfrm>
        </p:grpSpPr>
        <p:sp>
          <p:nvSpPr>
            <p:cNvPr name="Freeform 34" id="34"/>
            <p:cNvSpPr/>
            <p:nvPr/>
          </p:nvSpPr>
          <p:spPr>
            <a:xfrm flipH="false" flipV="false" rot="0">
              <a:off x="0" y="0"/>
              <a:ext cx="3011493" cy="4008420"/>
            </a:xfrm>
            <a:custGeom>
              <a:avLst/>
              <a:gdLst/>
              <a:ahLst/>
              <a:cxnLst/>
              <a:rect r="r" b="b" t="t" l="l"/>
              <a:pathLst>
                <a:path h="4008420" w="3011493">
                  <a:moveTo>
                    <a:pt x="0" y="0"/>
                  </a:moveTo>
                  <a:lnTo>
                    <a:pt x="3011493" y="0"/>
                  </a:lnTo>
                  <a:lnTo>
                    <a:pt x="3011493" y="4008420"/>
                  </a:lnTo>
                  <a:lnTo>
                    <a:pt x="0" y="4008420"/>
                  </a:lnTo>
                  <a:close/>
                </a:path>
              </a:pathLst>
            </a:custGeom>
            <a:blipFill>
              <a:blip r:embed="rId2">
                <a:alphaModFix amt="0"/>
              </a:blip>
              <a:stretch>
                <a:fillRect l="0" t="-31312" r="-179345" b="49525"/>
              </a:stretch>
            </a:blipFill>
          </p:spPr>
        </p:sp>
        <p:sp>
          <p:nvSpPr>
            <p:cNvPr name="TextBox 35" id="35"/>
            <p:cNvSpPr txBox="true"/>
            <p:nvPr/>
          </p:nvSpPr>
          <p:spPr>
            <a:xfrm>
              <a:off x="0" y="-19050"/>
              <a:ext cx="3011492" cy="4027470"/>
            </a:xfrm>
            <a:prstGeom prst="rect">
              <a:avLst/>
            </a:prstGeom>
          </p:spPr>
          <p:txBody>
            <a:bodyPr anchor="ctr" rtlCol="false" tIns="0" lIns="0" bIns="0" rIns="0"/>
            <a:lstStyle/>
            <a:p>
              <a:pPr algn="l">
                <a:lnSpc>
                  <a:spcPts val="3719"/>
                </a:lnSpc>
              </a:pPr>
              <a:r>
                <a:rPr lang="en-US" sz="3099" b="true">
                  <a:solidFill>
                    <a:srgbClr val="FFFFFF"/>
                  </a:solidFill>
                  <a:latin typeface="Cambria Bold"/>
                  <a:ea typeface="Cambria Bold"/>
                  <a:cs typeface="Cambria Bold"/>
                  <a:sym typeface="Cambria Bold"/>
                </a:rPr>
                <a:t>Corporate</a:t>
              </a:r>
            </a:p>
          </p:txBody>
        </p:sp>
      </p:grpSp>
      <p:grpSp>
        <p:nvGrpSpPr>
          <p:cNvPr name="Group 36" id="36"/>
          <p:cNvGrpSpPr/>
          <p:nvPr/>
        </p:nvGrpSpPr>
        <p:grpSpPr>
          <a:xfrm rot="0">
            <a:off x="9429414" y="4303062"/>
            <a:ext cx="3095654" cy="3456701"/>
            <a:chOff x="0" y="0"/>
            <a:chExt cx="5029200" cy="5615757"/>
          </a:xfrm>
        </p:grpSpPr>
        <p:sp>
          <p:nvSpPr>
            <p:cNvPr name="Freeform 37" id="37"/>
            <p:cNvSpPr/>
            <p:nvPr/>
          </p:nvSpPr>
          <p:spPr>
            <a:xfrm flipH="false" flipV="false" rot="0">
              <a:off x="0" y="0"/>
              <a:ext cx="5029200" cy="5615758"/>
            </a:xfrm>
            <a:custGeom>
              <a:avLst/>
              <a:gdLst/>
              <a:ahLst/>
              <a:cxnLst/>
              <a:rect r="r" b="b" t="t" l="l"/>
              <a:pathLst>
                <a:path h="5615758" w="5029200">
                  <a:moveTo>
                    <a:pt x="0" y="143994"/>
                  </a:moveTo>
                  <a:cubicBezTo>
                    <a:pt x="0" y="64497"/>
                    <a:pt x="81915" y="0"/>
                    <a:pt x="182880" y="0"/>
                  </a:cubicBezTo>
                  <a:lnTo>
                    <a:pt x="4846320" y="0"/>
                  </a:lnTo>
                  <a:cubicBezTo>
                    <a:pt x="4947285" y="0"/>
                    <a:pt x="5029200" y="64497"/>
                    <a:pt x="5029200" y="143994"/>
                  </a:cubicBezTo>
                  <a:lnTo>
                    <a:pt x="5029200" y="5471764"/>
                  </a:lnTo>
                  <a:cubicBezTo>
                    <a:pt x="5029200" y="5551260"/>
                    <a:pt x="4947285" y="5615758"/>
                    <a:pt x="4846320" y="5615758"/>
                  </a:cubicBezTo>
                  <a:lnTo>
                    <a:pt x="182880" y="5615758"/>
                  </a:lnTo>
                  <a:cubicBezTo>
                    <a:pt x="81915" y="5615757"/>
                    <a:pt x="0" y="5551260"/>
                    <a:pt x="0" y="5471764"/>
                  </a:cubicBezTo>
                  <a:close/>
                </a:path>
              </a:pathLst>
            </a:custGeom>
            <a:solidFill>
              <a:srgbClr val="263172"/>
            </a:solidFill>
          </p:spPr>
        </p:sp>
      </p:grpSp>
      <p:grpSp>
        <p:nvGrpSpPr>
          <p:cNvPr name="Group 38" id="38"/>
          <p:cNvGrpSpPr/>
          <p:nvPr/>
        </p:nvGrpSpPr>
        <p:grpSpPr>
          <a:xfrm rot="0">
            <a:off x="9429414" y="4811475"/>
            <a:ext cx="2826980" cy="2680376"/>
            <a:chOff x="0" y="0"/>
            <a:chExt cx="3769306" cy="3573835"/>
          </a:xfrm>
        </p:grpSpPr>
        <p:sp>
          <p:nvSpPr>
            <p:cNvPr name="Freeform 39" id="39"/>
            <p:cNvSpPr/>
            <p:nvPr/>
          </p:nvSpPr>
          <p:spPr>
            <a:xfrm flipH="false" flipV="false" rot="0">
              <a:off x="0" y="0"/>
              <a:ext cx="3769307" cy="3573835"/>
            </a:xfrm>
            <a:custGeom>
              <a:avLst/>
              <a:gdLst/>
              <a:ahLst/>
              <a:cxnLst/>
              <a:rect r="r" b="b" t="t" l="l"/>
              <a:pathLst>
                <a:path h="3573835" w="3769307">
                  <a:moveTo>
                    <a:pt x="0" y="0"/>
                  </a:moveTo>
                  <a:lnTo>
                    <a:pt x="3769307" y="0"/>
                  </a:lnTo>
                  <a:lnTo>
                    <a:pt x="3769307" y="3573835"/>
                  </a:lnTo>
                  <a:lnTo>
                    <a:pt x="0" y="3573835"/>
                  </a:lnTo>
                  <a:close/>
                </a:path>
              </a:pathLst>
            </a:custGeom>
            <a:blipFill>
              <a:blip r:embed="rId2">
                <a:alphaModFix amt="0"/>
              </a:blip>
              <a:stretch>
                <a:fillRect l="0" t="-30514" r="-123183" b="38782"/>
              </a:stretch>
            </a:blipFill>
          </p:spPr>
        </p:sp>
        <p:sp>
          <p:nvSpPr>
            <p:cNvPr name="TextBox 40" id="40"/>
            <p:cNvSpPr txBox="true"/>
            <p:nvPr/>
          </p:nvSpPr>
          <p:spPr>
            <a:xfrm>
              <a:off x="0" y="-57150"/>
              <a:ext cx="3769306" cy="3630985"/>
            </a:xfrm>
            <a:prstGeom prst="rect">
              <a:avLst/>
            </a:prstGeom>
          </p:spPr>
          <p:txBody>
            <a:bodyPr anchor="ctr" rtlCol="false" tIns="0" lIns="0" bIns="0" rIns="0"/>
            <a:lstStyle/>
            <a:p>
              <a:pPr algn="l" marL="545143" indent="-272572" lvl="1">
                <a:lnSpc>
                  <a:spcPts val="3072"/>
                </a:lnSpc>
                <a:buFont typeface="Arial"/>
                <a:buChar char="•"/>
              </a:pPr>
              <a:r>
                <a:rPr lang="en-US" sz="2524">
                  <a:solidFill>
                    <a:srgbClr val="EAEEFB"/>
                  </a:solidFill>
                  <a:latin typeface="Calibri (MS)"/>
                  <a:ea typeface="Calibri (MS)"/>
                  <a:cs typeface="Calibri (MS)"/>
                  <a:sym typeface="Calibri (MS)"/>
                </a:rPr>
                <a:t>EnterpriceRAG bench</a:t>
              </a:r>
            </a:p>
            <a:p>
              <a:pPr algn="l" marL="545143" indent="-272572" lvl="1">
                <a:lnSpc>
                  <a:spcPts val="3072"/>
                </a:lnSpc>
                <a:buFont typeface="Arial"/>
                <a:buChar char="•"/>
              </a:pPr>
              <a:r>
                <a:rPr lang="en-US" sz="2524">
                  <a:solidFill>
                    <a:srgbClr val="EAEEFB"/>
                  </a:solidFill>
                  <a:latin typeface="Calibri (MS)"/>
                  <a:ea typeface="Calibri (MS)"/>
                  <a:cs typeface="Calibri (MS)"/>
                  <a:sym typeface="Calibri (MS)"/>
                </a:rPr>
                <a:t>RAG multi corpus</a:t>
              </a:r>
            </a:p>
            <a:p>
              <a:pPr algn="l" marL="545143" indent="-272572" lvl="1">
                <a:lnSpc>
                  <a:spcPts val="3073"/>
                </a:lnSpc>
                <a:buFont typeface="Arial"/>
                <a:buChar char="•"/>
              </a:pPr>
              <a:r>
                <a:rPr lang="en-US" sz="2524">
                  <a:solidFill>
                    <a:srgbClr val="EAEEFB"/>
                  </a:solidFill>
                  <a:latin typeface="Calibri (MS)"/>
                  <a:ea typeface="Calibri (MS)"/>
                  <a:cs typeface="Calibri (MS)"/>
                  <a:sym typeface="Calibri (MS)"/>
                </a:rPr>
                <a:t>Hugging face datasets</a:t>
              </a:r>
            </a:p>
          </p:txBody>
        </p:sp>
      </p:grpSp>
      <p:grpSp>
        <p:nvGrpSpPr>
          <p:cNvPr name="Group 41" id="41"/>
          <p:cNvGrpSpPr/>
          <p:nvPr/>
        </p:nvGrpSpPr>
        <p:grpSpPr>
          <a:xfrm rot="0">
            <a:off x="13420081" y="3194909"/>
            <a:ext cx="3666481" cy="4890602"/>
            <a:chOff x="0" y="0"/>
            <a:chExt cx="4888642" cy="6520802"/>
          </a:xfrm>
        </p:grpSpPr>
        <p:sp>
          <p:nvSpPr>
            <p:cNvPr name="Freeform 42" id="42"/>
            <p:cNvSpPr/>
            <p:nvPr/>
          </p:nvSpPr>
          <p:spPr>
            <a:xfrm flipH="false" flipV="false" rot="0">
              <a:off x="0" y="0"/>
              <a:ext cx="4888642" cy="6520802"/>
            </a:xfrm>
            <a:custGeom>
              <a:avLst/>
              <a:gdLst/>
              <a:ahLst/>
              <a:cxnLst/>
              <a:rect r="r" b="b" t="t" l="l"/>
              <a:pathLst>
                <a:path h="6520802" w="4888642">
                  <a:moveTo>
                    <a:pt x="0" y="483022"/>
                  </a:moveTo>
                  <a:cubicBezTo>
                    <a:pt x="0" y="216354"/>
                    <a:pt x="36495" y="0"/>
                    <a:pt x="81477" y="0"/>
                  </a:cubicBezTo>
                  <a:lnTo>
                    <a:pt x="4807164" y="0"/>
                  </a:lnTo>
                  <a:cubicBezTo>
                    <a:pt x="4852146" y="0"/>
                    <a:pt x="4888642" y="216354"/>
                    <a:pt x="4888642" y="483022"/>
                  </a:cubicBezTo>
                  <a:lnTo>
                    <a:pt x="4888642" y="6037780"/>
                  </a:lnTo>
                  <a:cubicBezTo>
                    <a:pt x="4888642" y="6304449"/>
                    <a:pt x="4852146" y="6520802"/>
                    <a:pt x="4807164" y="6520802"/>
                  </a:cubicBezTo>
                  <a:lnTo>
                    <a:pt x="81477" y="6520802"/>
                  </a:lnTo>
                  <a:cubicBezTo>
                    <a:pt x="36495" y="6520802"/>
                    <a:pt x="0" y="6304449"/>
                    <a:pt x="0" y="6037780"/>
                  </a:cubicBezTo>
                  <a:close/>
                </a:path>
              </a:pathLst>
            </a:custGeom>
            <a:solidFill>
              <a:srgbClr val="E8664F"/>
            </a:solidFill>
          </p:spPr>
        </p:sp>
      </p:grpSp>
      <p:grpSp>
        <p:nvGrpSpPr>
          <p:cNvPr name="Group 43" id="43"/>
          <p:cNvGrpSpPr/>
          <p:nvPr/>
        </p:nvGrpSpPr>
        <p:grpSpPr>
          <a:xfrm rot="0">
            <a:off x="14430235" y="2283138"/>
            <a:ext cx="1646173" cy="3006315"/>
            <a:chOff x="0" y="0"/>
            <a:chExt cx="2194897" cy="4008420"/>
          </a:xfrm>
        </p:grpSpPr>
        <p:sp>
          <p:nvSpPr>
            <p:cNvPr name="Freeform 44" id="44"/>
            <p:cNvSpPr/>
            <p:nvPr/>
          </p:nvSpPr>
          <p:spPr>
            <a:xfrm flipH="false" flipV="false" rot="0">
              <a:off x="0" y="0"/>
              <a:ext cx="2194897" cy="4008420"/>
            </a:xfrm>
            <a:custGeom>
              <a:avLst/>
              <a:gdLst/>
              <a:ahLst/>
              <a:cxnLst/>
              <a:rect r="r" b="b" t="t" l="l"/>
              <a:pathLst>
                <a:path h="4008420" w="2194897">
                  <a:moveTo>
                    <a:pt x="0" y="0"/>
                  </a:moveTo>
                  <a:lnTo>
                    <a:pt x="2194897" y="0"/>
                  </a:lnTo>
                  <a:lnTo>
                    <a:pt x="2194897" y="4008420"/>
                  </a:lnTo>
                  <a:lnTo>
                    <a:pt x="0" y="4008420"/>
                  </a:lnTo>
                  <a:close/>
                </a:path>
              </a:pathLst>
            </a:custGeom>
            <a:blipFill>
              <a:blip r:embed="rId2">
                <a:alphaModFix amt="0"/>
              </a:blip>
              <a:stretch>
                <a:fillRect l="0" t="-31312" r="-283274" b="49525"/>
              </a:stretch>
            </a:blipFill>
          </p:spPr>
        </p:sp>
        <p:sp>
          <p:nvSpPr>
            <p:cNvPr name="TextBox 45" id="45"/>
            <p:cNvSpPr txBox="true"/>
            <p:nvPr/>
          </p:nvSpPr>
          <p:spPr>
            <a:xfrm>
              <a:off x="0" y="-19050"/>
              <a:ext cx="2194897" cy="4027470"/>
            </a:xfrm>
            <a:prstGeom prst="rect">
              <a:avLst/>
            </a:prstGeom>
          </p:spPr>
          <p:txBody>
            <a:bodyPr anchor="ctr" rtlCol="false" tIns="0" lIns="0" bIns="0" rIns="0"/>
            <a:lstStyle/>
            <a:p>
              <a:pPr algn="l">
                <a:lnSpc>
                  <a:spcPts val="3719"/>
                </a:lnSpc>
              </a:pPr>
              <a:r>
                <a:rPr lang="en-US" sz="3099" b="true">
                  <a:solidFill>
                    <a:srgbClr val="FFFFFF"/>
                  </a:solidFill>
                  <a:latin typeface="Cambria Bold"/>
                  <a:ea typeface="Cambria Bold"/>
                  <a:cs typeface="Cambria Bold"/>
                  <a:sym typeface="Cambria Bold"/>
                </a:rPr>
                <a:t>Science</a:t>
              </a:r>
            </a:p>
          </p:txBody>
        </p:sp>
      </p:grpSp>
      <p:grpSp>
        <p:nvGrpSpPr>
          <p:cNvPr name="Group 46" id="46"/>
          <p:cNvGrpSpPr/>
          <p:nvPr/>
        </p:nvGrpSpPr>
        <p:grpSpPr>
          <a:xfrm rot="0">
            <a:off x="13705495" y="4303062"/>
            <a:ext cx="3095654" cy="3456701"/>
            <a:chOff x="0" y="0"/>
            <a:chExt cx="5029200" cy="5615757"/>
          </a:xfrm>
        </p:grpSpPr>
        <p:sp>
          <p:nvSpPr>
            <p:cNvPr name="Freeform 47" id="47"/>
            <p:cNvSpPr/>
            <p:nvPr/>
          </p:nvSpPr>
          <p:spPr>
            <a:xfrm flipH="false" flipV="false" rot="0">
              <a:off x="0" y="0"/>
              <a:ext cx="5029200" cy="5615758"/>
            </a:xfrm>
            <a:custGeom>
              <a:avLst/>
              <a:gdLst/>
              <a:ahLst/>
              <a:cxnLst/>
              <a:rect r="r" b="b" t="t" l="l"/>
              <a:pathLst>
                <a:path h="5615758" w="5029200">
                  <a:moveTo>
                    <a:pt x="0" y="143994"/>
                  </a:moveTo>
                  <a:cubicBezTo>
                    <a:pt x="0" y="64497"/>
                    <a:pt x="81915" y="0"/>
                    <a:pt x="182880" y="0"/>
                  </a:cubicBezTo>
                  <a:lnTo>
                    <a:pt x="4846320" y="0"/>
                  </a:lnTo>
                  <a:cubicBezTo>
                    <a:pt x="4947285" y="0"/>
                    <a:pt x="5029200" y="64497"/>
                    <a:pt x="5029200" y="143994"/>
                  </a:cubicBezTo>
                  <a:lnTo>
                    <a:pt x="5029200" y="5471764"/>
                  </a:lnTo>
                  <a:cubicBezTo>
                    <a:pt x="5029200" y="5551260"/>
                    <a:pt x="4947285" y="5615758"/>
                    <a:pt x="4846320" y="5615758"/>
                  </a:cubicBezTo>
                  <a:lnTo>
                    <a:pt x="182880" y="5615758"/>
                  </a:lnTo>
                  <a:cubicBezTo>
                    <a:pt x="81915" y="5615757"/>
                    <a:pt x="0" y="5551260"/>
                    <a:pt x="0" y="5471764"/>
                  </a:cubicBezTo>
                  <a:close/>
                </a:path>
              </a:pathLst>
            </a:custGeom>
            <a:solidFill>
              <a:srgbClr val="263172"/>
            </a:solidFill>
          </p:spPr>
        </p:sp>
      </p:grpSp>
      <p:grpSp>
        <p:nvGrpSpPr>
          <p:cNvPr name="Group 48" id="48"/>
          <p:cNvGrpSpPr/>
          <p:nvPr/>
        </p:nvGrpSpPr>
        <p:grpSpPr>
          <a:xfrm rot="0">
            <a:off x="13705495" y="4811475"/>
            <a:ext cx="2826980" cy="1671245"/>
            <a:chOff x="0" y="0"/>
            <a:chExt cx="3769306" cy="2228327"/>
          </a:xfrm>
        </p:grpSpPr>
        <p:sp>
          <p:nvSpPr>
            <p:cNvPr name="Freeform 49" id="49"/>
            <p:cNvSpPr/>
            <p:nvPr/>
          </p:nvSpPr>
          <p:spPr>
            <a:xfrm flipH="false" flipV="false" rot="0">
              <a:off x="0" y="0"/>
              <a:ext cx="3769307" cy="2228327"/>
            </a:xfrm>
            <a:custGeom>
              <a:avLst/>
              <a:gdLst/>
              <a:ahLst/>
              <a:cxnLst/>
              <a:rect r="r" b="b" t="t" l="l"/>
              <a:pathLst>
                <a:path h="2228327" w="3769307">
                  <a:moveTo>
                    <a:pt x="0" y="0"/>
                  </a:moveTo>
                  <a:lnTo>
                    <a:pt x="3769307" y="0"/>
                  </a:lnTo>
                  <a:lnTo>
                    <a:pt x="3769307" y="2228327"/>
                  </a:lnTo>
                  <a:lnTo>
                    <a:pt x="0" y="2228327"/>
                  </a:lnTo>
                  <a:close/>
                </a:path>
              </a:pathLst>
            </a:custGeom>
            <a:blipFill>
              <a:blip r:embed="rId2">
                <a:alphaModFix amt="0"/>
              </a:blip>
              <a:stretch>
                <a:fillRect l="0" t="-48939" r="-123183" b="1818"/>
              </a:stretch>
            </a:blipFill>
          </p:spPr>
        </p:sp>
        <p:sp>
          <p:nvSpPr>
            <p:cNvPr name="TextBox 50" id="50"/>
            <p:cNvSpPr txBox="true"/>
            <p:nvPr/>
          </p:nvSpPr>
          <p:spPr>
            <a:xfrm>
              <a:off x="0" y="-57150"/>
              <a:ext cx="3769306" cy="2285477"/>
            </a:xfrm>
            <a:prstGeom prst="rect">
              <a:avLst/>
            </a:prstGeom>
          </p:spPr>
          <p:txBody>
            <a:bodyPr anchor="ctr" rtlCol="false" tIns="0" lIns="0" bIns="0" rIns="0"/>
            <a:lstStyle/>
            <a:p>
              <a:pPr algn="l" marL="545143" indent="-272572" lvl="1">
                <a:lnSpc>
                  <a:spcPts val="3072"/>
                </a:lnSpc>
                <a:buFont typeface="Arial"/>
                <a:buChar char="•"/>
              </a:pPr>
              <a:r>
                <a:rPr lang="en-US" sz="2524">
                  <a:solidFill>
                    <a:srgbClr val="EAEEFB"/>
                  </a:solidFill>
                  <a:latin typeface="Calibri (MS)"/>
                  <a:ea typeface="Calibri (MS)"/>
                  <a:cs typeface="Calibri (MS)"/>
                  <a:sym typeface="Calibri (MS)"/>
                </a:rPr>
                <a:t>SciQ</a:t>
              </a:r>
            </a:p>
            <a:p>
              <a:pPr algn="l" marL="545143" indent="-272572" lvl="1">
                <a:lnSpc>
                  <a:spcPts val="3072"/>
                </a:lnSpc>
                <a:buFont typeface="Arial"/>
                <a:buChar char="•"/>
              </a:pPr>
              <a:r>
                <a:rPr lang="en-US" sz="2524">
                  <a:solidFill>
                    <a:srgbClr val="EAEEFB"/>
                  </a:solidFill>
                  <a:latin typeface="Calibri (MS)"/>
                  <a:ea typeface="Calibri (MS)"/>
                  <a:cs typeface="Calibri (MS)"/>
                  <a:sym typeface="Calibri (MS)"/>
                </a:rPr>
                <a:t>RAGCare-QA</a:t>
              </a:r>
            </a:p>
            <a:p>
              <a:pPr algn="l" marL="545143" indent="-272572" lvl="1">
                <a:lnSpc>
                  <a:spcPts val="3073"/>
                </a:lnSpc>
                <a:buFont typeface="Arial"/>
                <a:buChar char="•"/>
              </a:pPr>
              <a:r>
                <a:rPr lang="en-US" sz="2524">
                  <a:solidFill>
                    <a:srgbClr val="EAEEFB"/>
                  </a:solidFill>
                  <a:latin typeface="Calibri (MS)"/>
                  <a:ea typeface="Calibri (MS)"/>
                  <a:cs typeface="Calibri (MS)"/>
                  <a:sym typeface="Calibri (MS)"/>
                </a:rPr>
                <a:t>Open RAG bench</a:t>
              </a:r>
            </a:p>
          </p:txBody>
        </p:sp>
      </p:grpSp>
      <p:grpSp>
        <p:nvGrpSpPr>
          <p:cNvPr name="Group 51" id="51"/>
          <p:cNvGrpSpPr/>
          <p:nvPr/>
        </p:nvGrpSpPr>
        <p:grpSpPr>
          <a:xfrm rot="0">
            <a:off x="914298" y="1458230"/>
            <a:ext cx="8892642" cy="46196"/>
            <a:chOff x="0" y="0"/>
            <a:chExt cx="1860174" cy="9663"/>
          </a:xfrm>
        </p:grpSpPr>
        <p:sp>
          <p:nvSpPr>
            <p:cNvPr name="Freeform 52" id="52"/>
            <p:cNvSpPr/>
            <p:nvPr/>
          </p:nvSpPr>
          <p:spPr>
            <a:xfrm flipH="false" flipV="false" rot="0">
              <a:off x="0" y="0"/>
              <a:ext cx="1860174" cy="9663"/>
            </a:xfrm>
            <a:custGeom>
              <a:avLst/>
              <a:gdLst/>
              <a:ahLst/>
              <a:cxnLst/>
              <a:rect r="r" b="b" t="t" l="l"/>
              <a:pathLst>
                <a:path h="9663" w="1860174">
                  <a:moveTo>
                    <a:pt x="0" y="4832"/>
                  </a:moveTo>
                  <a:cubicBezTo>
                    <a:pt x="0" y="2163"/>
                    <a:pt x="416308" y="0"/>
                    <a:pt x="930087" y="0"/>
                  </a:cubicBezTo>
                  <a:cubicBezTo>
                    <a:pt x="1443866" y="0"/>
                    <a:pt x="1860174" y="2163"/>
                    <a:pt x="1860174" y="4832"/>
                  </a:cubicBezTo>
                  <a:cubicBezTo>
                    <a:pt x="1860174" y="7501"/>
                    <a:pt x="1443866" y="9663"/>
                    <a:pt x="930087" y="9663"/>
                  </a:cubicBezTo>
                  <a:cubicBezTo>
                    <a:pt x="416308" y="9663"/>
                    <a:pt x="0" y="7501"/>
                    <a:pt x="0" y="4832"/>
                  </a:cubicBezTo>
                  <a:close/>
                </a:path>
              </a:pathLst>
            </a:custGeom>
            <a:solidFill>
              <a:srgbClr val="E8664F"/>
            </a:solid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820024" y="-498693"/>
            <a:ext cx="10972800" cy="3516213"/>
            <a:chOff x="0" y="0"/>
            <a:chExt cx="14630400" cy="4688284"/>
          </a:xfrm>
        </p:grpSpPr>
        <p:sp>
          <p:nvSpPr>
            <p:cNvPr name="Freeform 3" id="3"/>
            <p:cNvSpPr/>
            <p:nvPr/>
          </p:nvSpPr>
          <p:spPr>
            <a:xfrm flipH="false" flipV="false" rot="0">
              <a:off x="0" y="0"/>
              <a:ext cx="14630400" cy="4688284"/>
            </a:xfrm>
            <a:custGeom>
              <a:avLst/>
              <a:gdLst/>
              <a:ahLst/>
              <a:cxnLst/>
              <a:rect r="r" b="b" t="t" l="l"/>
              <a:pathLst>
                <a:path h="4688284" w="14630400">
                  <a:moveTo>
                    <a:pt x="0" y="0"/>
                  </a:moveTo>
                  <a:lnTo>
                    <a:pt x="14630400" y="0"/>
                  </a:lnTo>
                  <a:lnTo>
                    <a:pt x="14630400" y="4688284"/>
                  </a:lnTo>
                  <a:lnTo>
                    <a:pt x="0" y="4688284"/>
                  </a:lnTo>
                  <a:close/>
                </a:path>
              </a:pathLst>
            </a:custGeom>
            <a:blipFill>
              <a:blip r:embed="rId2">
                <a:alphaModFix amt="0"/>
              </a:blip>
              <a:stretch>
                <a:fillRect l="0" t="-49103" r="0" b="27492"/>
              </a:stretch>
            </a:blipFill>
          </p:spPr>
        </p:sp>
        <p:sp>
          <p:nvSpPr>
            <p:cNvPr name="TextBox 4" id="4"/>
            <p:cNvSpPr txBox="true"/>
            <p:nvPr/>
          </p:nvSpPr>
          <p:spPr>
            <a:xfrm>
              <a:off x="0" y="-9525"/>
              <a:ext cx="14630400" cy="4697809"/>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LLM Models</a:t>
              </a:r>
            </a:p>
          </p:txBody>
        </p:sp>
      </p:grpSp>
      <p:grpSp>
        <p:nvGrpSpPr>
          <p:cNvPr name="Group 5" id="5"/>
          <p:cNvGrpSpPr/>
          <p:nvPr/>
        </p:nvGrpSpPr>
        <p:grpSpPr>
          <a:xfrm rot="0">
            <a:off x="820024" y="1657395"/>
            <a:ext cx="13716000" cy="548640"/>
            <a:chOff x="0" y="0"/>
            <a:chExt cx="18288000" cy="731520"/>
          </a:xfrm>
        </p:grpSpPr>
        <p:sp>
          <p:nvSpPr>
            <p:cNvPr name="Freeform 6" id="6"/>
            <p:cNvSpPr/>
            <p:nvPr/>
          </p:nvSpPr>
          <p:spPr>
            <a:xfrm flipH="false" flipV="false" rot="0">
              <a:off x="0" y="0"/>
              <a:ext cx="18288000" cy="731520"/>
            </a:xfrm>
            <a:custGeom>
              <a:avLst/>
              <a:gdLst/>
              <a:ahLst/>
              <a:cxnLst/>
              <a:rect r="r" b="b" t="t" l="l"/>
              <a:pathLst>
                <a:path h="731520" w="18288000">
                  <a:moveTo>
                    <a:pt x="0" y="0"/>
                  </a:moveTo>
                  <a:lnTo>
                    <a:pt x="18288000" y="0"/>
                  </a:lnTo>
                  <a:lnTo>
                    <a:pt x="18288000" y="731520"/>
                  </a:lnTo>
                  <a:lnTo>
                    <a:pt x="0" y="731520"/>
                  </a:lnTo>
                  <a:close/>
                </a:path>
              </a:pathLst>
            </a:custGeom>
            <a:blipFill>
              <a:blip r:embed="rId2">
                <a:alphaModFix amt="0"/>
              </a:blip>
              <a:stretch>
                <a:fillRect l="0" t="-437125" r="0" b="-437125"/>
              </a:stretch>
            </a:blipFill>
          </p:spPr>
        </p:sp>
        <p:sp>
          <p:nvSpPr>
            <p:cNvPr name="TextBox 7" id="7"/>
            <p:cNvSpPr txBox="true"/>
            <p:nvPr/>
          </p:nvSpPr>
          <p:spPr>
            <a:xfrm>
              <a:off x="0" y="-57150"/>
              <a:ext cx="18288000" cy="788670"/>
            </a:xfrm>
            <a:prstGeom prst="rect">
              <a:avLst/>
            </a:prstGeom>
          </p:spPr>
          <p:txBody>
            <a:bodyPr anchor="ctr" rtlCol="false" tIns="0" lIns="0" bIns="0" rIns="0"/>
            <a:lstStyle/>
            <a:p>
              <a:pPr algn="l">
                <a:lnSpc>
                  <a:spcPts val="2700"/>
                </a:lnSpc>
              </a:pPr>
              <a:r>
                <a:rPr lang="en-US" sz="2250" i="true">
                  <a:solidFill>
                    <a:srgbClr val="CADCFC"/>
                  </a:solidFill>
                  <a:latin typeface="Calibri (MS) Italics"/>
                  <a:ea typeface="Calibri (MS) Italics"/>
                  <a:cs typeface="Calibri (MS) Italics"/>
                  <a:sym typeface="Calibri (MS) Italics"/>
                </a:rPr>
                <a:t>Top Open source models</a:t>
              </a:r>
            </a:p>
          </p:txBody>
        </p:sp>
      </p:grpSp>
      <p:grpSp>
        <p:nvGrpSpPr>
          <p:cNvPr name="Group 8" id="8"/>
          <p:cNvGrpSpPr/>
          <p:nvPr/>
        </p:nvGrpSpPr>
        <p:grpSpPr>
          <a:xfrm rot="0">
            <a:off x="903076" y="2678888"/>
            <a:ext cx="3771900" cy="3229137"/>
            <a:chOff x="0" y="0"/>
            <a:chExt cx="5029200" cy="4305516"/>
          </a:xfrm>
        </p:grpSpPr>
        <p:sp>
          <p:nvSpPr>
            <p:cNvPr name="Freeform 9" id="9"/>
            <p:cNvSpPr/>
            <p:nvPr/>
          </p:nvSpPr>
          <p:spPr>
            <a:xfrm flipH="false" flipV="false" rot="0">
              <a:off x="0" y="0"/>
              <a:ext cx="5029200" cy="4305516"/>
            </a:xfrm>
            <a:custGeom>
              <a:avLst/>
              <a:gdLst/>
              <a:ahLst/>
              <a:cxnLst/>
              <a:rect r="r" b="b" t="t" l="l"/>
              <a:pathLst>
                <a:path h="4305516" w="5029200">
                  <a:moveTo>
                    <a:pt x="0" y="110398"/>
                  </a:moveTo>
                  <a:cubicBezTo>
                    <a:pt x="0" y="49449"/>
                    <a:pt x="81915" y="0"/>
                    <a:pt x="182880" y="0"/>
                  </a:cubicBezTo>
                  <a:lnTo>
                    <a:pt x="4846320" y="0"/>
                  </a:lnTo>
                  <a:cubicBezTo>
                    <a:pt x="4947285" y="0"/>
                    <a:pt x="5029200" y="49449"/>
                    <a:pt x="5029200" y="110398"/>
                  </a:cubicBezTo>
                  <a:lnTo>
                    <a:pt x="5029200" y="4195118"/>
                  </a:lnTo>
                  <a:cubicBezTo>
                    <a:pt x="5029200" y="4256067"/>
                    <a:pt x="4947285" y="4305516"/>
                    <a:pt x="4846320" y="4305516"/>
                  </a:cubicBezTo>
                  <a:lnTo>
                    <a:pt x="182880" y="4305516"/>
                  </a:lnTo>
                  <a:cubicBezTo>
                    <a:pt x="81915" y="4305515"/>
                    <a:pt x="0" y="4256067"/>
                    <a:pt x="0" y="4195118"/>
                  </a:cubicBezTo>
                  <a:close/>
                </a:path>
              </a:pathLst>
            </a:custGeom>
            <a:solidFill>
              <a:srgbClr val="263172"/>
            </a:solidFill>
          </p:spPr>
        </p:sp>
      </p:grpSp>
      <p:grpSp>
        <p:nvGrpSpPr>
          <p:cNvPr name="Group 10" id="10"/>
          <p:cNvGrpSpPr/>
          <p:nvPr/>
        </p:nvGrpSpPr>
        <p:grpSpPr>
          <a:xfrm rot="0">
            <a:off x="1177396" y="2332016"/>
            <a:ext cx="3223260" cy="1651797"/>
            <a:chOff x="0" y="0"/>
            <a:chExt cx="4297680" cy="2202396"/>
          </a:xfrm>
        </p:grpSpPr>
        <p:sp>
          <p:nvSpPr>
            <p:cNvPr name="Freeform 11" id="11"/>
            <p:cNvSpPr/>
            <p:nvPr/>
          </p:nvSpPr>
          <p:spPr>
            <a:xfrm flipH="false" flipV="false" rot="0">
              <a:off x="0" y="0"/>
              <a:ext cx="4297680" cy="2202396"/>
            </a:xfrm>
            <a:custGeom>
              <a:avLst/>
              <a:gdLst/>
              <a:ahLst/>
              <a:cxnLst/>
              <a:rect r="r" b="b" t="t" l="l"/>
              <a:pathLst>
                <a:path h="2202396" w="4297680">
                  <a:moveTo>
                    <a:pt x="0" y="0"/>
                  </a:moveTo>
                  <a:lnTo>
                    <a:pt x="4297680" y="0"/>
                  </a:lnTo>
                  <a:lnTo>
                    <a:pt x="4297680" y="2202396"/>
                  </a:lnTo>
                  <a:lnTo>
                    <a:pt x="0" y="2202396"/>
                  </a:lnTo>
                  <a:close/>
                </a:path>
              </a:pathLst>
            </a:custGeom>
            <a:blipFill>
              <a:blip r:embed="rId2">
                <a:alphaModFix amt="0"/>
              </a:blip>
              <a:stretch>
                <a:fillRect l="0" t="-15187" r="0" b="39142"/>
              </a:stretch>
            </a:blipFill>
          </p:spPr>
        </p:sp>
        <p:sp>
          <p:nvSpPr>
            <p:cNvPr name="TextBox 12" id="12"/>
            <p:cNvSpPr txBox="true"/>
            <p:nvPr/>
          </p:nvSpPr>
          <p:spPr>
            <a:xfrm>
              <a:off x="0" y="-19050"/>
              <a:ext cx="4297680" cy="2221446"/>
            </a:xfrm>
            <a:prstGeom prst="rect">
              <a:avLst/>
            </a:prstGeom>
          </p:spPr>
          <p:txBody>
            <a:bodyPr anchor="ctr" rtlCol="false" tIns="0" lIns="0" bIns="0" rIns="0"/>
            <a:lstStyle/>
            <a:p>
              <a:pPr algn="ctr">
                <a:lnSpc>
                  <a:spcPts val="2700"/>
                </a:lnSpc>
              </a:pPr>
              <a:r>
                <a:rPr lang="en-US" sz="2250" b="true">
                  <a:solidFill>
                    <a:srgbClr val="FFFFFF"/>
                  </a:solidFill>
                  <a:latin typeface="Cambria Bold"/>
                  <a:ea typeface="Cambria Bold"/>
                  <a:cs typeface="Cambria Bold"/>
                  <a:sym typeface="Cambria Bold"/>
                </a:rPr>
                <a:t>KIMI K3</a:t>
              </a:r>
            </a:p>
          </p:txBody>
        </p:sp>
      </p:grpSp>
      <p:grpSp>
        <p:nvGrpSpPr>
          <p:cNvPr name="Group 13" id="13"/>
          <p:cNvGrpSpPr/>
          <p:nvPr/>
        </p:nvGrpSpPr>
        <p:grpSpPr>
          <a:xfrm rot="0">
            <a:off x="1045156" y="3157915"/>
            <a:ext cx="3487740" cy="2606040"/>
            <a:chOff x="0" y="0"/>
            <a:chExt cx="4650320" cy="3474720"/>
          </a:xfrm>
        </p:grpSpPr>
        <p:sp>
          <p:nvSpPr>
            <p:cNvPr name="Freeform 14" id="14"/>
            <p:cNvSpPr/>
            <p:nvPr/>
          </p:nvSpPr>
          <p:spPr>
            <a:xfrm flipH="false" flipV="false" rot="0">
              <a:off x="0" y="0"/>
              <a:ext cx="4650320" cy="3474720"/>
            </a:xfrm>
            <a:custGeom>
              <a:avLst/>
              <a:gdLst/>
              <a:ahLst/>
              <a:cxnLst/>
              <a:rect r="r" b="b" t="t" l="l"/>
              <a:pathLst>
                <a:path h="3474720" w="4650320">
                  <a:moveTo>
                    <a:pt x="0" y="0"/>
                  </a:moveTo>
                  <a:lnTo>
                    <a:pt x="4650320" y="0"/>
                  </a:lnTo>
                  <a:lnTo>
                    <a:pt x="4650320" y="3474720"/>
                  </a:lnTo>
                  <a:lnTo>
                    <a:pt x="0" y="3474720"/>
                  </a:lnTo>
                  <a:close/>
                </a:path>
              </a:pathLst>
            </a:custGeom>
            <a:blipFill>
              <a:blip r:embed="rId2">
                <a:alphaModFix amt="0"/>
              </a:blip>
              <a:stretch>
                <a:fillRect l="-51626" t="0" r="-40110" b="0"/>
              </a:stretch>
            </a:blipFill>
          </p:spPr>
        </p:sp>
        <p:sp>
          <p:nvSpPr>
            <p:cNvPr name="TextBox 15" id="15"/>
            <p:cNvSpPr txBox="true"/>
            <p:nvPr/>
          </p:nvSpPr>
          <p:spPr>
            <a:xfrm>
              <a:off x="0" y="-19050"/>
              <a:ext cx="4650320" cy="3493770"/>
            </a:xfrm>
            <a:prstGeom prst="rect">
              <a:avLst/>
            </a:prstGeom>
          </p:spPr>
          <p:txBody>
            <a:bodyPr anchor="ctr" rtlCol="false" tIns="0" lIns="0" bIns="0" rIns="0"/>
            <a:lstStyle/>
            <a:p>
              <a:pPr algn="ctr">
                <a:lnSpc>
                  <a:spcPts val="2770"/>
                </a:lnSpc>
              </a:pPr>
              <a:r>
                <a:rPr lang="en-US" sz="2124">
                  <a:solidFill>
                    <a:srgbClr val="D6DCF5"/>
                  </a:solidFill>
                  <a:latin typeface="DM Sans"/>
                  <a:ea typeface="DM Sans"/>
                  <a:cs typeface="DM Sans"/>
                  <a:sym typeface="DM Sans"/>
                </a:rPr>
                <a:t>Parameters:  2.8 Trillion</a:t>
              </a:r>
            </a:p>
            <a:p>
              <a:pPr algn="ctr">
                <a:lnSpc>
                  <a:spcPts val="2770"/>
                </a:lnSpc>
              </a:pPr>
              <a:r>
                <a:rPr lang="en-US" sz="2124">
                  <a:solidFill>
                    <a:srgbClr val="D6DCF5"/>
                  </a:solidFill>
                  <a:latin typeface="DM Sans"/>
                  <a:ea typeface="DM Sans"/>
                  <a:cs typeface="DM Sans"/>
                  <a:sym typeface="DM Sans"/>
                </a:rPr>
                <a:t>Context length: 1 million token</a:t>
              </a:r>
            </a:p>
            <a:p>
              <a:pPr algn="ctr">
                <a:lnSpc>
                  <a:spcPts val="2771"/>
                </a:lnSpc>
              </a:pPr>
              <a:r>
                <a:rPr lang="en-US" sz="2124">
                  <a:solidFill>
                    <a:srgbClr val="D6DCF5"/>
                  </a:solidFill>
                  <a:latin typeface="DM Sans"/>
                  <a:ea typeface="DM Sans"/>
                  <a:cs typeface="DM Sans"/>
                  <a:sym typeface="DM Sans"/>
                </a:rPr>
                <a:t>Disk size: 1.56 TB</a:t>
              </a:r>
            </a:p>
          </p:txBody>
        </p:sp>
      </p:grpSp>
      <p:grpSp>
        <p:nvGrpSpPr>
          <p:cNvPr name="Group 16" id="16"/>
          <p:cNvGrpSpPr/>
          <p:nvPr/>
        </p:nvGrpSpPr>
        <p:grpSpPr>
          <a:xfrm rot="0">
            <a:off x="17282160" y="9710928"/>
            <a:ext cx="685800" cy="411480"/>
            <a:chOff x="0" y="0"/>
            <a:chExt cx="914400" cy="548640"/>
          </a:xfrm>
        </p:grpSpPr>
        <p:sp>
          <p:nvSpPr>
            <p:cNvPr name="Freeform 17" id="17"/>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18" id="18"/>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E7591"/>
                  </a:solidFill>
                  <a:latin typeface="Calibri (MS)"/>
                  <a:ea typeface="Calibri (MS)"/>
                  <a:cs typeface="Calibri (MS)"/>
                  <a:sym typeface="Calibri (MS)"/>
                </a:rPr>
                <a:t>10</a:t>
              </a:r>
            </a:p>
          </p:txBody>
        </p:sp>
      </p:grpSp>
      <p:grpSp>
        <p:nvGrpSpPr>
          <p:cNvPr name="Group 19" id="19"/>
          <p:cNvGrpSpPr/>
          <p:nvPr/>
        </p:nvGrpSpPr>
        <p:grpSpPr>
          <a:xfrm rot="0">
            <a:off x="5225118" y="2678888"/>
            <a:ext cx="3771900" cy="3229137"/>
            <a:chOff x="0" y="0"/>
            <a:chExt cx="5029200" cy="4305516"/>
          </a:xfrm>
        </p:grpSpPr>
        <p:sp>
          <p:nvSpPr>
            <p:cNvPr name="Freeform 20" id="20"/>
            <p:cNvSpPr/>
            <p:nvPr/>
          </p:nvSpPr>
          <p:spPr>
            <a:xfrm flipH="false" flipV="false" rot="0">
              <a:off x="0" y="0"/>
              <a:ext cx="5029200" cy="4305516"/>
            </a:xfrm>
            <a:custGeom>
              <a:avLst/>
              <a:gdLst/>
              <a:ahLst/>
              <a:cxnLst/>
              <a:rect r="r" b="b" t="t" l="l"/>
              <a:pathLst>
                <a:path h="4305516" w="5029200">
                  <a:moveTo>
                    <a:pt x="0" y="110398"/>
                  </a:moveTo>
                  <a:cubicBezTo>
                    <a:pt x="0" y="49449"/>
                    <a:pt x="81915" y="0"/>
                    <a:pt x="182880" y="0"/>
                  </a:cubicBezTo>
                  <a:lnTo>
                    <a:pt x="4846320" y="0"/>
                  </a:lnTo>
                  <a:cubicBezTo>
                    <a:pt x="4947285" y="0"/>
                    <a:pt x="5029200" y="49449"/>
                    <a:pt x="5029200" y="110398"/>
                  </a:cubicBezTo>
                  <a:lnTo>
                    <a:pt x="5029200" y="4195118"/>
                  </a:lnTo>
                  <a:cubicBezTo>
                    <a:pt x="5029200" y="4256067"/>
                    <a:pt x="4947285" y="4305516"/>
                    <a:pt x="4846320" y="4305516"/>
                  </a:cubicBezTo>
                  <a:lnTo>
                    <a:pt x="182880" y="4305516"/>
                  </a:lnTo>
                  <a:cubicBezTo>
                    <a:pt x="81915" y="4305515"/>
                    <a:pt x="0" y="4256067"/>
                    <a:pt x="0" y="4195118"/>
                  </a:cubicBezTo>
                  <a:close/>
                </a:path>
              </a:pathLst>
            </a:custGeom>
            <a:solidFill>
              <a:srgbClr val="263172"/>
            </a:solidFill>
          </p:spPr>
        </p:sp>
      </p:grpSp>
      <p:grpSp>
        <p:nvGrpSpPr>
          <p:cNvPr name="Group 21" id="21"/>
          <p:cNvGrpSpPr/>
          <p:nvPr/>
        </p:nvGrpSpPr>
        <p:grpSpPr>
          <a:xfrm rot="0">
            <a:off x="5499438" y="2332016"/>
            <a:ext cx="3223260" cy="1651797"/>
            <a:chOff x="0" y="0"/>
            <a:chExt cx="4297680" cy="2202396"/>
          </a:xfrm>
        </p:grpSpPr>
        <p:sp>
          <p:nvSpPr>
            <p:cNvPr name="Freeform 22" id="22"/>
            <p:cNvSpPr/>
            <p:nvPr/>
          </p:nvSpPr>
          <p:spPr>
            <a:xfrm flipH="false" flipV="false" rot="0">
              <a:off x="0" y="0"/>
              <a:ext cx="4297680" cy="2202396"/>
            </a:xfrm>
            <a:custGeom>
              <a:avLst/>
              <a:gdLst/>
              <a:ahLst/>
              <a:cxnLst/>
              <a:rect r="r" b="b" t="t" l="l"/>
              <a:pathLst>
                <a:path h="2202396" w="4297680">
                  <a:moveTo>
                    <a:pt x="0" y="0"/>
                  </a:moveTo>
                  <a:lnTo>
                    <a:pt x="4297680" y="0"/>
                  </a:lnTo>
                  <a:lnTo>
                    <a:pt x="4297680" y="2202396"/>
                  </a:lnTo>
                  <a:lnTo>
                    <a:pt x="0" y="2202396"/>
                  </a:lnTo>
                  <a:close/>
                </a:path>
              </a:pathLst>
            </a:custGeom>
            <a:blipFill>
              <a:blip r:embed="rId2">
                <a:alphaModFix amt="0"/>
              </a:blip>
              <a:stretch>
                <a:fillRect l="0" t="-15187" r="0" b="39142"/>
              </a:stretch>
            </a:blipFill>
          </p:spPr>
        </p:sp>
        <p:sp>
          <p:nvSpPr>
            <p:cNvPr name="TextBox 23" id="23"/>
            <p:cNvSpPr txBox="true"/>
            <p:nvPr/>
          </p:nvSpPr>
          <p:spPr>
            <a:xfrm>
              <a:off x="0" y="-19050"/>
              <a:ext cx="4297680" cy="2221446"/>
            </a:xfrm>
            <a:prstGeom prst="rect">
              <a:avLst/>
            </a:prstGeom>
          </p:spPr>
          <p:txBody>
            <a:bodyPr anchor="ctr" rtlCol="false" tIns="0" lIns="0" bIns="0" rIns="0"/>
            <a:lstStyle/>
            <a:p>
              <a:pPr algn="ctr">
                <a:lnSpc>
                  <a:spcPts val="2700"/>
                </a:lnSpc>
              </a:pPr>
              <a:r>
                <a:rPr lang="en-US" sz="2250" b="true">
                  <a:solidFill>
                    <a:srgbClr val="FFFFFF"/>
                  </a:solidFill>
                  <a:latin typeface="Cambria Bold"/>
                  <a:ea typeface="Cambria Bold"/>
                  <a:cs typeface="Cambria Bold"/>
                  <a:sym typeface="Cambria Bold"/>
                </a:rPr>
                <a:t>GLM 5.2</a:t>
              </a:r>
            </a:p>
          </p:txBody>
        </p:sp>
      </p:grpSp>
      <p:grpSp>
        <p:nvGrpSpPr>
          <p:cNvPr name="Group 24" id="24"/>
          <p:cNvGrpSpPr/>
          <p:nvPr/>
        </p:nvGrpSpPr>
        <p:grpSpPr>
          <a:xfrm rot="0">
            <a:off x="5367198" y="3157915"/>
            <a:ext cx="3487740" cy="2606040"/>
            <a:chOff x="0" y="0"/>
            <a:chExt cx="4650320" cy="3474720"/>
          </a:xfrm>
        </p:grpSpPr>
        <p:sp>
          <p:nvSpPr>
            <p:cNvPr name="Freeform 25" id="25"/>
            <p:cNvSpPr/>
            <p:nvPr/>
          </p:nvSpPr>
          <p:spPr>
            <a:xfrm flipH="false" flipV="false" rot="0">
              <a:off x="0" y="0"/>
              <a:ext cx="4650320" cy="3474720"/>
            </a:xfrm>
            <a:custGeom>
              <a:avLst/>
              <a:gdLst/>
              <a:ahLst/>
              <a:cxnLst/>
              <a:rect r="r" b="b" t="t" l="l"/>
              <a:pathLst>
                <a:path h="3474720" w="4650320">
                  <a:moveTo>
                    <a:pt x="0" y="0"/>
                  </a:moveTo>
                  <a:lnTo>
                    <a:pt x="4650320" y="0"/>
                  </a:lnTo>
                  <a:lnTo>
                    <a:pt x="4650320" y="3474720"/>
                  </a:lnTo>
                  <a:lnTo>
                    <a:pt x="0" y="3474720"/>
                  </a:lnTo>
                  <a:close/>
                </a:path>
              </a:pathLst>
            </a:custGeom>
            <a:blipFill>
              <a:blip r:embed="rId2">
                <a:alphaModFix amt="0"/>
              </a:blip>
              <a:stretch>
                <a:fillRect l="-51626" t="0" r="-40110" b="0"/>
              </a:stretch>
            </a:blipFill>
          </p:spPr>
        </p:sp>
        <p:sp>
          <p:nvSpPr>
            <p:cNvPr name="TextBox 26" id="26"/>
            <p:cNvSpPr txBox="true"/>
            <p:nvPr/>
          </p:nvSpPr>
          <p:spPr>
            <a:xfrm>
              <a:off x="0" y="-19050"/>
              <a:ext cx="4650320" cy="3493770"/>
            </a:xfrm>
            <a:prstGeom prst="rect">
              <a:avLst/>
            </a:prstGeom>
          </p:spPr>
          <p:txBody>
            <a:bodyPr anchor="ctr" rtlCol="false" tIns="0" lIns="0" bIns="0" rIns="0"/>
            <a:lstStyle/>
            <a:p>
              <a:pPr algn="ctr">
                <a:lnSpc>
                  <a:spcPts val="2770"/>
                </a:lnSpc>
              </a:pPr>
              <a:r>
                <a:rPr lang="en-US" sz="2124">
                  <a:solidFill>
                    <a:srgbClr val="D6DCF5"/>
                  </a:solidFill>
                  <a:latin typeface="DM Sans"/>
                  <a:ea typeface="DM Sans"/>
                  <a:cs typeface="DM Sans"/>
                  <a:sym typeface="DM Sans"/>
                </a:rPr>
                <a:t>Parameters:  753 Billion</a:t>
              </a:r>
            </a:p>
            <a:p>
              <a:pPr algn="ctr">
                <a:lnSpc>
                  <a:spcPts val="2770"/>
                </a:lnSpc>
              </a:pPr>
              <a:r>
                <a:rPr lang="en-US" sz="2124">
                  <a:solidFill>
                    <a:srgbClr val="D6DCF5"/>
                  </a:solidFill>
                  <a:latin typeface="DM Sans"/>
                  <a:ea typeface="DM Sans"/>
                  <a:cs typeface="DM Sans"/>
                  <a:sym typeface="DM Sans"/>
                </a:rPr>
                <a:t>Context length: 1 million token</a:t>
              </a:r>
            </a:p>
            <a:p>
              <a:pPr algn="ctr">
                <a:lnSpc>
                  <a:spcPts val="2771"/>
                </a:lnSpc>
              </a:pPr>
              <a:r>
                <a:rPr lang="en-US" sz="2124">
                  <a:solidFill>
                    <a:srgbClr val="D6DCF5"/>
                  </a:solidFill>
                  <a:latin typeface="DM Sans"/>
                  <a:ea typeface="DM Sans"/>
                  <a:cs typeface="DM Sans"/>
                  <a:sym typeface="DM Sans"/>
                </a:rPr>
                <a:t>Disk size: 1.51 TB</a:t>
              </a:r>
            </a:p>
          </p:txBody>
        </p:sp>
      </p:grpSp>
      <p:grpSp>
        <p:nvGrpSpPr>
          <p:cNvPr name="Group 27" id="27"/>
          <p:cNvGrpSpPr/>
          <p:nvPr/>
        </p:nvGrpSpPr>
        <p:grpSpPr>
          <a:xfrm rot="0">
            <a:off x="9419071" y="2678888"/>
            <a:ext cx="3771900" cy="3229137"/>
            <a:chOff x="0" y="0"/>
            <a:chExt cx="5029200" cy="4305516"/>
          </a:xfrm>
        </p:grpSpPr>
        <p:sp>
          <p:nvSpPr>
            <p:cNvPr name="Freeform 28" id="28"/>
            <p:cNvSpPr/>
            <p:nvPr/>
          </p:nvSpPr>
          <p:spPr>
            <a:xfrm flipH="false" flipV="false" rot="0">
              <a:off x="0" y="0"/>
              <a:ext cx="5029200" cy="4305516"/>
            </a:xfrm>
            <a:custGeom>
              <a:avLst/>
              <a:gdLst/>
              <a:ahLst/>
              <a:cxnLst/>
              <a:rect r="r" b="b" t="t" l="l"/>
              <a:pathLst>
                <a:path h="4305516" w="5029200">
                  <a:moveTo>
                    <a:pt x="0" y="110398"/>
                  </a:moveTo>
                  <a:cubicBezTo>
                    <a:pt x="0" y="49449"/>
                    <a:pt x="81915" y="0"/>
                    <a:pt x="182880" y="0"/>
                  </a:cubicBezTo>
                  <a:lnTo>
                    <a:pt x="4846320" y="0"/>
                  </a:lnTo>
                  <a:cubicBezTo>
                    <a:pt x="4947285" y="0"/>
                    <a:pt x="5029200" y="49449"/>
                    <a:pt x="5029200" y="110398"/>
                  </a:cubicBezTo>
                  <a:lnTo>
                    <a:pt x="5029200" y="4195118"/>
                  </a:lnTo>
                  <a:cubicBezTo>
                    <a:pt x="5029200" y="4256067"/>
                    <a:pt x="4947285" y="4305516"/>
                    <a:pt x="4846320" y="4305516"/>
                  </a:cubicBezTo>
                  <a:lnTo>
                    <a:pt x="182880" y="4305516"/>
                  </a:lnTo>
                  <a:cubicBezTo>
                    <a:pt x="81915" y="4305515"/>
                    <a:pt x="0" y="4256067"/>
                    <a:pt x="0" y="4195118"/>
                  </a:cubicBezTo>
                  <a:close/>
                </a:path>
              </a:pathLst>
            </a:custGeom>
            <a:solidFill>
              <a:srgbClr val="263172"/>
            </a:solidFill>
          </p:spPr>
        </p:sp>
      </p:grpSp>
      <p:grpSp>
        <p:nvGrpSpPr>
          <p:cNvPr name="Group 29" id="29"/>
          <p:cNvGrpSpPr/>
          <p:nvPr/>
        </p:nvGrpSpPr>
        <p:grpSpPr>
          <a:xfrm rot="0">
            <a:off x="9693391" y="2332016"/>
            <a:ext cx="3223260" cy="1651797"/>
            <a:chOff x="0" y="0"/>
            <a:chExt cx="4297680" cy="2202396"/>
          </a:xfrm>
        </p:grpSpPr>
        <p:sp>
          <p:nvSpPr>
            <p:cNvPr name="Freeform 30" id="30"/>
            <p:cNvSpPr/>
            <p:nvPr/>
          </p:nvSpPr>
          <p:spPr>
            <a:xfrm flipH="false" flipV="false" rot="0">
              <a:off x="0" y="0"/>
              <a:ext cx="4297680" cy="2202396"/>
            </a:xfrm>
            <a:custGeom>
              <a:avLst/>
              <a:gdLst/>
              <a:ahLst/>
              <a:cxnLst/>
              <a:rect r="r" b="b" t="t" l="l"/>
              <a:pathLst>
                <a:path h="2202396" w="4297680">
                  <a:moveTo>
                    <a:pt x="0" y="0"/>
                  </a:moveTo>
                  <a:lnTo>
                    <a:pt x="4297680" y="0"/>
                  </a:lnTo>
                  <a:lnTo>
                    <a:pt x="4297680" y="2202396"/>
                  </a:lnTo>
                  <a:lnTo>
                    <a:pt x="0" y="2202396"/>
                  </a:lnTo>
                  <a:close/>
                </a:path>
              </a:pathLst>
            </a:custGeom>
            <a:blipFill>
              <a:blip r:embed="rId2">
                <a:alphaModFix amt="0"/>
              </a:blip>
              <a:stretch>
                <a:fillRect l="0" t="-15187" r="0" b="39142"/>
              </a:stretch>
            </a:blipFill>
          </p:spPr>
        </p:sp>
        <p:sp>
          <p:nvSpPr>
            <p:cNvPr name="TextBox 31" id="31"/>
            <p:cNvSpPr txBox="true"/>
            <p:nvPr/>
          </p:nvSpPr>
          <p:spPr>
            <a:xfrm>
              <a:off x="0" y="-19050"/>
              <a:ext cx="4297680" cy="2221446"/>
            </a:xfrm>
            <a:prstGeom prst="rect">
              <a:avLst/>
            </a:prstGeom>
          </p:spPr>
          <p:txBody>
            <a:bodyPr anchor="ctr" rtlCol="false" tIns="0" lIns="0" bIns="0" rIns="0"/>
            <a:lstStyle/>
            <a:p>
              <a:pPr algn="ctr">
                <a:lnSpc>
                  <a:spcPts val="2700"/>
                </a:lnSpc>
              </a:pPr>
              <a:r>
                <a:rPr lang="en-US" sz="2250" b="true">
                  <a:solidFill>
                    <a:srgbClr val="FFFFFF"/>
                  </a:solidFill>
                  <a:latin typeface="Cambria Bold"/>
                  <a:ea typeface="Cambria Bold"/>
                  <a:cs typeface="Cambria Bold"/>
                  <a:sym typeface="Cambria Bold"/>
                </a:rPr>
                <a:t>Gemma 4 26B A4B</a:t>
              </a:r>
            </a:p>
          </p:txBody>
        </p:sp>
      </p:grpSp>
      <p:grpSp>
        <p:nvGrpSpPr>
          <p:cNvPr name="Group 32" id="32"/>
          <p:cNvGrpSpPr/>
          <p:nvPr/>
        </p:nvGrpSpPr>
        <p:grpSpPr>
          <a:xfrm rot="0">
            <a:off x="9561151" y="3157915"/>
            <a:ext cx="3487740" cy="2606040"/>
            <a:chOff x="0" y="0"/>
            <a:chExt cx="4650320" cy="3474720"/>
          </a:xfrm>
        </p:grpSpPr>
        <p:sp>
          <p:nvSpPr>
            <p:cNvPr name="Freeform 33" id="33"/>
            <p:cNvSpPr/>
            <p:nvPr/>
          </p:nvSpPr>
          <p:spPr>
            <a:xfrm flipH="false" flipV="false" rot="0">
              <a:off x="0" y="0"/>
              <a:ext cx="4650320" cy="3474720"/>
            </a:xfrm>
            <a:custGeom>
              <a:avLst/>
              <a:gdLst/>
              <a:ahLst/>
              <a:cxnLst/>
              <a:rect r="r" b="b" t="t" l="l"/>
              <a:pathLst>
                <a:path h="3474720" w="4650320">
                  <a:moveTo>
                    <a:pt x="0" y="0"/>
                  </a:moveTo>
                  <a:lnTo>
                    <a:pt x="4650320" y="0"/>
                  </a:lnTo>
                  <a:lnTo>
                    <a:pt x="4650320" y="3474720"/>
                  </a:lnTo>
                  <a:lnTo>
                    <a:pt x="0" y="3474720"/>
                  </a:lnTo>
                  <a:close/>
                </a:path>
              </a:pathLst>
            </a:custGeom>
            <a:blipFill>
              <a:blip r:embed="rId2">
                <a:alphaModFix amt="0"/>
              </a:blip>
              <a:stretch>
                <a:fillRect l="-51626" t="0" r="-40110" b="0"/>
              </a:stretch>
            </a:blipFill>
          </p:spPr>
        </p:sp>
        <p:sp>
          <p:nvSpPr>
            <p:cNvPr name="TextBox 34" id="34"/>
            <p:cNvSpPr txBox="true"/>
            <p:nvPr/>
          </p:nvSpPr>
          <p:spPr>
            <a:xfrm>
              <a:off x="0" y="-19050"/>
              <a:ext cx="4650320" cy="3493770"/>
            </a:xfrm>
            <a:prstGeom prst="rect">
              <a:avLst/>
            </a:prstGeom>
          </p:spPr>
          <p:txBody>
            <a:bodyPr anchor="ctr" rtlCol="false" tIns="0" lIns="0" bIns="0" rIns="0"/>
            <a:lstStyle/>
            <a:p>
              <a:pPr algn="ctr">
                <a:lnSpc>
                  <a:spcPts val="2770"/>
                </a:lnSpc>
              </a:pPr>
              <a:r>
                <a:rPr lang="en-US" sz="2124">
                  <a:solidFill>
                    <a:srgbClr val="D6DCF5"/>
                  </a:solidFill>
                  <a:latin typeface="DM Sans"/>
                  <a:ea typeface="DM Sans"/>
                  <a:cs typeface="DM Sans"/>
                  <a:sym typeface="DM Sans"/>
                </a:rPr>
                <a:t>Parameters:  26 Billion</a:t>
              </a:r>
            </a:p>
            <a:p>
              <a:pPr algn="ctr">
                <a:lnSpc>
                  <a:spcPts val="2770"/>
                </a:lnSpc>
              </a:pPr>
              <a:r>
                <a:rPr lang="en-US" sz="2124">
                  <a:solidFill>
                    <a:srgbClr val="D6DCF5"/>
                  </a:solidFill>
                  <a:latin typeface="DM Sans"/>
                  <a:ea typeface="DM Sans"/>
                  <a:cs typeface="DM Sans"/>
                  <a:sym typeface="DM Sans"/>
                </a:rPr>
                <a:t>Context length: 256K token</a:t>
              </a:r>
            </a:p>
            <a:p>
              <a:pPr algn="ctr">
                <a:lnSpc>
                  <a:spcPts val="2771"/>
                </a:lnSpc>
              </a:pPr>
              <a:r>
                <a:rPr lang="en-US" sz="2124">
                  <a:solidFill>
                    <a:srgbClr val="D6DCF5"/>
                  </a:solidFill>
                  <a:latin typeface="DM Sans"/>
                  <a:ea typeface="DM Sans"/>
                  <a:cs typeface="DM Sans"/>
                  <a:sym typeface="DM Sans"/>
                </a:rPr>
                <a:t>Disk size: 48 GB</a:t>
              </a:r>
            </a:p>
          </p:txBody>
        </p:sp>
      </p:grpSp>
      <p:grpSp>
        <p:nvGrpSpPr>
          <p:cNvPr name="Group 35" id="35"/>
          <p:cNvGrpSpPr/>
          <p:nvPr/>
        </p:nvGrpSpPr>
        <p:grpSpPr>
          <a:xfrm rot="0">
            <a:off x="13613024" y="2678888"/>
            <a:ext cx="3771900" cy="3229137"/>
            <a:chOff x="0" y="0"/>
            <a:chExt cx="5029200" cy="4305516"/>
          </a:xfrm>
        </p:grpSpPr>
        <p:sp>
          <p:nvSpPr>
            <p:cNvPr name="Freeform 36" id="36"/>
            <p:cNvSpPr/>
            <p:nvPr/>
          </p:nvSpPr>
          <p:spPr>
            <a:xfrm flipH="false" flipV="false" rot="0">
              <a:off x="0" y="0"/>
              <a:ext cx="5029200" cy="4305516"/>
            </a:xfrm>
            <a:custGeom>
              <a:avLst/>
              <a:gdLst/>
              <a:ahLst/>
              <a:cxnLst/>
              <a:rect r="r" b="b" t="t" l="l"/>
              <a:pathLst>
                <a:path h="4305516" w="5029200">
                  <a:moveTo>
                    <a:pt x="0" y="110398"/>
                  </a:moveTo>
                  <a:cubicBezTo>
                    <a:pt x="0" y="49449"/>
                    <a:pt x="81915" y="0"/>
                    <a:pt x="182880" y="0"/>
                  </a:cubicBezTo>
                  <a:lnTo>
                    <a:pt x="4846320" y="0"/>
                  </a:lnTo>
                  <a:cubicBezTo>
                    <a:pt x="4947285" y="0"/>
                    <a:pt x="5029200" y="49449"/>
                    <a:pt x="5029200" y="110398"/>
                  </a:cubicBezTo>
                  <a:lnTo>
                    <a:pt x="5029200" y="4195118"/>
                  </a:lnTo>
                  <a:cubicBezTo>
                    <a:pt x="5029200" y="4256067"/>
                    <a:pt x="4947285" y="4305516"/>
                    <a:pt x="4846320" y="4305516"/>
                  </a:cubicBezTo>
                  <a:lnTo>
                    <a:pt x="182880" y="4305516"/>
                  </a:lnTo>
                  <a:cubicBezTo>
                    <a:pt x="81915" y="4305515"/>
                    <a:pt x="0" y="4256067"/>
                    <a:pt x="0" y="4195118"/>
                  </a:cubicBezTo>
                  <a:close/>
                </a:path>
              </a:pathLst>
            </a:custGeom>
            <a:solidFill>
              <a:srgbClr val="263172"/>
            </a:solidFill>
          </p:spPr>
        </p:sp>
      </p:grpSp>
      <p:grpSp>
        <p:nvGrpSpPr>
          <p:cNvPr name="Group 37" id="37"/>
          <p:cNvGrpSpPr/>
          <p:nvPr/>
        </p:nvGrpSpPr>
        <p:grpSpPr>
          <a:xfrm rot="0">
            <a:off x="13887344" y="2332016"/>
            <a:ext cx="3223260" cy="1651797"/>
            <a:chOff x="0" y="0"/>
            <a:chExt cx="4297680" cy="2202396"/>
          </a:xfrm>
        </p:grpSpPr>
        <p:sp>
          <p:nvSpPr>
            <p:cNvPr name="Freeform 38" id="38"/>
            <p:cNvSpPr/>
            <p:nvPr/>
          </p:nvSpPr>
          <p:spPr>
            <a:xfrm flipH="false" flipV="false" rot="0">
              <a:off x="0" y="0"/>
              <a:ext cx="4297680" cy="2202396"/>
            </a:xfrm>
            <a:custGeom>
              <a:avLst/>
              <a:gdLst/>
              <a:ahLst/>
              <a:cxnLst/>
              <a:rect r="r" b="b" t="t" l="l"/>
              <a:pathLst>
                <a:path h="2202396" w="4297680">
                  <a:moveTo>
                    <a:pt x="0" y="0"/>
                  </a:moveTo>
                  <a:lnTo>
                    <a:pt x="4297680" y="0"/>
                  </a:lnTo>
                  <a:lnTo>
                    <a:pt x="4297680" y="2202396"/>
                  </a:lnTo>
                  <a:lnTo>
                    <a:pt x="0" y="2202396"/>
                  </a:lnTo>
                  <a:close/>
                </a:path>
              </a:pathLst>
            </a:custGeom>
            <a:blipFill>
              <a:blip r:embed="rId2">
                <a:alphaModFix amt="0"/>
              </a:blip>
              <a:stretch>
                <a:fillRect l="0" t="-15187" r="0" b="39142"/>
              </a:stretch>
            </a:blipFill>
          </p:spPr>
        </p:sp>
        <p:sp>
          <p:nvSpPr>
            <p:cNvPr name="TextBox 39" id="39"/>
            <p:cNvSpPr txBox="true"/>
            <p:nvPr/>
          </p:nvSpPr>
          <p:spPr>
            <a:xfrm>
              <a:off x="0" y="-19050"/>
              <a:ext cx="4297680" cy="2221446"/>
            </a:xfrm>
            <a:prstGeom prst="rect">
              <a:avLst/>
            </a:prstGeom>
          </p:spPr>
          <p:txBody>
            <a:bodyPr anchor="ctr" rtlCol="false" tIns="0" lIns="0" bIns="0" rIns="0"/>
            <a:lstStyle/>
            <a:p>
              <a:pPr algn="ctr">
                <a:lnSpc>
                  <a:spcPts val="2700"/>
                </a:lnSpc>
              </a:pPr>
              <a:r>
                <a:rPr lang="en-US" sz="2250" b="true">
                  <a:solidFill>
                    <a:srgbClr val="FFFFFF"/>
                  </a:solidFill>
                  <a:latin typeface="Cambria Bold"/>
                  <a:ea typeface="Cambria Bold"/>
                  <a:cs typeface="Cambria Bold"/>
                  <a:sym typeface="Cambria Bold"/>
                </a:rPr>
                <a:t>Deepseek V4 Pro</a:t>
              </a:r>
            </a:p>
          </p:txBody>
        </p:sp>
      </p:grpSp>
      <p:grpSp>
        <p:nvGrpSpPr>
          <p:cNvPr name="Group 40" id="40"/>
          <p:cNvGrpSpPr/>
          <p:nvPr/>
        </p:nvGrpSpPr>
        <p:grpSpPr>
          <a:xfrm rot="0">
            <a:off x="13755104" y="3157915"/>
            <a:ext cx="3487740" cy="2606040"/>
            <a:chOff x="0" y="0"/>
            <a:chExt cx="4650320" cy="3474720"/>
          </a:xfrm>
        </p:grpSpPr>
        <p:sp>
          <p:nvSpPr>
            <p:cNvPr name="Freeform 41" id="41"/>
            <p:cNvSpPr/>
            <p:nvPr/>
          </p:nvSpPr>
          <p:spPr>
            <a:xfrm flipH="false" flipV="false" rot="0">
              <a:off x="0" y="0"/>
              <a:ext cx="4650320" cy="3474720"/>
            </a:xfrm>
            <a:custGeom>
              <a:avLst/>
              <a:gdLst/>
              <a:ahLst/>
              <a:cxnLst/>
              <a:rect r="r" b="b" t="t" l="l"/>
              <a:pathLst>
                <a:path h="3474720" w="4650320">
                  <a:moveTo>
                    <a:pt x="0" y="0"/>
                  </a:moveTo>
                  <a:lnTo>
                    <a:pt x="4650320" y="0"/>
                  </a:lnTo>
                  <a:lnTo>
                    <a:pt x="4650320" y="3474720"/>
                  </a:lnTo>
                  <a:lnTo>
                    <a:pt x="0" y="3474720"/>
                  </a:lnTo>
                  <a:close/>
                </a:path>
              </a:pathLst>
            </a:custGeom>
            <a:blipFill>
              <a:blip r:embed="rId2">
                <a:alphaModFix amt="0"/>
              </a:blip>
              <a:stretch>
                <a:fillRect l="-51626" t="0" r="-40110" b="0"/>
              </a:stretch>
            </a:blipFill>
          </p:spPr>
        </p:sp>
        <p:sp>
          <p:nvSpPr>
            <p:cNvPr name="TextBox 42" id="42"/>
            <p:cNvSpPr txBox="true"/>
            <p:nvPr/>
          </p:nvSpPr>
          <p:spPr>
            <a:xfrm>
              <a:off x="0" y="-19050"/>
              <a:ext cx="4650320" cy="3493770"/>
            </a:xfrm>
            <a:prstGeom prst="rect">
              <a:avLst/>
            </a:prstGeom>
          </p:spPr>
          <p:txBody>
            <a:bodyPr anchor="ctr" rtlCol="false" tIns="0" lIns="0" bIns="0" rIns="0"/>
            <a:lstStyle/>
            <a:p>
              <a:pPr algn="ctr">
                <a:lnSpc>
                  <a:spcPts val="2770"/>
                </a:lnSpc>
              </a:pPr>
              <a:r>
                <a:rPr lang="en-US" sz="2124">
                  <a:solidFill>
                    <a:srgbClr val="D6DCF5"/>
                  </a:solidFill>
                  <a:latin typeface="DM Sans"/>
                  <a:ea typeface="DM Sans"/>
                  <a:cs typeface="DM Sans"/>
                  <a:sym typeface="DM Sans"/>
                </a:rPr>
                <a:t>Parameters:  1.6 Trillion</a:t>
              </a:r>
            </a:p>
            <a:p>
              <a:pPr algn="ctr">
                <a:lnSpc>
                  <a:spcPts val="2770"/>
                </a:lnSpc>
              </a:pPr>
              <a:r>
                <a:rPr lang="en-US" sz="2124">
                  <a:solidFill>
                    <a:srgbClr val="D6DCF5"/>
                  </a:solidFill>
                  <a:latin typeface="DM Sans"/>
                  <a:ea typeface="DM Sans"/>
                  <a:cs typeface="DM Sans"/>
                  <a:sym typeface="DM Sans"/>
                </a:rPr>
                <a:t>Context length: 1 million token</a:t>
              </a:r>
            </a:p>
            <a:p>
              <a:pPr algn="ctr">
                <a:lnSpc>
                  <a:spcPts val="2771"/>
                </a:lnSpc>
              </a:pPr>
              <a:r>
                <a:rPr lang="en-US" sz="2124">
                  <a:solidFill>
                    <a:srgbClr val="D6DCF5"/>
                  </a:solidFill>
                  <a:latin typeface="DM Sans"/>
                  <a:ea typeface="DM Sans"/>
                  <a:cs typeface="DM Sans"/>
                  <a:sym typeface="DM Sans"/>
                </a:rPr>
                <a:t>Disk size: 893 GB</a:t>
              </a:r>
            </a:p>
          </p:txBody>
        </p:sp>
      </p:grpSp>
      <p:grpSp>
        <p:nvGrpSpPr>
          <p:cNvPr name="Group 43" id="43"/>
          <p:cNvGrpSpPr/>
          <p:nvPr/>
        </p:nvGrpSpPr>
        <p:grpSpPr>
          <a:xfrm rot="0">
            <a:off x="3044095" y="6380878"/>
            <a:ext cx="3771900" cy="3229137"/>
            <a:chOff x="0" y="0"/>
            <a:chExt cx="5029200" cy="4305516"/>
          </a:xfrm>
        </p:grpSpPr>
        <p:sp>
          <p:nvSpPr>
            <p:cNvPr name="Freeform 44" id="44"/>
            <p:cNvSpPr/>
            <p:nvPr/>
          </p:nvSpPr>
          <p:spPr>
            <a:xfrm flipH="false" flipV="false" rot="0">
              <a:off x="0" y="0"/>
              <a:ext cx="5029200" cy="4305516"/>
            </a:xfrm>
            <a:custGeom>
              <a:avLst/>
              <a:gdLst/>
              <a:ahLst/>
              <a:cxnLst/>
              <a:rect r="r" b="b" t="t" l="l"/>
              <a:pathLst>
                <a:path h="4305516" w="5029200">
                  <a:moveTo>
                    <a:pt x="0" y="110398"/>
                  </a:moveTo>
                  <a:cubicBezTo>
                    <a:pt x="0" y="49449"/>
                    <a:pt x="81915" y="0"/>
                    <a:pt x="182880" y="0"/>
                  </a:cubicBezTo>
                  <a:lnTo>
                    <a:pt x="4846320" y="0"/>
                  </a:lnTo>
                  <a:cubicBezTo>
                    <a:pt x="4947285" y="0"/>
                    <a:pt x="5029200" y="49449"/>
                    <a:pt x="5029200" y="110398"/>
                  </a:cubicBezTo>
                  <a:lnTo>
                    <a:pt x="5029200" y="4195118"/>
                  </a:lnTo>
                  <a:cubicBezTo>
                    <a:pt x="5029200" y="4256067"/>
                    <a:pt x="4947285" y="4305516"/>
                    <a:pt x="4846320" y="4305516"/>
                  </a:cubicBezTo>
                  <a:lnTo>
                    <a:pt x="182880" y="4305516"/>
                  </a:lnTo>
                  <a:cubicBezTo>
                    <a:pt x="81915" y="4305515"/>
                    <a:pt x="0" y="4256067"/>
                    <a:pt x="0" y="4195118"/>
                  </a:cubicBezTo>
                  <a:close/>
                </a:path>
              </a:pathLst>
            </a:custGeom>
            <a:solidFill>
              <a:srgbClr val="263172"/>
            </a:solidFill>
          </p:spPr>
        </p:sp>
      </p:grpSp>
      <p:grpSp>
        <p:nvGrpSpPr>
          <p:cNvPr name="Group 45" id="45"/>
          <p:cNvGrpSpPr/>
          <p:nvPr/>
        </p:nvGrpSpPr>
        <p:grpSpPr>
          <a:xfrm rot="0">
            <a:off x="3318415" y="6034007"/>
            <a:ext cx="3223260" cy="1651797"/>
            <a:chOff x="0" y="0"/>
            <a:chExt cx="4297680" cy="2202396"/>
          </a:xfrm>
        </p:grpSpPr>
        <p:sp>
          <p:nvSpPr>
            <p:cNvPr name="Freeform 46" id="46"/>
            <p:cNvSpPr/>
            <p:nvPr/>
          </p:nvSpPr>
          <p:spPr>
            <a:xfrm flipH="false" flipV="false" rot="0">
              <a:off x="0" y="0"/>
              <a:ext cx="4297680" cy="2202396"/>
            </a:xfrm>
            <a:custGeom>
              <a:avLst/>
              <a:gdLst/>
              <a:ahLst/>
              <a:cxnLst/>
              <a:rect r="r" b="b" t="t" l="l"/>
              <a:pathLst>
                <a:path h="2202396" w="4297680">
                  <a:moveTo>
                    <a:pt x="0" y="0"/>
                  </a:moveTo>
                  <a:lnTo>
                    <a:pt x="4297680" y="0"/>
                  </a:lnTo>
                  <a:lnTo>
                    <a:pt x="4297680" y="2202396"/>
                  </a:lnTo>
                  <a:lnTo>
                    <a:pt x="0" y="2202396"/>
                  </a:lnTo>
                  <a:close/>
                </a:path>
              </a:pathLst>
            </a:custGeom>
            <a:blipFill>
              <a:blip r:embed="rId2">
                <a:alphaModFix amt="0"/>
              </a:blip>
              <a:stretch>
                <a:fillRect l="0" t="-15187" r="0" b="39142"/>
              </a:stretch>
            </a:blipFill>
          </p:spPr>
        </p:sp>
        <p:sp>
          <p:nvSpPr>
            <p:cNvPr name="TextBox 47" id="47"/>
            <p:cNvSpPr txBox="true"/>
            <p:nvPr/>
          </p:nvSpPr>
          <p:spPr>
            <a:xfrm>
              <a:off x="0" y="-19050"/>
              <a:ext cx="4297680" cy="2221446"/>
            </a:xfrm>
            <a:prstGeom prst="rect">
              <a:avLst/>
            </a:prstGeom>
          </p:spPr>
          <p:txBody>
            <a:bodyPr anchor="ctr" rtlCol="false" tIns="0" lIns="0" bIns="0" rIns="0"/>
            <a:lstStyle/>
            <a:p>
              <a:pPr algn="ctr">
                <a:lnSpc>
                  <a:spcPts val="2700"/>
                </a:lnSpc>
              </a:pPr>
              <a:r>
                <a:rPr lang="en-US" sz="2250" b="true">
                  <a:solidFill>
                    <a:srgbClr val="FFFFFF"/>
                  </a:solidFill>
                  <a:latin typeface="Cambria Bold"/>
                  <a:ea typeface="Cambria Bold"/>
                  <a:cs typeface="Cambria Bold"/>
                  <a:sym typeface="Cambria Bold"/>
                </a:rPr>
                <a:t>Qwen 3.8-Max</a:t>
              </a:r>
            </a:p>
          </p:txBody>
        </p:sp>
      </p:grpSp>
      <p:grpSp>
        <p:nvGrpSpPr>
          <p:cNvPr name="Group 48" id="48"/>
          <p:cNvGrpSpPr/>
          <p:nvPr/>
        </p:nvGrpSpPr>
        <p:grpSpPr>
          <a:xfrm rot="0">
            <a:off x="3186175" y="6859905"/>
            <a:ext cx="3487740" cy="2606040"/>
            <a:chOff x="0" y="0"/>
            <a:chExt cx="4650320" cy="3474720"/>
          </a:xfrm>
        </p:grpSpPr>
        <p:sp>
          <p:nvSpPr>
            <p:cNvPr name="Freeform 49" id="49"/>
            <p:cNvSpPr/>
            <p:nvPr/>
          </p:nvSpPr>
          <p:spPr>
            <a:xfrm flipH="false" flipV="false" rot="0">
              <a:off x="0" y="0"/>
              <a:ext cx="4650320" cy="3474720"/>
            </a:xfrm>
            <a:custGeom>
              <a:avLst/>
              <a:gdLst/>
              <a:ahLst/>
              <a:cxnLst/>
              <a:rect r="r" b="b" t="t" l="l"/>
              <a:pathLst>
                <a:path h="3474720" w="4650320">
                  <a:moveTo>
                    <a:pt x="0" y="0"/>
                  </a:moveTo>
                  <a:lnTo>
                    <a:pt x="4650320" y="0"/>
                  </a:lnTo>
                  <a:lnTo>
                    <a:pt x="4650320" y="3474720"/>
                  </a:lnTo>
                  <a:lnTo>
                    <a:pt x="0" y="3474720"/>
                  </a:lnTo>
                  <a:close/>
                </a:path>
              </a:pathLst>
            </a:custGeom>
            <a:blipFill>
              <a:blip r:embed="rId2">
                <a:alphaModFix amt="0"/>
              </a:blip>
              <a:stretch>
                <a:fillRect l="-51626" t="0" r="-40110" b="0"/>
              </a:stretch>
            </a:blipFill>
          </p:spPr>
        </p:sp>
        <p:sp>
          <p:nvSpPr>
            <p:cNvPr name="TextBox 50" id="50"/>
            <p:cNvSpPr txBox="true"/>
            <p:nvPr/>
          </p:nvSpPr>
          <p:spPr>
            <a:xfrm>
              <a:off x="0" y="-19050"/>
              <a:ext cx="4650320" cy="3493770"/>
            </a:xfrm>
            <a:prstGeom prst="rect">
              <a:avLst/>
            </a:prstGeom>
          </p:spPr>
          <p:txBody>
            <a:bodyPr anchor="ctr" rtlCol="false" tIns="0" lIns="0" bIns="0" rIns="0"/>
            <a:lstStyle/>
            <a:p>
              <a:pPr algn="ctr">
                <a:lnSpc>
                  <a:spcPts val="2770"/>
                </a:lnSpc>
              </a:pPr>
              <a:r>
                <a:rPr lang="en-US" sz="2124">
                  <a:solidFill>
                    <a:srgbClr val="D6DCF5"/>
                  </a:solidFill>
                  <a:latin typeface="DM Sans"/>
                  <a:ea typeface="DM Sans"/>
                  <a:cs typeface="DM Sans"/>
                  <a:sym typeface="DM Sans"/>
                </a:rPr>
                <a:t>Parameters:  2.4 Trillion</a:t>
              </a:r>
            </a:p>
            <a:p>
              <a:pPr algn="ctr">
                <a:lnSpc>
                  <a:spcPts val="2770"/>
                </a:lnSpc>
              </a:pPr>
              <a:r>
                <a:rPr lang="en-US" sz="2124">
                  <a:solidFill>
                    <a:srgbClr val="D6DCF5"/>
                  </a:solidFill>
                  <a:latin typeface="DM Sans"/>
                  <a:ea typeface="DM Sans"/>
                  <a:cs typeface="DM Sans"/>
                  <a:sym typeface="DM Sans"/>
                </a:rPr>
                <a:t>Context length: 1 million token</a:t>
              </a:r>
            </a:p>
            <a:p>
              <a:pPr algn="ctr">
                <a:lnSpc>
                  <a:spcPts val="2771"/>
                </a:lnSpc>
              </a:pPr>
              <a:r>
                <a:rPr lang="en-US" sz="2124">
                  <a:solidFill>
                    <a:srgbClr val="D6DCF5"/>
                  </a:solidFill>
                  <a:latin typeface="DM Sans"/>
                  <a:ea typeface="DM Sans"/>
                  <a:cs typeface="DM Sans"/>
                  <a:sym typeface="DM Sans"/>
                </a:rPr>
                <a:t>Disk size: 1.2 TB</a:t>
              </a:r>
            </a:p>
          </p:txBody>
        </p:sp>
      </p:grpSp>
      <p:grpSp>
        <p:nvGrpSpPr>
          <p:cNvPr name="Group 51" id="51"/>
          <p:cNvGrpSpPr/>
          <p:nvPr/>
        </p:nvGrpSpPr>
        <p:grpSpPr>
          <a:xfrm rot="0">
            <a:off x="7421625" y="6380878"/>
            <a:ext cx="3771900" cy="3229137"/>
            <a:chOff x="0" y="0"/>
            <a:chExt cx="5029200" cy="4305516"/>
          </a:xfrm>
        </p:grpSpPr>
        <p:sp>
          <p:nvSpPr>
            <p:cNvPr name="Freeform 52" id="52"/>
            <p:cNvSpPr/>
            <p:nvPr/>
          </p:nvSpPr>
          <p:spPr>
            <a:xfrm flipH="false" flipV="false" rot="0">
              <a:off x="0" y="0"/>
              <a:ext cx="5029200" cy="4305516"/>
            </a:xfrm>
            <a:custGeom>
              <a:avLst/>
              <a:gdLst/>
              <a:ahLst/>
              <a:cxnLst/>
              <a:rect r="r" b="b" t="t" l="l"/>
              <a:pathLst>
                <a:path h="4305516" w="5029200">
                  <a:moveTo>
                    <a:pt x="0" y="110398"/>
                  </a:moveTo>
                  <a:cubicBezTo>
                    <a:pt x="0" y="49449"/>
                    <a:pt x="81915" y="0"/>
                    <a:pt x="182880" y="0"/>
                  </a:cubicBezTo>
                  <a:lnTo>
                    <a:pt x="4846320" y="0"/>
                  </a:lnTo>
                  <a:cubicBezTo>
                    <a:pt x="4947285" y="0"/>
                    <a:pt x="5029200" y="49449"/>
                    <a:pt x="5029200" y="110398"/>
                  </a:cubicBezTo>
                  <a:lnTo>
                    <a:pt x="5029200" y="4195118"/>
                  </a:lnTo>
                  <a:cubicBezTo>
                    <a:pt x="5029200" y="4256067"/>
                    <a:pt x="4947285" y="4305516"/>
                    <a:pt x="4846320" y="4305516"/>
                  </a:cubicBezTo>
                  <a:lnTo>
                    <a:pt x="182880" y="4305516"/>
                  </a:lnTo>
                  <a:cubicBezTo>
                    <a:pt x="81915" y="4305515"/>
                    <a:pt x="0" y="4256067"/>
                    <a:pt x="0" y="4195118"/>
                  </a:cubicBezTo>
                  <a:close/>
                </a:path>
              </a:pathLst>
            </a:custGeom>
            <a:solidFill>
              <a:srgbClr val="263172"/>
            </a:solidFill>
          </p:spPr>
        </p:sp>
      </p:grpSp>
      <p:grpSp>
        <p:nvGrpSpPr>
          <p:cNvPr name="Group 53" id="53"/>
          <p:cNvGrpSpPr/>
          <p:nvPr/>
        </p:nvGrpSpPr>
        <p:grpSpPr>
          <a:xfrm rot="0">
            <a:off x="7695945" y="6034007"/>
            <a:ext cx="3223260" cy="1651797"/>
            <a:chOff x="0" y="0"/>
            <a:chExt cx="4297680" cy="2202396"/>
          </a:xfrm>
        </p:grpSpPr>
        <p:sp>
          <p:nvSpPr>
            <p:cNvPr name="Freeform 54" id="54"/>
            <p:cNvSpPr/>
            <p:nvPr/>
          </p:nvSpPr>
          <p:spPr>
            <a:xfrm flipH="false" flipV="false" rot="0">
              <a:off x="0" y="0"/>
              <a:ext cx="4297680" cy="2202396"/>
            </a:xfrm>
            <a:custGeom>
              <a:avLst/>
              <a:gdLst/>
              <a:ahLst/>
              <a:cxnLst/>
              <a:rect r="r" b="b" t="t" l="l"/>
              <a:pathLst>
                <a:path h="2202396" w="4297680">
                  <a:moveTo>
                    <a:pt x="0" y="0"/>
                  </a:moveTo>
                  <a:lnTo>
                    <a:pt x="4297680" y="0"/>
                  </a:lnTo>
                  <a:lnTo>
                    <a:pt x="4297680" y="2202396"/>
                  </a:lnTo>
                  <a:lnTo>
                    <a:pt x="0" y="2202396"/>
                  </a:lnTo>
                  <a:close/>
                </a:path>
              </a:pathLst>
            </a:custGeom>
            <a:blipFill>
              <a:blip r:embed="rId2">
                <a:alphaModFix amt="0"/>
              </a:blip>
              <a:stretch>
                <a:fillRect l="0" t="-15187" r="0" b="39142"/>
              </a:stretch>
            </a:blipFill>
          </p:spPr>
        </p:sp>
        <p:sp>
          <p:nvSpPr>
            <p:cNvPr name="TextBox 55" id="55"/>
            <p:cNvSpPr txBox="true"/>
            <p:nvPr/>
          </p:nvSpPr>
          <p:spPr>
            <a:xfrm>
              <a:off x="0" y="-19050"/>
              <a:ext cx="4297680" cy="2221446"/>
            </a:xfrm>
            <a:prstGeom prst="rect">
              <a:avLst/>
            </a:prstGeom>
          </p:spPr>
          <p:txBody>
            <a:bodyPr anchor="ctr" rtlCol="false" tIns="0" lIns="0" bIns="0" rIns="0"/>
            <a:lstStyle/>
            <a:p>
              <a:pPr algn="ctr">
                <a:lnSpc>
                  <a:spcPts val="2700"/>
                </a:lnSpc>
              </a:pPr>
              <a:r>
                <a:rPr lang="en-US" sz="2250" b="true">
                  <a:solidFill>
                    <a:srgbClr val="FFFFFF"/>
                  </a:solidFill>
                  <a:latin typeface="Cambria Bold"/>
                  <a:ea typeface="Cambria Bold"/>
                  <a:cs typeface="Cambria Bold"/>
                  <a:sym typeface="Cambria Bold"/>
                </a:rPr>
                <a:t>Llama 4 Maverick</a:t>
              </a:r>
            </a:p>
          </p:txBody>
        </p:sp>
      </p:grpSp>
      <p:grpSp>
        <p:nvGrpSpPr>
          <p:cNvPr name="Group 56" id="56"/>
          <p:cNvGrpSpPr/>
          <p:nvPr/>
        </p:nvGrpSpPr>
        <p:grpSpPr>
          <a:xfrm rot="0">
            <a:off x="7563705" y="6859905"/>
            <a:ext cx="3487740" cy="2606040"/>
            <a:chOff x="0" y="0"/>
            <a:chExt cx="4650320" cy="3474720"/>
          </a:xfrm>
        </p:grpSpPr>
        <p:sp>
          <p:nvSpPr>
            <p:cNvPr name="Freeform 57" id="57"/>
            <p:cNvSpPr/>
            <p:nvPr/>
          </p:nvSpPr>
          <p:spPr>
            <a:xfrm flipH="false" flipV="false" rot="0">
              <a:off x="0" y="0"/>
              <a:ext cx="4650320" cy="3474720"/>
            </a:xfrm>
            <a:custGeom>
              <a:avLst/>
              <a:gdLst/>
              <a:ahLst/>
              <a:cxnLst/>
              <a:rect r="r" b="b" t="t" l="l"/>
              <a:pathLst>
                <a:path h="3474720" w="4650320">
                  <a:moveTo>
                    <a:pt x="0" y="0"/>
                  </a:moveTo>
                  <a:lnTo>
                    <a:pt x="4650320" y="0"/>
                  </a:lnTo>
                  <a:lnTo>
                    <a:pt x="4650320" y="3474720"/>
                  </a:lnTo>
                  <a:lnTo>
                    <a:pt x="0" y="3474720"/>
                  </a:lnTo>
                  <a:close/>
                </a:path>
              </a:pathLst>
            </a:custGeom>
            <a:blipFill>
              <a:blip r:embed="rId2">
                <a:alphaModFix amt="0"/>
              </a:blip>
              <a:stretch>
                <a:fillRect l="-51626" t="0" r="-40110" b="0"/>
              </a:stretch>
            </a:blipFill>
          </p:spPr>
        </p:sp>
        <p:sp>
          <p:nvSpPr>
            <p:cNvPr name="TextBox 58" id="58"/>
            <p:cNvSpPr txBox="true"/>
            <p:nvPr/>
          </p:nvSpPr>
          <p:spPr>
            <a:xfrm>
              <a:off x="0" y="-19050"/>
              <a:ext cx="4650320" cy="3493770"/>
            </a:xfrm>
            <a:prstGeom prst="rect">
              <a:avLst/>
            </a:prstGeom>
          </p:spPr>
          <p:txBody>
            <a:bodyPr anchor="ctr" rtlCol="false" tIns="0" lIns="0" bIns="0" rIns="0"/>
            <a:lstStyle/>
            <a:p>
              <a:pPr algn="ctr">
                <a:lnSpc>
                  <a:spcPts val="2770"/>
                </a:lnSpc>
              </a:pPr>
              <a:r>
                <a:rPr lang="en-US" sz="2124">
                  <a:solidFill>
                    <a:srgbClr val="D6DCF5"/>
                  </a:solidFill>
                  <a:latin typeface="DM Sans"/>
                  <a:ea typeface="DM Sans"/>
                  <a:cs typeface="DM Sans"/>
                  <a:sym typeface="DM Sans"/>
                </a:rPr>
                <a:t>Parameters:  400 Billion</a:t>
              </a:r>
            </a:p>
            <a:p>
              <a:pPr algn="ctr">
                <a:lnSpc>
                  <a:spcPts val="2770"/>
                </a:lnSpc>
              </a:pPr>
              <a:r>
                <a:rPr lang="en-US" sz="2124">
                  <a:solidFill>
                    <a:srgbClr val="D6DCF5"/>
                  </a:solidFill>
                  <a:latin typeface="DM Sans"/>
                  <a:ea typeface="DM Sans"/>
                  <a:cs typeface="DM Sans"/>
                  <a:sym typeface="DM Sans"/>
                </a:rPr>
                <a:t>Context length: 1 million token</a:t>
              </a:r>
            </a:p>
            <a:p>
              <a:pPr algn="ctr">
                <a:lnSpc>
                  <a:spcPts val="2771"/>
                </a:lnSpc>
              </a:pPr>
              <a:r>
                <a:rPr lang="en-US" sz="2124">
                  <a:solidFill>
                    <a:srgbClr val="D6DCF5"/>
                  </a:solidFill>
                  <a:latin typeface="DM Sans"/>
                  <a:ea typeface="DM Sans"/>
                  <a:cs typeface="DM Sans"/>
                  <a:sym typeface="DM Sans"/>
                </a:rPr>
                <a:t>Disk size: 800 GB</a:t>
              </a:r>
            </a:p>
          </p:txBody>
        </p:sp>
      </p:grpSp>
      <p:grpSp>
        <p:nvGrpSpPr>
          <p:cNvPr name="Group 59" id="59"/>
          <p:cNvGrpSpPr/>
          <p:nvPr/>
        </p:nvGrpSpPr>
        <p:grpSpPr>
          <a:xfrm rot="0">
            <a:off x="11472005" y="6380878"/>
            <a:ext cx="3771900" cy="3229137"/>
            <a:chOff x="0" y="0"/>
            <a:chExt cx="5029200" cy="4305516"/>
          </a:xfrm>
        </p:grpSpPr>
        <p:sp>
          <p:nvSpPr>
            <p:cNvPr name="Freeform 60" id="60"/>
            <p:cNvSpPr/>
            <p:nvPr/>
          </p:nvSpPr>
          <p:spPr>
            <a:xfrm flipH="false" flipV="false" rot="0">
              <a:off x="0" y="0"/>
              <a:ext cx="5029200" cy="4305516"/>
            </a:xfrm>
            <a:custGeom>
              <a:avLst/>
              <a:gdLst/>
              <a:ahLst/>
              <a:cxnLst/>
              <a:rect r="r" b="b" t="t" l="l"/>
              <a:pathLst>
                <a:path h="4305516" w="5029200">
                  <a:moveTo>
                    <a:pt x="0" y="110398"/>
                  </a:moveTo>
                  <a:cubicBezTo>
                    <a:pt x="0" y="49449"/>
                    <a:pt x="81915" y="0"/>
                    <a:pt x="182880" y="0"/>
                  </a:cubicBezTo>
                  <a:lnTo>
                    <a:pt x="4846320" y="0"/>
                  </a:lnTo>
                  <a:cubicBezTo>
                    <a:pt x="4947285" y="0"/>
                    <a:pt x="5029200" y="49449"/>
                    <a:pt x="5029200" y="110398"/>
                  </a:cubicBezTo>
                  <a:lnTo>
                    <a:pt x="5029200" y="4195118"/>
                  </a:lnTo>
                  <a:cubicBezTo>
                    <a:pt x="5029200" y="4256067"/>
                    <a:pt x="4947285" y="4305516"/>
                    <a:pt x="4846320" y="4305516"/>
                  </a:cubicBezTo>
                  <a:lnTo>
                    <a:pt x="182880" y="4305516"/>
                  </a:lnTo>
                  <a:cubicBezTo>
                    <a:pt x="81915" y="4305515"/>
                    <a:pt x="0" y="4256067"/>
                    <a:pt x="0" y="4195118"/>
                  </a:cubicBezTo>
                  <a:close/>
                </a:path>
              </a:pathLst>
            </a:custGeom>
            <a:solidFill>
              <a:srgbClr val="263172"/>
            </a:solidFill>
          </p:spPr>
        </p:sp>
      </p:grpSp>
      <p:grpSp>
        <p:nvGrpSpPr>
          <p:cNvPr name="Group 61" id="61"/>
          <p:cNvGrpSpPr/>
          <p:nvPr/>
        </p:nvGrpSpPr>
        <p:grpSpPr>
          <a:xfrm rot="0">
            <a:off x="11746325" y="6034007"/>
            <a:ext cx="3223260" cy="1651797"/>
            <a:chOff x="0" y="0"/>
            <a:chExt cx="4297680" cy="2202396"/>
          </a:xfrm>
        </p:grpSpPr>
        <p:sp>
          <p:nvSpPr>
            <p:cNvPr name="Freeform 62" id="62"/>
            <p:cNvSpPr/>
            <p:nvPr/>
          </p:nvSpPr>
          <p:spPr>
            <a:xfrm flipH="false" flipV="false" rot="0">
              <a:off x="0" y="0"/>
              <a:ext cx="4297680" cy="2202396"/>
            </a:xfrm>
            <a:custGeom>
              <a:avLst/>
              <a:gdLst/>
              <a:ahLst/>
              <a:cxnLst/>
              <a:rect r="r" b="b" t="t" l="l"/>
              <a:pathLst>
                <a:path h="2202396" w="4297680">
                  <a:moveTo>
                    <a:pt x="0" y="0"/>
                  </a:moveTo>
                  <a:lnTo>
                    <a:pt x="4297680" y="0"/>
                  </a:lnTo>
                  <a:lnTo>
                    <a:pt x="4297680" y="2202396"/>
                  </a:lnTo>
                  <a:lnTo>
                    <a:pt x="0" y="2202396"/>
                  </a:lnTo>
                  <a:close/>
                </a:path>
              </a:pathLst>
            </a:custGeom>
            <a:blipFill>
              <a:blip r:embed="rId2">
                <a:alphaModFix amt="0"/>
              </a:blip>
              <a:stretch>
                <a:fillRect l="0" t="-15187" r="0" b="39142"/>
              </a:stretch>
            </a:blipFill>
          </p:spPr>
        </p:sp>
        <p:sp>
          <p:nvSpPr>
            <p:cNvPr name="TextBox 63" id="63"/>
            <p:cNvSpPr txBox="true"/>
            <p:nvPr/>
          </p:nvSpPr>
          <p:spPr>
            <a:xfrm>
              <a:off x="0" y="-19050"/>
              <a:ext cx="4297680" cy="2221446"/>
            </a:xfrm>
            <a:prstGeom prst="rect">
              <a:avLst/>
            </a:prstGeom>
          </p:spPr>
          <p:txBody>
            <a:bodyPr anchor="ctr" rtlCol="false" tIns="0" lIns="0" bIns="0" rIns="0"/>
            <a:lstStyle/>
            <a:p>
              <a:pPr algn="ctr">
                <a:lnSpc>
                  <a:spcPts val="2700"/>
                </a:lnSpc>
              </a:pPr>
              <a:r>
                <a:rPr lang="en-US" sz="2250" b="true">
                  <a:solidFill>
                    <a:srgbClr val="FFFFFF"/>
                  </a:solidFill>
                  <a:latin typeface="Cambria Bold"/>
                  <a:ea typeface="Cambria Bold"/>
                  <a:cs typeface="Cambria Bold"/>
                  <a:sym typeface="Cambria Bold"/>
                </a:rPr>
                <a:t>Min-Max M3</a:t>
              </a:r>
            </a:p>
          </p:txBody>
        </p:sp>
      </p:grpSp>
      <p:grpSp>
        <p:nvGrpSpPr>
          <p:cNvPr name="Group 64" id="64"/>
          <p:cNvGrpSpPr/>
          <p:nvPr/>
        </p:nvGrpSpPr>
        <p:grpSpPr>
          <a:xfrm rot="0">
            <a:off x="11614085" y="6859905"/>
            <a:ext cx="3487740" cy="2606040"/>
            <a:chOff x="0" y="0"/>
            <a:chExt cx="4650320" cy="3474720"/>
          </a:xfrm>
        </p:grpSpPr>
        <p:sp>
          <p:nvSpPr>
            <p:cNvPr name="Freeform 65" id="65"/>
            <p:cNvSpPr/>
            <p:nvPr/>
          </p:nvSpPr>
          <p:spPr>
            <a:xfrm flipH="false" flipV="false" rot="0">
              <a:off x="0" y="0"/>
              <a:ext cx="4650320" cy="3474720"/>
            </a:xfrm>
            <a:custGeom>
              <a:avLst/>
              <a:gdLst/>
              <a:ahLst/>
              <a:cxnLst/>
              <a:rect r="r" b="b" t="t" l="l"/>
              <a:pathLst>
                <a:path h="3474720" w="4650320">
                  <a:moveTo>
                    <a:pt x="0" y="0"/>
                  </a:moveTo>
                  <a:lnTo>
                    <a:pt x="4650320" y="0"/>
                  </a:lnTo>
                  <a:lnTo>
                    <a:pt x="4650320" y="3474720"/>
                  </a:lnTo>
                  <a:lnTo>
                    <a:pt x="0" y="3474720"/>
                  </a:lnTo>
                  <a:close/>
                </a:path>
              </a:pathLst>
            </a:custGeom>
            <a:blipFill>
              <a:blip r:embed="rId2">
                <a:alphaModFix amt="0"/>
              </a:blip>
              <a:stretch>
                <a:fillRect l="-51626" t="0" r="-40110" b="0"/>
              </a:stretch>
            </a:blipFill>
          </p:spPr>
        </p:sp>
        <p:sp>
          <p:nvSpPr>
            <p:cNvPr name="TextBox 66" id="66"/>
            <p:cNvSpPr txBox="true"/>
            <p:nvPr/>
          </p:nvSpPr>
          <p:spPr>
            <a:xfrm>
              <a:off x="0" y="-19050"/>
              <a:ext cx="4650320" cy="3493770"/>
            </a:xfrm>
            <a:prstGeom prst="rect">
              <a:avLst/>
            </a:prstGeom>
          </p:spPr>
          <p:txBody>
            <a:bodyPr anchor="ctr" rtlCol="false" tIns="0" lIns="0" bIns="0" rIns="0"/>
            <a:lstStyle/>
            <a:p>
              <a:pPr algn="ctr">
                <a:lnSpc>
                  <a:spcPts val="2770"/>
                </a:lnSpc>
              </a:pPr>
              <a:r>
                <a:rPr lang="en-US" sz="2124">
                  <a:solidFill>
                    <a:srgbClr val="D6DCF5"/>
                  </a:solidFill>
                  <a:latin typeface="DM Sans"/>
                  <a:ea typeface="DM Sans"/>
                  <a:cs typeface="DM Sans"/>
                  <a:sym typeface="DM Sans"/>
                </a:rPr>
                <a:t>Parameters:  428 Billion</a:t>
              </a:r>
            </a:p>
            <a:p>
              <a:pPr algn="ctr">
                <a:lnSpc>
                  <a:spcPts val="2770"/>
                </a:lnSpc>
              </a:pPr>
              <a:r>
                <a:rPr lang="en-US" sz="2124">
                  <a:solidFill>
                    <a:srgbClr val="D6DCF5"/>
                  </a:solidFill>
                  <a:latin typeface="DM Sans"/>
                  <a:ea typeface="DM Sans"/>
                  <a:cs typeface="DM Sans"/>
                  <a:sym typeface="DM Sans"/>
                </a:rPr>
                <a:t>Context length: 1 million token</a:t>
              </a:r>
            </a:p>
            <a:p>
              <a:pPr algn="ctr">
                <a:lnSpc>
                  <a:spcPts val="2771"/>
                </a:lnSpc>
              </a:pPr>
              <a:r>
                <a:rPr lang="en-US" sz="2124">
                  <a:solidFill>
                    <a:srgbClr val="D6DCF5"/>
                  </a:solidFill>
                  <a:latin typeface="DM Sans"/>
                  <a:ea typeface="DM Sans"/>
                  <a:cs typeface="DM Sans"/>
                  <a:sym typeface="DM Sans"/>
                </a:rPr>
                <a:t>Disk size: 128 GB</a:t>
              </a:r>
            </a:p>
          </p:txBody>
        </p:sp>
      </p:grpSp>
      <p:grpSp>
        <p:nvGrpSpPr>
          <p:cNvPr name="Group 67" id="67"/>
          <p:cNvGrpSpPr/>
          <p:nvPr/>
        </p:nvGrpSpPr>
        <p:grpSpPr>
          <a:xfrm rot="0">
            <a:off x="800749" y="1634297"/>
            <a:ext cx="8892642" cy="46196"/>
            <a:chOff x="0" y="0"/>
            <a:chExt cx="1860174" cy="9663"/>
          </a:xfrm>
        </p:grpSpPr>
        <p:sp>
          <p:nvSpPr>
            <p:cNvPr name="Freeform 68" id="68"/>
            <p:cNvSpPr/>
            <p:nvPr/>
          </p:nvSpPr>
          <p:spPr>
            <a:xfrm flipH="false" flipV="false" rot="0">
              <a:off x="0" y="0"/>
              <a:ext cx="1860174" cy="9663"/>
            </a:xfrm>
            <a:custGeom>
              <a:avLst/>
              <a:gdLst/>
              <a:ahLst/>
              <a:cxnLst/>
              <a:rect r="r" b="b" t="t" l="l"/>
              <a:pathLst>
                <a:path h="9663" w="1860174">
                  <a:moveTo>
                    <a:pt x="0" y="4832"/>
                  </a:moveTo>
                  <a:cubicBezTo>
                    <a:pt x="0" y="2163"/>
                    <a:pt x="416308" y="0"/>
                    <a:pt x="930087" y="0"/>
                  </a:cubicBezTo>
                  <a:cubicBezTo>
                    <a:pt x="1443866" y="0"/>
                    <a:pt x="1860174" y="2163"/>
                    <a:pt x="1860174" y="4832"/>
                  </a:cubicBezTo>
                  <a:cubicBezTo>
                    <a:pt x="1860174" y="7501"/>
                    <a:pt x="1443866" y="9663"/>
                    <a:pt x="930087" y="9663"/>
                  </a:cubicBezTo>
                  <a:cubicBezTo>
                    <a:pt x="416308" y="9663"/>
                    <a:pt x="0" y="7501"/>
                    <a:pt x="0" y="4832"/>
                  </a:cubicBezTo>
                  <a:close/>
                </a:path>
              </a:pathLst>
            </a:custGeom>
            <a:solidFill>
              <a:srgbClr val="E8664F"/>
            </a:solid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00147" y="-723696"/>
            <a:ext cx="10972800" cy="3516213"/>
            <a:chOff x="0" y="0"/>
            <a:chExt cx="14630400" cy="4688284"/>
          </a:xfrm>
        </p:grpSpPr>
        <p:sp>
          <p:nvSpPr>
            <p:cNvPr name="Freeform 3" id="3"/>
            <p:cNvSpPr/>
            <p:nvPr/>
          </p:nvSpPr>
          <p:spPr>
            <a:xfrm flipH="false" flipV="false" rot="0">
              <a:off x="0" y="0"/>
              <a:ext cx="14630400" cy="4688284"/>
            </a:xfrm>
            <a:custGeom>
              <a:avLst/>
              <a:gdLst/>
              <a:ahLst/>
              <a:cxnLst/>
              <a:rect r="r" b="b" t="t" l="l"/>
              <a:pathLst>
                <a:path h="4688284" w="14630400">
                  <a:moveTo>
                    <a:pt x="0" y="0"/>
                  </a:moveTo>
                  <a:lnTo>
                    <a:pt x="14630400" y="0"/>
                  </a:lnTo>
                  <a:lnTo>
                    <a:pt x="14630400" y="4688284"/>
                  </a:lnTo>
                  <a:lnTo>
                    <a:pt x="0" y="4688284"/>
                  </a:lnTo>
                  <a:close/>
                </a:path>
              </a:pathLst>
            </a:custGeom>
            <a:blipFill>
              <a:blip r:embed="rId2">
                <a:alphaModFix amt="0"/>
              </a:blip>
              <a:stretch>
                <a:fillRect l="0" t="-49103" r="0" b="27492"/>
              </a:stretch>
            </a:blipFill>
          </p:spPr>
        </p:sp>
        <p:sp>
          <p:nvSpPr>
            <p:cNvPr name="TextBox 4" id="4"/>
            <p:cNvSpPr txBox="true"/>
            <p:nvPr/>
          </p:nvSpPr>
          <p:spPr>
            <a:xfrm>
              <a:off x="0" y="-9525"/>
              <a:ext cx="14630400" cy="4697809"/>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Things to consider</a:t>
              </a:r>
            </a:p>
          </p:txBody>
        </p:sp>
      </p:grpSp>
      <p:grpSp>
        <p:nvGrpSpPr>
          <p:cNvPr name="Group 5" id="5"/>
          <p:cNvGrpSpPr/>
          <p:nvPr/>
        </p:nvGrpSpPr>
        <p:grpSpPr>
          <a:xfrm rot="0">
            <a:off x="960120" y="1481328"/>
            <a:ext cx="13716000" cy="548640"/>
            <a:chOff x="0" y="0"/>
            <a:chExt cx="18288000" cy="731520"/>
          </a:xfrm>
        </p:grpSpPr>
        <p:sp>
          <p:nvSpPr>
            <p:cNvPr name="Freeform 6" id="6"/>
            <p:cNvSpPr/>
            <p:nvPr/>
          </p:nvSpPr>
          <p:spPr>
            <a:xfrm flipH="false" flipV="false" rot="0">
              <a:off x="0" y="0"/>
              <a:ext cx="18288000" cy="731520"/>
            </a:xfrm>
            <a:custGeom>
              <a:avLst/>
              <a:gdLst/>
              <a:ahLst/>
              <a:cxnLst/>
              <a:rect r="r" b="b" t="t" l="l"/>
              <a:pathLst>
                <a:path h="731520" w="18288000">
                  <a:moveTo>
                    <a:pt x="0" y="0"/>
                  </a:moveTo>
                  <a:lnTo>
                    <a:pt x="18288000" y="0"/>
                  </a:lnTo>
                  <a:lnTo>
                    <a:pt x="18288000" y="731520"/>
                  </a:lnTo>
                  <a:lnTo>
                    <a:pt x="0" y="731520"/>
                  </a:lnTo>
                  <a:close/>
                </a:path>
              </a:pathLst>
            </a:custGeom>
            <a:blipFill>
              <a:blip r:embed="rId2">
                <a:alphaModFix amt="0"/>
              </a:blip>
              <a:stretch>
                <a:fillRect l="0" t="-437125" r="0" b="-437125"/>
              </a:stretch>
            </a:blipFill>
          </p:spPr>
        </p:sp>
        <p:sp>
          <p:nvSpPr>
            <p:cNvPr name="TextBox 7" id="7"/>
            <p:cNvSpPr txBox="true"/>
            <p:nvPr/>
          </p:nvSpPr>
          <p:spPr>
            <a:xfrm>
              <a:off x="0" y="-57150"/>
              <a:ext cx="18288000" cy="788670"/>
            </a:xfrm>
            <a:prstGeom prst="rect">
              <a:avLst/>
            </a:prstGeom>
          </p:spPr>
          <p:txBody>
            <a:bodyPr anchor="ctr" rtlCol="false" tIns="0" lIns="0" bIns="0" rIns="0"/>
            <a:lstStyle/>
            <a:p>
              <a:pPr algn="l">
                <a:lnSpc>
                  <a:spcPts val="2700"/>
                </a:lnSpc>
              </a:pPr>
              <a:r>
                <a:rPr lang="en-US" sz="2250" i="true">
                  <a:solidFill>
                    <a:srgbClr val="6E7591"/>
                  </a:solidFill>
                  <a:latin typeface="Calibri (MS) Italics"/>
                  <a:ea typeface="Calibri (MS) Italics"/>
                  <a:cs typeface="Calibri (MS) Italics"/>
                  <a:sym typeface="Calibri (MS) Italics"/>
                </a:rPr>
                <a:t>Changes can be applied to different components</a:t>
              </a:r>
            </a:p>
          </p:txBody>
        </p:sp>
      </p:grpSp>
      <p:grpSp>
        <p:nvGrpSpPr>
          <p:cNvPr name="Group 8" id="8"/>
          <p:cNvGrpSpPr/>
          <p:nvPr/>
        </p:nvGrpSpPr>
        <p:grpSpPr>
          <a:xfrm rot="0">
            <a:off x="960120" y="2400300"/>
            <a:ext cx="3909060" cy="6515100"/>
            <a:chOff x="0" y="0"/>
            <a:chExt cx="5212080" cy="8686800"/>
          </a:xfrm>
        </p:grpSpPr>
        <p:sp>
          <p:nvSpPr>
            <p:cNvPr name="Freeform 9" id="9"/>
            <p:cNvSpPr/>
            <p:nvPr/>
          </p:nvSpPr>
          <p:spPr>
            <a:xfrm flipH="false" flipV="false" rot="0">
              <a:off x="0" y="0"/>
              <a:ext cx="5212080" cy="8686800"/>
            </a:xfrm>
            <a:custGeom>
              <a:avLst/>
              <a:gdLst/>
              <a:ahLst/>
              <a:cxnLst/>
              <a:rect r="r" b="b" t="t" l="l"/>
              <a:pathLst>
                <a:path h="8686800" w="5212080">
                  <a:moveTo>
                    <a:pt x="0" y="182880"/>
                  </a:moveTo>
                  <a:cubicBezTo>
                    <a:pt x="0" y="81915"/>
                    <a:pt x="81915" y="0"/>
                    <a:pt x="182880" y="0"/>
                  </a:cubicBezTo>
                  <a:lnTo>
                    <a:pt x="5029200" y="0"/>
                  </a:lnTo>
                  <a:cubicBezTo>
                    <a:pt x="5130165" y="0"/>
                    <a:pt x="5212080" y="81915"/>
                    <a:pt x="5212080" y="182880"/>
                  </a:cubicBezTo>
                  <a:lnTo>
                    <a:pt x="5212080" y="8503920"/>
                  </a:lnTo>
                  <a:cubicBezTo>
                    <a:pt x="5212080" y="8604885"/>
                    <a:pt x="5130165" y="8686800"/>
                    <a:pt x="5029200" y="8686800"/>
                  </a:cubicBezTo>
                  <a:lnTo>
                    <a:pt x="182880" y="8686800"/>
                  </a:lnTo>
                  <a:cubicBezTo>
                    <a:pt x="81915" y="8686800"/>
                    <a:pt x="0" y="8604885"/>
                    <a:pt x="0" y="8503920"/>
                  </a:cubicBezTo>
                  <a:close/>
                </a:path>
              </a:pathLst>
            </a:custGeom>
            <a:solidFill>
              <a:srgbClr val="F4F6FC"/>
            </a:solidFill>
          </p:spPr>
        </p:sp>
      </p:grpSp>
      <p:grpSp>
        <p:nvGrpSpPr>
          <p:cNvPr name="Group 10" id="10"/>
          <p:cNvGrpSpPr/>
          <p:nvPr/>
        </p:nvGrpSpPr>
        <p:grpSpPr>
          <a:xfrm rot="0">
            <a:off x="960120" y="2400300"/>
            <a:ext cx="3909060" cy="891540"/>
            <a:chOff x="0" y="0"/>
            <a:chExt cx="5212080" cy="1188720"/>
          </a:xfrm>
        </p:grpSpPr>
        <p:sp>
          <p:nvSpPr>
            <p:cNvPr name="Freeform 11" id="11"/>
            <p:cNvSpPr/>
            <p:nvPr/>
          </p:nvSpPr>
          <p:spPr>
            <a:xfrm flipH="false" flipV="false" rot="0">
              <a:off x="0" y="0"/>
              <a:ext cx="5212080" cy="1188720"/>
            </a:xfrm>
            <a:custGeom>
              <a:avLst/>
              <a:gdLst/>
              <a:ahLst/>
              <a:cxnLst/>
              <a:rect r="r" b="b" t="t" l="l"/>
              <a:pathLst>
                <a:path h="1188720" w="5212080">
                  <a:moveTo>
                    <a:pt x="0" y="182880"/>
                  </a:moveTo>
                  <a:cubicBezTo>
                    <a:pt x="0" y="81915"/>
                    <a:pt x="81915" y="0"/>
                    <a:pt x="182880" y="0"/>
                  </a:cubicBezTo>
                  <a:lnTo>
                    <a:pt x="5029200" y="0"/>
                  </a:lnTo>
                  <a:cubicBezTo>
                    <a:pt x="5130165" y="0"/>
                    <a:pt x="5212080" y="81915"/>
                    <a:pt x="5212080" y="182880"/>
                  </a:cubicBezTo>
                  <a:lnTo>
                    <a:pt x="5212080" y="1005840"/>
                  </a:lnTo>
                  <a:cubicBezTo>
                    <a:pt x="5212080" y="1106805"/>
                    <a:pt x="5130165" y="1188720"/>
                    <a:pt x="5029200" y="1188720"/>
                  </a:cubicBezTo>
                  <a:lnTo>
                    <a:pt x="182880" y="1188720"/>
                  </a:lnTo>
                  <a:cubicBezTo>
                    <a:pt x="81915" y="1188720"/>
                    <a:pt x="0" y="1106805"/>
                    <a:pt x="0" y="1005840"/>
                  </a:cubicBezTo>
                  <a:close/>
                </a:path>
              </a:pathLst>
            </a:custGeom>
            <a:solidFill>
              <a:srgbClr val="1E2761"/>
            </a:solidFill>
          </p:spPr>
        </p:sp>
      </p:grpSp>
      <p:grpSp>
        <p:nvGrpSpPr>
          <p:cNvPr name="Group 12" id="12"/>
          <p:cNvGrpSpPr/>
          <p:nvPr/>
        </p:nvGrpSpPr>
        <p:grpSpPr>
          <a:xfrm rot="0">
            <a:off x="1225901" y="2100095"/>
            <a:ext cx="3497580" cy="1535962"/>
            <a:chOff x="0" y="0"/>
            <a:chExt cx="4663440" cy="2047949"/>
          </a:xfrm>
        </p:grpSpPr>
        <p:sp>
          <p:nvSpPr>
            <p:cNvPr name="Freeform 13" id="13"/>
            <p:cNvSpPr/>
            <p:nvPr/>
          </p:nvSpPr>
          <p:spPr>
            <a:xfrm flipH="false" flipV="false" rot="0">
              <a:off x="0" y="0"/>
              <a:ext cx="4663440" cy="2047949"/>
            </a:xfrm>
            <a:custGeom>
              <a:avLst/>
              <a:gdLst/>
              <a:ahLst/>
              <a:cxnLst/>
              <a:rect r="r" b="b" t="t" l="l"/>
              <a:pathLst>
                <a:path h="2047949" w="4663440">
                  <a:moveTo>
                    <a:pt x="0" y="0"/>
                  </a:moveTo>
                  <a:lnTo>
                    <a:pt x="4663440" y="0"/>
                  </a:lnTo>
                  <a:lnTo>
                    <a:pt x="4663440" y="2047949"/>
                  </a:lnTo>
                  <a:lnTo>
                    <a:pt x="0" y="2047949"/>
                  </a:lnTo>
                  <a:close/>
                </a:path>
              </a:pathLst>
            </a:custGeom>
            <a:blipFill>
              <a:blip r:embed="rId2">
                <a:alphaModFix amt="0"/>
              </a:blip>
              <a:stretch>
                <a:fillRect l="0" t="-15347" r="0" b="26607"/>
              </a:stretch>
            </a:blipFill>
          </p:spPr>
        </p:sp>
        <p:sp>
          <p:nvSpPr>
            <p:cNvPr name="TextBox 14" id="14"/>
            <p:cNvSpPr txBox="true"/>
            <p:nvPr/>
          </p:nvSpPr>
          <p:spPr>
            <a:xfrm>
              <a:off x="0" y="-19050"/>
              <a:ext cx="4663440" cy="2066999"/>
            </a:xfrm>
            <a:prstGeom prst="rect">
              <a:avLst/>
            </a:prstGeom>
          </p:spPr>
          <p:txBody>
            <a:bodyPr anchor="ctr" rtlCol="false" tIns="0" lIns="0" bIns="0" rIns="0"/>
            <a:lstStyle/>
            <a:p>
              <a:pPr algn="l">
                <a:lnSpc>
                  <a:spcPts val="2520"/>
                </a:lnSpc>
              </a:pPr>
              <a:r>
                <a:rPr lang="en-US" sz="2100" b="true">
                  <a:solidFill>
                    <a:srgbClr val="FFFFFF"/>
                  </a:solidFill>
                  <a:latin typeface="Cambria Bold"/>
                  <a:ea typeface="Cambria Bold"/>
                  <a:cs typeface="Cambria Bold"/>
                  <a:sym typeface="Cambria Bold"/>
                </a:rPr>
                <a:t>Core </a:t>
              </a:r>
              <a:r>
                <a:rPr lang="en-US" sz="2100" b="true">
                  <a:solidFill>
                    <a:srgbClr val="FFFFFF"/>
                  </a:solidFill>
                  <a:latin typeface="Cambria Bold"/>
                  <a:ea typeface="Cambria Bold"/>
                  <a:cs typeface="Cambria Bold"/>
                  <a:sym typeface="Cambria Bold"/>
                </a:rPr>
                <a:t>Architecture</a:t>
              </a:r>
            </a:p>
          </p:txBody>
        </p:sp>
      </p:grpSp>
      <p:grpSp>
        <p:nvGrpSpPr>
          <p:cNvPr name="Group 15" id="15"/>
          <p:cNvGrpSpPr/>
          <p:nvPr/>
        </p:nvGrpSpPr>
        <p:grpSpPr>
          <a:xfrm rot="0">
            <a:off x="1303020" y="3758184"/>
            <a:ext cx="123444" cy="123444"/>
            <a:chOff x="0" y="0"/>
            <a:chExt cx="164592" cy="164592"/>
          </a:xfrm>
        </p:grpSpPr>
        <p:sp>
          <p:nvSpPr>
            <p:cNvPr name="Freeform 16" id="16"/>
            <p:cNvSpPr/>
            <p:nvPr/>
          </p:nvSpPr>
          <p:spPr>
            <a:xfrm flipH="false" flipV="false" rot="0">
              <a:off x="0" y="0"/>
              <a:ext cx="164592" cy="164592"/>
            </a:xfrm>
            <a:custGeom>
              <a:avLst/>
              <a:gdLst/>
              <a:ahLst/>
              <a:cxnLst/>
              <a:rect r="r" b="b" t="t" l="l"/>
              <a:pathLst>
                <a:path h="164592" w="164592">
                  <a:moveTo>
                    <a:pt x="0" y="82296"/>
                  </a:moveTo>
                  <a:cubicBezTo>
                    <a:pt x="0" y="36830"/>
                    <a:pt x="36830" y="0"/>
                    <a:pt x="82296" y="0"/>
                  </a:cubicBezTo>
                  <a:cubicBezTo>
                    <a:pt x="127762" y="0"/>
                    <a:pt x="164592" y="36830"/>
                    <a:pt x="164592" y="82296"/>
                  </a:cubicBezTo>
                  <a:cubicBezTo>
                    <a:pt x="164592" y="127762"/>
                    <a:pt x="127762" y="164592"/>
                    <a:pt x="82296" y="164592"/>
                  </a:cubicBezTo>
                  <a:cubicBezTo>
                    <a:pt x="36830" y="164592"/>
                    <a:pt x="0" y="127762"/>
                    <a:pt x="0" y="82296"/>
                  </a:cubicBezTo>
                  <a:close/>
                </a:path>
              </a:pathLst>
            </a:custGeom>
            <a:solidFill>
              <a:srgbClr val="1E2761"/>
            </a:solidFill>
          </p:spPr>
        </p:sp>
      </p:grpSp>
      <p:grpSp>
        <p:nvGrpSpPr>
          <p:cNvPr name="Group 17" id="17"/>
          <p:cNvGrpSpPr/>
          <p:nvPr/>
        </p:nvGrpSpPr>
        <p:grpSpPr>
          <a:xfrm rot="0">
            <a:off x="1577340" y="3634740"/>
            <a:ext cx="3017520" cy="685800"/>
            <a:chOff x="0" y="0"/>
            <a:chExt cx="4023360" cy="914400"/>
          </a:xfrm>
        </p:grpSpPr>
        <p:sp>
          <p:nvSpPr>
            <p:cNvPr name="Freeform 18" id="18"/>
            <p:cNvSpPr/>
            <p:nvPr/>
          </p:nvSpPr>
          <p:spPr>
            <a:xfrm flipH="false" flipV="false" rot="0">
              <a:off x="0" y="0"/>
              <a:ext cx="4023360" cy="914400"/>
            </a:xfrm>
            <a:custGeom>
              <a:avLst/>
              <a:gdLst/>
              <a:ahLst/>
              <a:cxnLst/>
              <a:rect r="r" b="b" t="t" l="l"/>
              <a:pathLst>
                <a:path h="914400" w="4023360">
                  <a:moveTo>
                    <a:pt x="0" y="0"/>
                  </a:moveTo>
                  <a:lnTo>
                    <a:pt x="4023360" y="0"/>
                  </a:lnTo>
                  <a:lnTo>
                    <a:pt x="4023360" y="914400"/>
                  </a:lnTo>
                  <a:lnTo>
                    <a:pt x="0" y="914400"/>
                  </a:lnTo>
                  <a:close/>
                </a:path>
              </a:pathLst>
            </a:custGeom>
            <a:blipFill>
              <a:blip r:embed="rId2">
                <a:alphaModFix amt="0"/>
              </a:blip>
              <a:stretch>
                <a:fillRect l="0" t="-35734" r="0" b="-35734"/>
              </a:stretch>
            </a:blipFill>
          </p:spPr>
        </p:sp>
        <p:sp>
          <p:nvSpPr>
            <p:cNvPr name="TextBox 19" id="19"/>
            <p:cNvSpPr txBox="true"/>
            <p:nvPr/>
          </p:nvSpPr>
          <p:spPr>
            <a:xfrm>
              <a:off x="0" y="-38100"/>
              <a:ext cx="4023360" cy="952500"/>
            </a:xfrm>
            <a:prstGeom prst="rect">
              <a:avLst/>
            </a:prstGeom>
          </p:spPr>
          <p:txBody>
            <a:bodyPr anchor="ctr" rtlCol="false" tIns="0" lIns="0" bIns="0" rIns="0"/>
            <a:lstStyle/>
            <a:p>
              <a:pPr algn="l">
                <a:lnSpc>
                  <a:spcPts val="2250"/>
                </a:lnSpc>
              </a:pPr>
              <a:r>
                <a:rPr lang="en-US" sz="1875">
                  <a:solidFill>
                    <a:srgbClr val="2B2B38"/>
                  </a:solidFill>
                  <a:latin typeface="Calibri (MS)"/>
                  <a:ea typeface="Calibri (MS)"/>
                  <a:cs typeface="Calibri (MS)"/>
                  <a:sym typeface="Calibri (MS)"/>
                </a:rPr>
                <a:t>Naive RAG</a:t>
              </a:r>
            </a:p>
          </p:txBody>
        </p:sp>
      </p:grpSp>
      <p:grpSp>
        <p:nvGrpSpPr>
          <p:cNvPr name="Group 20" id="20"/>
          <p:cNvGrpSpPr/>
          <p:nvPr/>
        </p:nvGrpSpPr>
        <p:grpSpPr>
          <a:xfrm rot="0">
            <a:off x="1303020" y="4608576"/>
            <a:ext cx="123444" cy="123444"/>
            <a:chOff x="0" y="0"/>
            <a:chExt cx="164592" cy="164592"/>
          </a:xfrm>
        </p:grpSpPr>
        <p:sp>
          <p:nvSpPr>
            <p:cNvPr name="Freeform 21" id="21"/>
            <p:cNvSpPr/>
            <p:nvPr/>
          </p:nvSpPr>
          <p:spPr>
            <a:xfrm flipH="false" flipV="false" rot="0">
              <a:off x="0" y="0"/>
              <a:ext cx="164592" cy="164592"/>
            </a:xfrm>
            <a:custGeom>
              <a:avLst/>
              <a:gdLst/>
              <a:ahLst/>
              <a:cxnLst/>
              <a:rect r="r" b="b" t="t" l="l"/>
              <a:pathLst>
                <a:path h="164592" w="164592">
                  <a:moveTo>
                    <a:pt x="0" y="82296"/>
                  </a:moveTo>
                  <a:cubicBezTo>
                    <a:pt x="0" y="36830"/>
                    <a:pt x="36830" y="0"/>
                    <a:pt x="82296" y="0"/>
                  </a:cubicBezTo>
                  <a:cubicBezTo>
                    <a:pt x="127762" y="0"/>
                    <a:pt x="164592" y="36830"/>
                    <a:pt x="164592" y="82296"/>
                  </a:cubicBezTo>
                  <a:cubicBezTo>
                    <a:pt x="164592" y="127762"/>
                    <a:pt x="127762" y="164592"/>
                    <a:pt x="82296" y="164592"/>
                  </a:cubicBezTo>
                  <a:cubicBezTo>
                    <a:pt x="36830" y="164592"/>
                    <a:pt x="0" y="127762"/>
                    <a:pt x="0" y="82296"/>
                  </a:cubicBezTo>
                  <a:close/>
                </a:path>
              </a:pathLst>
            </a:custGeom>
            <a:solidFill>
              <a:srgbClr val="1E2761"/>
            </a:solidFill>
          </p:spPr>
        </p:sp>
      </p:grpSp>
      <p:grpSp>
        <p:nvGrpSpPr>
          <p:cNvPr name="Group 22" id="22"/>
          <p:cNvGrpSpPr/>
          <p:nvPr/>
        </p:nvGrpSpPr>
        <p:grpSpPr>
          <a:xfrm rot="0">
            <a:off x="1577340" y="4485132"/>
            <a:ext cx="3017520" cy="685800"/>
            <a:chOff x="0" y="0"/>
            <a:chExt cx="4023360" cy="914400"/>
          </a:xfrm>
        </p:grpSpPr>
        <p:sp>
          <p:nvSpPr>
            <p:cNvPr name="Freeform 23" id="23"/>
            <p:cNvSpPr/>
            <p:nvPr/>
          </p:nvSpPr>
          <p:spPr>
            <a:xfrm flipH="false" flipV="false" rot="0">
              <a:off x="0" y="0"/>
              <a:ext cx="4023360" cy="914400"/>
            </a:xfrm>
            <a:custGeom>
              <a:avLst/>
              <a:gdLst/>
              <a:ahLst/>
              <a:cxnLst/>
              <a:rect r="r" b="b" t="t" l="l"/>
              <a:pathLst>
                <a:path h="914400" w="4023360">
                  <a:moveTo>
                    <a:pt x="0" y="0"/>
                  </a:moveTo>
                  <a:lnTo>
                    <a:pt x="4023360" y="0"/>
                  </a:lnTo>
                  <a:lnTo>
                    <a:pt x="4023360" y="914400"/>
                  </a:lnTo>
                  <a:lnTo>
                    <a:pt x="0" y="914400"/>
                  </a:lnTo>
                  <a:close/>
                </a:path>
              </a:pathLst>
            </a:custGeom>
            <a:blipFill>
              <a:blip r:embed="rId2">
                <a:alphaModFix amt="0"/>
              </a:blip>
              <a:stretch>
                <a:fillRect l="0" t="-35734" r="0" b="-35734"/>
              </a:stretch>
            </a:blipFill>
          </p:spPr>
        </p:sp>
        <p:sp>
          <p:nvSpPr>
            <p:cNvPr name="TextBox 24" id="24"/>
            <p:cNvSpPr txBox="true"/>
            <p:nvPr/>
          </p:nvSpPr>
          <p:spPr>
            <a:xfrm>
              <a:off x="0" y="-38100"/>
              <a:ext cx="4023360" cy="952500"/>
            </a:xfrm>
            <a:prstGeom prst="rect">
              <a:avLst/>
            </a:prstGeom>
          </p:spPr>
          <p:txBody>
            <a:bodyPr anchor="ctr" rtlCol="false" tIns="0" lIns="0" bIns="0" rIns="0"/>
            <a:lstStyle/>
            <a:p>
              <a:pPr algn="l">
                <a:lnSpc>
                  <a:spcPts val="2250"/>
                </a:lnSpc>
              </a:pPr>
              <a:r>
                <a:rPr lang="en-US" sz="1875">
                  <a:solidFill>
                    <a:srgbClr val="2B2B38"/>
                  </a:solidFill>
                  <a:latin typeface="Calibri (MS)"/>
                  <a:ea typeface="Calibri (MS)"/>
                  <a:cs typeface="Calibri (MS)"/>
                  <a:sym typeface="Calibri (MS)"/>
                </a:rPr>
                <a:t>Advanced RAG</a:t>
              </a:r>
            </a:p>
          </p:txBody>
        </p:sp>
      </p:grpSp>
      <p:grpSp>
        <p:nvGrpSpPr>
          <p:cNvPr name="Group 25" id="25"/>
          <p:cNvGrpSpPr/>
          <p:nvPr/>
        </p:nvGrpSpPr>
        <p:grpSpPr>
          <a:xfrm rot="0">
            <a:off x="1303020" y="5458968"/>
            <a:ext cx="123444" cy="123444"/>
            <a:chOff x="0" y="0"/>
            <a:chExt cx="164592" cy="164592"/>
          </a:xfrm>
        </p:grpSpPr>
        <p:sp>
          <p:nvSpPr>
            <p:cNvPr name="Freeform 26" id="26"/>
            <p:cNvSpPr/>
            <p:nvPr/>
          </p:nvSpPr>
          <p:spPr>
            <a:xfrm flipH="false" flipV="false" rot="0">
              <a:off x="0" y="0"/>
              <a:ext cx="164592" cy="164592"/>
            </a:xfrm>
            <a:custGeom>
              <a:avLst/>
              <a:gdLst/>
              <a:ahLst/>
              <a:cxnLst/>
              <a:rect r="r" b="b" t="t" l="l"/>
              <a:pathLst>
                <a:path h="164592" w="164592">
                  <a:moveTo>
                    <a:pt x="0" y="82296"/>
                  </a:moveTo>
                  <a:cubicBezTo>
                    <a:pt x="0" y="36830"/>
                    <a:pt x="36830" y="0"/>
                    <a:pt x="82296" y="0"/>
                  </a:cubicBezTo>
                  <a:cubicBezTo>
                    <a:pt x="127762" y="0"/>
                    <a:pt x="164592" y="36830"/>
                    <a:pt x="164592" y="82296"/>
                  </a:cubicBezTo>
                  <a:cubicBezTo>
                    <a:pt x="164592" y="127762"/>
                    <a:pt x="127762" y="164592"/>
                    <a:pt x="82296" y="164592"/>
                  </a:cubicBezTo>
                  <a:cubicBezTo>
                    <a:pt x="36830" y="164592"/>
                    <a:pt x="0" y="127762"/>
                    <a:pt x="0" y="82296"/>
                  </a:cubicBezTo>
                  <a:close/>
                </a:path>
              </a:pathLst>
            </a:custGeom>
            <a:solidFill>
              <a:srgbClr val="1E2761"/>
            </a:solidFill>
          </p:spPr>
        </p:sp>
      </p:grpSp>
      <p:grpSp>
        <p:nvGrpSpPr>
          <p:cNvPr name="Group 27" id="27"/>
          <p:cNvGrpSpPr/>
          <p:nvPr/>
        </p:nvGrpSpPr>
        <p:grpSpPr>
          <a:xfrm rot="0">
            <a:off x="1577340" y="5335524"/>
            <a:ext cx="3017520" cy="685800"/>
            <a:chOff x="0" y="0"/>
            <a:chExt cx="4023360" cy="914400"/>
          </a:xfrm>
        </p:grpSpPr>
        <p:sp>
          <p:nvSpPr>
            <p:cNvPr name="Freeform 28" id="28"/>
            <p:cNvSpPr/>
            <p:nvPr/>
          </p:nvSpPr>
          <p:spPr>
            <a:xfrm flipH="false" flipV="false" rot="0">
              <a:off x="0" y="0"/>
              <a:ext cx="4023360" cy="914400"/>
            </a:xfrm>
            <a:custGeom>
              <a:avLst/>
              <a:gdLst/>
              <a:ahLst/>
              <a:cxnLst/>
              <a:rect r="r" b="b" t="t" l="l"/>
              <a:pathLst>
                <a:path h="914400" w="4023360">
                  <a:moveTo>
                    <a:pt x="0" y="0"/>
                  </a:moveTo>
                  <a:lnTo>
                    <a:pt x="4023360" y="0"/>
                  </a:lnTo>
                  <a:lnTo>
                    <a:pt x="4023360" y="914400"/>
                  </a:lnTo>
                  <a:lnTo>
                    <a:pt x="0" y="914400"/>
                  </a:lnTo>
                  <a:close/>
                </a:path>
              </a:pathLst>
            </a:custGeom>
            <a:blipFill>
              <a:blip r:embed="rId2">
                <a:alphaModFix amt="0"/>
              </a:blip>
              <a:stretch>
                <a:fillRect l="0" t="-35734" r="0" b="-35734"/>
              </a:stretch>
            </a:blipFill>
          </p:spPr>
        </p:sp>
        <p:sp>
          <p:nvSpPr>
            <p:cNvPr name="TextBox 29" id="29"/>
            <p:cNvSpPr txBox="true"/>
            <p:nvPr/>
          </p:nvSpPr>
          <p:spPr>
            <a:xfrm>
              <a:off x="0" y="-38100"/>
              <a:ext cx="4023360" cy="952500"/>
            </a:xfrm>
            <a:prstGeom prst="rect">
              <a:avLst/>
            </a:prstGeom>
          </p:spPr>
          <p:txBody>
            <a:bodyPr anchor="ctr" rtlCol="false" tIns="0" lIns="0" bIns="0" rIns="0"/>
            <a:lstStyle/>
            <a:p>
              <a:pPr algn="l">
                <a:lnSpc>
                  <a:spcPts val="2250"/>
                </a:lnSpc>
              </a:pPr>
              <a:r>
                <a:rPr lang="en-US" sz="1875">
                  <a:solidFill>
                    <a:srgbClr val="2B2B38"/>
                  </a:solidFill>
                  <a:latin typeface="Calibri (MS)"/>
                  <a:ea typeface="Calibri (MS)"/>
                  <a:cs typeface="Calibri (MS)"/>
                  <a:sym typeface="Calibri (MS)"/>
                </a:rPr>
                <a:t>Modular RAG</a:t>
              </a:r>
            </a:p>
          </p:txBody>
        </p:sp>
      </p:grpSp>
      <p:grpSp>
        <p:nvGrpSpPr>
          <p:cNvPr name="Group 30" id="30"/>
          <p:cNvGrpSpPr/>
          <p:nvPr/>
        </p:nvGrpSpPr>
        <p:grpSpPr>
          <a:xfrm rot="0">
            <a:off x="1303020" y="6309360"/>
            <a:ext cx="123444" cy="123444"/>
            <a:chOff x="0" y="0"/>
            <a:chExt cx="164592" cy="164592"/>
          </a:xfrm>
        </p:grpSpPr>
        <p:sp>
          <p:nvSpPr>
            <p:cNvPr name="Freeform 31" id="31"/>
            <p:cNvSpPr/>
            <p:nvPr/>
          </p:nvSpPr>
          <p:spPr>
            <a:xfrm flipH="false" flipV="false" rot="0">
              <a:off x="0" y="0"/>
              <a:ext cx="164592" cy="164592"/>
            </a:xfrm>
            <a:custGeom>
              <a:avLst/>
              <a:gdLst/>
              <a:ahLst/>
              <a:cxnLst/>
              <a:rect r="r" b="b" t="t" l="l"/>
              <a:pathLst>
                <a:path h="164592" w="164592">
                  <a:moveTo>
                    <a:pt x="0" y="82296"/>
                  </a:moveTo>
                  <a:cubicBezTo>
                    <a:pt x="0" y="36830"/>
                    <a:pt x="36830" y="0"/>
                    <a:pt x="82296" y="0"/>
                  </a:cubicBezTo>
                  <a:cubicBezTo>
                    <a:pt x="127762" y="0"/>
                    <a:pt x="164592" y="36830"/>
                    <a:pt x="164592" y="82296"/>
                  </a:cubicBezTo>
                  <a:cubicBezTo>
                    <a:pt x="164592" y="127762"/>
                    <a:pt x="127762" y="164592"/>
                    <a:pt x="82296" y="164592"/>
                  </a:cubicBezTo>
                  <a:cubicBezTo>
                    <a:pt x="36830" y="164592"/>
                    <a:pt x="0" y="127762"/>
                    <a:pt x="0" y="82296"/>
                  </a:cubicBezTo>
                  <a:close/>
                </a:path>
              </a:pathLst>
            </a:custGeom>
            <a:solidFill>
              <a:srgbClr val="1E2761"/>
            </a:solidFill>
          </p:spPr>
        </p:sp>
      </p:grpSp>
      <p:grpSp>
        <p:nvGrpSpPr>
          <p:cNvPr name="Group 32" id="32"/>
          <p:cNvGrpSpPr/>
          <p:nvPr/>
        </p:nvGrpSpPr>
        <p:grpSpPr>
          <a:xfrm rot="0">
            <a:off x="1577340" y="6185916"/>
            <a:ext cx="3017520" cy="685800"/>
            <a:chOff x="0" y="0"/>
            <a:chExt cx="4023360" cy="914400"/>
          </a:xfrm>
        </p:grpSpPr>
        <p:sp>
          <p:nvSpPr>
            <p:cNvPr name="Freeform 33" id="33"/>
            <p:cNvSpPr/>
            <p:nvPr/>
          </p:nvSpPr>
          <p:spPr>
            <a:xfrm flipH="false" flipV="false" rot="0">
              <a:off x="0" y="0"/>
              <a:ext cx="4023360" cy="914400"/>
            </a:xfrm>
            <a:custGeom>
              <a:avLst/>
              <a:gdLst/>
              <a:ahLst/>
              <a:cxnLst/>
              <a:rect r="r" b="b" t="t" l="l"/>
              <a:pathLst>
                <a:path h="914400" w="4023360">
                  <a:moveTo>
                    <a:pt x="0" y="0"/>
                  </a:moveTo>
                  <a:lnTo>
                    <a:pt x="4023360" y="0"/>
                  </a:lnTo>
                  <a:lnTo>
                    <a:pt x="4023360" y="914400"/>
                  </a:lnTo>
                  <a:lnTo>
                    <a:pt x="0" y="914400"/>
                  </a:lnTo>
                  <a:close/>
                </a:path>
              </a:pathLst>
            </a:custGeom>
            <a:blipFill>
              <a:blip r:embed="rId2">
                <a:alphaModFix amt="0"/>
              </a:blip>
              <a:stretch>
                <a:fillRect l="0" t="-35734" r="0" b="-35734"/>
              </a:stretch>
            </a:blipFill>
          </p:spPr>
        </p:sp>
        <p:sp>
          <p:nvSpPr>
            <p:cNvPr name="TextBox 34" id="34"/>
            <p:cNvSpPr txBox="true"/>
            <p:nvPr/>
          </p:nvSpPr>
          <p:spPr>
            <a:xfrm>
              <a:off x="0" y="-38100"/>
              <a:ext cx="4023360" cy="952500"/>
            </a:xfrm>
            <a:prstGeom prst="rect">
              <a:avLst/>
            </a:prstGeom>
          </p:spPr>
          <p:txBody>
            <a:bodyPr anchor="ctr" rtlCol="false" tIns="0" lIns="0" bIns="0" rIns="0"/>
            <a:lstStyle/>
            <a:p>
              <a:pPr algn="l">
                <a:lnSpc>
                  <a:spcPts val="2250"/>
                </a:lnSpc>
              </a:pPr>
              <a:r>
                <a:rPr lang="en-US" sz="1875">
                  <a:solidFill>
                    <a:srgbClr val="2B2B38"/>
                  </a:solidFill>
                  <a:latin typeface="Calibri (MS)"/>
                  <a:ea typeface="Calibri (MS)"/>
                  <a:cs typeface="Calibri (MS)"/>
                  <a:sym typeface="Calibri (MS)"/>
                </a:rPr>
                <a:t>Agentic RAG</a:t>
              </a:r>
            </a:p>
          </p:txBody>
        </p:sp>
      </p:grpSp>
      <p:grpSp>
        <p:nvGrpSpPr>
          <p:cNvPr name="Group 35" id="35"/>
          <p:cNvGrpSpPr/>
          <p:nvPr/>
        </p:nvGrpSpPr>
        <p:grpSpPr>
          <a:xfrm rot="0">
            <a:off x="5212080" y="2400300"/>
            <a:ext cx="3909060" cy="6515100"/>
            <a:chOff x="0" y="0"/>
            <a:chExt cx="5212080" cy="8686800"/>
          </a:xfrm>
        </p:grpSpPr>
        <p:sp>
          <p:nvSpPr>
            <p:cNvPr name="Freeform 36" id="36"/>
            <p:cNvSpPr/>
            <p:nvPr/>
          </p:nvSpPr>
          <p:spPr>
            <a:xfrm flipH="false" flipV="false" rot="0">
              <a:off x="0" y="0"/>
              <a:ext cx="5212080" cy="8686800"/>
            </a:xfrm>
            <a:custGeom>
              <a:avLst/>
              <a:gdLst/>
              <a:ahLst/>
              <a:cxnLst/>
              <a:rect r="r" b="b" t="t" l="l"/>
              <a:pathLst>
                <a:path h="8686800" w="5212080">
                  <a:moveTo>
                    <a:pt x="0" y="182880"/>
                  </a:moveTo>
                  <a:cubicBezTo>
                    <a:pt x="0" y="81915"/>
                    <a:pt x="81915" y="0"/>
                    <a:pt x="182880" y="0"/>
                  </a:cubicBezTo>
                  <a:lnTo>
                    <a:pt x="5029200" y="0"/>
                  </a:lnTo>
                  <a:cubicBezTo>
                    <a:pt x="5130165" y="0"/>
                    <a:pt x="5212080" y="81915"/>
                    <a:pt x="5212080" y="182880"/>
                  </a:cubicBezTo>
                  <a:lnTo>
                    <a:pt x="5212080" y="8503920"/>
                  </a:lnTo>
                  <a:cubicBezTo>
                    <a:pt x="5212080" y="8604885"/>
                    <a:pt x="5130165" y="8686800"/>
                    <a:pt x="5029200" y="8686800"/>
                  </a:cubicBezTo>
                  <a:lnTo>
                    <a:pt x="182880" y="8686800"/>
                  </a:lnTo>
                  <a:cubicBezTo>
                    <a:pt x="81915" y="8686800"/>
                    <a:pt x="0" y="8604885"/>
                    <a:pt x="0" y="8503920"/>
                  </a:cubicBezTo>
                  <a:close/>
                </a:path>
              </a:pathLst>
            </a:custGeom>
            <a:solidFill>
              <a:srgbClr val="F4F6FC"/>
            </a:solidFill>
          </p:spPr>
        </p:sp>
      </p:grpSp>
      <p:grpSp>
        <p:nvGrpSpPr>
          <p:cNvPr name="Group 37" id="37"/>
          <p:cNvGrpSpPr/>
          <p:nvPr/>
        </p:nvGrpSpPr>
        <p:grpSpPr>
          <a:xfrm rot="0">
            <a:off x="5212080" y="2400300"/>
            <a:ext cx="3909060" cy="891540"/>
            <a:chOff x="0" y="0"/>
            <a:chExt cx="5212080" cy="1188720"/>
          </a:xfrm>
        </p:grpSpPr>
        <p:sp>
          <p:nvSpPr>
            <p:cNvPr name="Freeform 38" id="38"/>
            <p:cNvSpPr/>
            <p:nvPr/>
          </p:nvSpPr>
          <p:spPr>
            <a:xfrm flipH="false" flipV="false" rot="0">
              <a:off x="0" y="0"/>
              <a:ext cx="5212080" cy="1188720"/>
            </a:xfrm>
            <a:custGeom>
              <a:avLst/>
              <a:gdLst/>
              <a:ahLst/>
              <a:cxnLst/>
              <a:rect r="r" b="b" t="t" l="l"/>
              <a:pathLst>
                <a:path h="1188720" w="5212080">
                  <a:moveTo>
                    <a:pt x="0" y="182880"/>
                  </a:moveTo>
                  <a:cubicBezTo>
                    <a:pt x="0" y="81915"/>
                    <a:pt x="81915" y="0"/>
                    <a:pt x="182880" y="0"/>
                  </a:cubicBezTo>
                  <a:lnTo>
                    <a:pt x="5029200" y="0"/>
                  </a:lnTo>
                  <a:cubicBezTo>
                    <a:pt x="5130165" y="0"/>
                    <a:pt x="5212080" y="81915"/>
                    <a:pt x="5212080" y="182880"/>
                  </a:cubicBezTo>
                  <a:lnTo>
                    <a:pt x="5212080" y="1005840"/>
                  </a:lnTo>
                  <a:cubicBezTo>
                    <a:pt x="5212080" y="1106805"/>
                    <a:pt x="5130165" y="1188720"/>
                    <a:pt x="5029200" y="1188720"/>
                  </a:cubicBezTo>
                  <a:lnTo>
                    <a:pt x="182880" y="1188720"/>
                  </a:lnTo>
                  <a:cubicBezTo>
                    <a:pt x="81915" y="1188720"/>
                    <a:pt x="0" y="1106805"/>
                    <a:pt x="0" y="1005840"/>
                  </a:cubicBezTo>
                  <a:close/>
                </a:path>
              </a:pathLst>
            </a:custGeom>
            <a:solidFill>
              <a:srgbClr val="324A9E"/>
            </a:solidFill>
          </p:spPr>
        </p:sp>
      </p:grpSp>
      <p:grpSp>
        <p:nvGrpSpPr>
          <p:cNvPr name="Group 39" id="39"/>
          <p:cNvGrpSpPr/>
          <p:nvPr/>
        </p:nvGrpSpPr>
        <p:grpSpPr>
          <a:xfrm rot="0">
            <a:off x="5417820" y="2400300"/>
            <a:ext cx="3497580" cy="891540"/>
            <a:chOff x="0" y="0"/>
            <a:chExt cx="4663440" cy="1188720"/>
          </a:xfrm>
        </p:grpSpPr>
        <p:sp>
          <p:nvSpPr>
            <p:cNvPr name="Freeform 40" id="40"/>
            <p:cNvSpPr/>
            <p:nvPr/>
          </p:nvSpPr>
          <p:spPr>
            <a:xfrm flipH="false" flipV="false" rot="0">
              <a:off x="0" y="0"/>
              <a:ext cx="4663440" cy="1188720"/>
            </a:xfrm>
            <a:custGeom>
              <a:avLst/>
              <a:gdLst/>
              <a:ahLst/>
              <a:cxnLst/>
              <a:rect r="r" b="b" t="t" l="l"/>
              <a:pathLst>
                <a:path h="1188720" w="4663440">
                  <a:moveTo>
                    <a:pt x="0" y="0"/>
                  </a:moveTo>
                  <a:lnTo>
                    <a:pt x="4663440" y="0"/>
                  </a:lnTo>
                  <a:lnTo>
                    <a:pt x="4663440" y="1188720"/>
                  </a:lnTo>
                  <a:lnTo>
                    <a:pt x="0" y="1188720"/>
                  </a:lnTo>
                  <a:close/>
                </a:path>
              </a:pathLst>
            </a:custGeom>
            <a:blipFill>
              <a:blip r:embed="rId2">
                <a:alphaModFix amt="0"/>
              </a:blip>
              <a:stretch>
                <a:fillRect l="0" t="-26441" r="0" b="-26441"/>
              </a:stretch>
            </a:blipFill>
          </p:spPr>
        </p:sp>
        <p:sp>
          <p:nvSpPr>
            <p:cNvPr name="TextBox 41" id="41"/>
            <p:cNvSpPr txBox="true"/>
            <p:nvPr/>
          </p:nvSpPr>
          <p:spPr>
            <a:xfrm>
              <a:off x="0" y="-19050"/>
              <a:ext cx="4663440" cy="1207770"/>
            </a:xfrm>
            <a:prstGeom prst="rect">
              <a:avLst/>
            </a:prstGeom>
          </p:spPr>
          <p:txBody>
            <a:bodyPr anchor="ctr" rtlCol="false" tIns="0" lIns="0" bIns="0" rIns="0"/>
            <a:lstStyle/>
            <a:p>
              <a:pPr algn="l">
                <a:lnSpc>
                  <a:spcPts val="2520"/>
                </a:lnSpc>
              </a:pPr>
              <a:r>
                <a:rPr lang="en-US" sz="2100" b="true">
                  <a:solidFill>
                    <a:srgbClr val="FFFFFF"/>
                  </a:solidFill>
                  <a:latin typeface="Cambria Bold"/>
                  <a:ea typeface="Cambria Bold"/>
                  <a:cs typeface="Cambria Bold"/>
                  <a:sym typeface="Cambria Bold"/>
                </a:rPr>
                <a:t>Retrieval mechanism</a:t>
              </a:r>
            </a:p>
          </p:txBody>
        </p:sp>
      </p:grpSp>
      <p:grpSp>
        <p:nvGrpSpPr>
          <p:cNvPr name="Group 42" id="42"/>
          <p:cNvGrpSpPr/>
          <p:nvPr/>
        </p:nvGrpSpPr>
        <p:grpSpPr>
          <a:xfrm rot="0">
            <a:off x="5554980" y="3758184"/>
            <a:ext cx="123444" cy="123444"/>
            <a:chOff x="0" y="0"/>
            <a:chExt cx="164592" cy="164592"/>
          </a:xfrm>
        </p:grpSpPr>
        <p:sp>
          <p:nvSpPr>
            <p:cNvPr name="Freeform 43" id="43"/>
            <p:cNvSpPr/>
            <p:nvPr/>
          </p:nvSpPr>
          <p:spPr>
            <a:xfrm flipH="false" flipV="false" rot="0">
              <a:off x="0" y="0"/>
              <a:ext cx="164592" cy="164592"/>
            </a:xfrm>
            <a:custGeom>
              <a:avLst/>
              <a:gdLst/>
              <a:ahLst/>
              <a:cxnLst/>
              <a:rect r="r" b="b" t="t" l="l"/>
              <a:pathLst>
                <a:path h="164592" w="164592">
                  <a:moveTo>
                    <a:pt x="0" y="82296"/>
                  </a:moveTo>
                  <a:cubicBezTo>
                    <a:pt x="0" y="36830"/>
                    <a:pt x="36830" y="0"/>
                    <a:pt x="82296" y="0"/>
                  </a:cubicBezTo>
                  <a:cubicBezTo>
                    <a:pt x="127762" y="0"/>
                    <a:pt x="164592" y="36830"/>
                    <a:pt x="164592" y="82296"/>
                  </a:cubicBezTo>
                  <a:cubicBezTo>
                    <a:pt x="164592" y="127762"/>
                    <a:pt x="127762" y="164592"/>
                    <a:pt x="82296" y="164592"/>
                  </a:cubicBezTo>
                  <a:cubicBezTo>
                    <a:pt x="36830" y="164592"/>
                    <a:pt x="0" y="127762"/>
                    <a:pt x="0" y="82296"/>
                  </a:cubicBezTo>
                  <a:close/>
                </a:path>
              </a:pathLst>
            </a:custGeom>
            <a:solidFill>
              <a:srgbClr val="324A9E"/>
            </a:solidFill>
          </p:spPr>
        </p:sp>
      </p:grpSp>
      <p:grpSp>
        <p:nvGrpSpPr>
          <p:cNvPr name="Group 44" id="44"/>
          <p:cNvGrpSpPr/>
          <p:nvPr/>
        </p:nvGrpSpPr>
        <p:grpSpPr>
          <a:xfrm rot="0">
            <a:off x="5829300" y="3545586"/>
            <a:ext cx="3017520" cy="685800"/>
            <a:chOff x="0" y="0"/>
            <a:chExt cx="4023360" cy="914400"/>
          </a:xfrm>
        </p:grpSpPr>
        <p:sp>
          <p:nvSpPr>
            <p:cNvPr name="Freeform 45" id="45"/>
            <p:cNvSpPr/>
            <p:nvPr/>
          </p:nvSpPr>
          <p:spPr>
            <a:xfrm flipH="false" flipV="false" rot="0">
              <a:off x="0" y="0"/>
              <a:ext cx="4023360" cy="914400"/>
            </a:xfrm>
            <a:custGeom>
              <a:avLst/>
              <a:gdLst/>
              <a:ahLst/>
              <a:cxnLst/>
              <a:rect r="r" b="b" t="t" l="l"/>
              <a:pathLst>
                <a:path h="914400" w="4023360">
                  <a:moveTo>
                    <a:pt x="0" y="0"/>
                  </a:moveTo>
                  <a:lnTo>
                    <a:pt x="4023360" y="0"/>
                  </a:lnTo>
                  <a:lnTo>
                    <a:pt x="4023360" y="914400"/>
                  </a:lnTo>
                  <a:lnTo>
                    <a:pt x="0" y="914400"/>
                  </a:lnTo>
                  <a:close/>
                </a:path>
              </a:pathLst>
            </a:custGeom>
            <a:blipFill>
              <a:blip r:embed="rId2">
                <a:alphaModFix amt="0"/>
              </a:blip>
              <a:stretch>
                <a:fillRect l="0" t="-35734" r="0" b="-35734"/>
              </a:stretch>
            </a:blipFill>
          </p:spPr>
        </p:sp>
        <p:sp>
          <p:nvSpPr>
            <p:cNvPr name="TextBox 46" id="46"/>
            <p:cNvSpPr txBox="true"/>
            <p:nvPr/>
          </p:nvSpPr>
          <p:spPr>
            <a:xfrm>
              <a:off x="0" y="-38100"/>
              <a:ext cx="4023360" cy="952500"/>
            </a:xfrm>
            <a:prstGeom prst="rect">
              <a:avLst/>
            </a:prstGeom>
          </p:spPr>
          <p:txBody>
            <a:bodyPr anchor="ctr" rtlCol="false" tIns="0" lIns="0" bIns="0" rIns="0"/>
            <a:lstStyle/>
            <a:p>
              <a:pPr algn="l">
                <a:lnSpc>
                  <a:spcPts val="2250"/>
                </a:lnSpc>
              </a:pPr>
              <a:r>
                <a:rPr lang="en-US" sz="1875">
                  <a:solidFill>
                    <a:srgbClr val="2B2B38"/>
                  </a:solidFill>
                  <a:latin typeface="Calibri (MS)"/>
                  <a:ea typeface="Calibri (MS)"/>
                  <a:cs typeface="Calibri (MS)"/>
                  <a:sym typeface="Calibri (MS)"/>
                </a:rPr>
                <a:t>Sparse (BM25)</a:t>
              </a:r>
            </a:p>
          </p:txBody>
        </p:sp>
      </p:grpSp>
      <p:grpSp>
        <p:nvGrpSpPr>
          <p:cNvPr name="Group 47" id="47"/>
          <p:cNvGrpSpPr/>
          <p:nvPr/>
        </p:nvGrpSpPr>
        <p:grpSpPr>
          <a:xfrm rot="0">
            <a:off x="5554980" y="4608576"/>
            <a:ext cx="123444" cy="123444"/>
            <a:chOff x="0" y="0"/>
            <a:chExt cx="164592" cy="164592"/>
          </a:xfrm>
        </p:grpSpPr>
        <p:sp>
          <p:nvSpPr>
            <p:cNvPr name="Freeform 48" id="48"/>
            <p:cNvSpPr/>
            <p:nvPr/>
          </p:nvSpPr>
          <p:spPr>
            <a:xfrm flipH="false" flipV="false" rot="0">
              <a:off x="0" y="0"/>
              <a:ext cx="164592" cy="164592"/>
            </a:xfrm>
            <a:custGeom>
              <a:avLst/>
              <a:gdLst/>
              <a:ahLst/>
              <a:cxnLst/>
              <a:rect r="r" b="b" t="t" l="l"/>
              <a:pathLst>
                <a:path h="164592" w="164592">
                  <a:moveTo>
                    <a:pt x="0" y="82296"/>
                  </a:moveTo>
                  <a:cubicBezTo>
                    <a:pt x="0" y="36830"/>
                    <a:pt x="36830" y="0"/>
                    <a:pt x="82296" y="0"/>
                  </a:cubicBezTo>
                  <a:cubicBezTo>
                    <a:pt x="127762" y="0"/>
                    <a:pt x="164592" y="36830"/>
                    <a:pt x="164592" y="82296"/>
                  </a:cubicBezTo>
                  <a:cubicBezTo>
                    <a:pt x="164592" y="127762"/>
                    <a:pt x="127762" y="164592"/>
                    <a:pt x="82296" y="164592"/>
                  </a:cubicBezTo>
                  <a:cubicBezTo>
                    <a:pt x="36830" y="164592"/>
                    <a:pt x="0" y="127762"/>
                    <a:pt x="0" y="82296"/>
                  </a:cubicBezTo>
                  <a:close/>
                </a:path>
              </a:pathLst>
            </a:custGeom>
            <a:solidFill>
              <a:srgbClr val="324A9E"/>
            </a:solidFill>
          </p:spPr>
        </p:sp>
      </p:grpSp>
      <p:grpSp>
        <p:nvGrpSpPr>
          <p:cNvPr name="Group 49" id="49"/>
          <p:cNvGrpSpPr/>
          <p:nvPr/>
        </p:nvGrpSpPr>
        <p:grpSpPr>
          <a:xfrm rot="0">
            <a:off x="5830824" y="4327398"/>
            <a:ext cx="3017520" cy="685800"/>
            <a:chOff x="0" y="0"/>
            <a:chExt cx="4023360" cy="914400"/>
          </a:xfrm>
        </p:grpSpPr>
        <p:sp>
          <p:nvSpPr>
            <p:cNvPr name="Freeform 50" id="50"/>
            <p:cNvSpPr/>
            <p:nvPr/>
          </p:nvSpPr>
          <p:spPr>
            <a:xfrm flipH="false" flipV="false" rot="0">
              <a:off x="0" y="0"/>
              <a:ext cx="4023360" cy="914400"/>
            </a:xfrm>
            <a:custGeom>
              <a:avLst/>
              <a:gdLst/>
              <a:ahLst/>
              <a:cxnLst/>
              <a:rect r="r" b="b" t="t" l="l"/>
              <a:pathLst>
                <a:path h="914400" w="4023360">
                  <a:moveTo>
                    <a:pt x="0" y="0"/>
                  </a:moveTo>
                  <a:lnTo>
                    <a:pt x="4023360" y="0"/>
                  </a:lnTo>
                  <a:lnTo>
                    <a:pt x="4023360" y="914400"/>
                  </a:lnTo>
                  <a:lnTo>
                    <a:pt x="0" y="914400"/>
                  </a:lnTo>
                  <a:close/>
                </a:path>
              </a:pathLst>
            </a:custGeom>
            <a:blipFill>
              <a:blip r:embed="rId2">
                <a:alphaModFix amt="0"/>
              </a:blip>
              <a:stretch>
                <a:fillRect l="0" t="-35734" r="0" b="-35734"/>
              </a:stretch>
            </a:blipFill>
          </p:spPr>
        </p:sp>
        <p:sp>
          <p:nvSpPr>
            <p:cNvPr name="TextBox 51" id="51"/>
            <p:cNvSpPr txBox="true"/>
            <p:nvPr/>
          </p:nvSpPr>
          <p:spPr>
            <a:xfrm>
              <a:off x="0" y="-38100"/>
              <a:ext cx="4023360" cy="952500"/>
            </a:xfrm>
            <a:prstGeom prst="rect">
              <a:avLst/>
            </a:prstGeom>
          </p:spPr>
          <p:txBody>
            <a:bodyPr anchor="ctr" rtlCol="false" tIns="0" lIns="0" bIns="0" rIns="0"/>
            <a:lstStyle/>
            <a:p>
              <a:pPr algn="l">
                <a:lnSpc>
                  <a:spcPts val="2250"/>
                </a:lnSpc>
              </a:pPr>
              <a:r>
                <a:rPr lang="en-US" sz="1875">
                  <a:solidFill>
                    <a:srgbClr val="2B2B38"/>
                  </a:solidFill>
                  <a:latin typeface="Calibri (MS)"/>
                  <a:ea typeface="Calibri (MS)"/>
                  <a:cs typeface="Calibri (MS)"/>
                  <a:sym typeface="Calibri (MS)"/>
                </a:rPr>
                <a:t>Dense (embeddings)</a:t>
              </a:r>
            </a:p>
          </p:txBody>
        </p:sp>
      </p:grpSp>
      <p:grpSp>
        <p:nvGrpSpPr>
          <p:cNvPr name="Group 52" id="52"/>
          <p:cNvGrpSpPr/>
          <p:nvPr/>
        </p:nvGrpSpPr>
        <p:grpSpPr>
          <a:xfrm rot="0">
            <a:off x="5554980" y="5458968"/>
            <a:ext cx="123444" cy="123444"/>
            <a:chOff x="0" y="0"/>
            <a:chExt cx="164592" cy="164592"/>
          </a:xfrm>
        </p:grpSpPr>
        <p:sp>
          <p:nvSpPr>
            <p:cNvPr name="Freeform 53" id="53"/>
            <p:cNvSpPr/>
            <p:nvPr/>
          </p:nvSpPr>
          <p:spPr>
            <a:xfrm flipH="false" flipV="false" rot="0">
              <a:off x="0" y="0"/>
              <a:ext cx="164592" cy="164592"/>
            </a:xfrm>
            <a:custGeom>
              <a:avLst/>
              <a:gdLst/>
              <a:ahLst/>
              <a:cxnLst/>
              <a:rect r="r" b="b" t="t" l="l"/>
              <a:pathLst>
                <a:path h="164592" w="164592">
                  <a:moveTo>
                    <a:pt x="0" y="82296"/>
                  </a:moveTo>
                  <a:cubicBezTo>
                    <a:pt x="0" y="36830"/>
                    <a:pt x="36830" y="0"/>
                    <a:pt x="82296" y="0"/>
                  </a:cubicBezTo>
                  <a:cubicBezTo>
                    <a:pt x="127762" y="0"/>
                    <a:pt x="164592" y="36830"/>
                    <a:pt x="164592" y="82296"/>
                  </a:cubicBezTo>
                  <a:cubicBezTo>
                    <a:pt x="164592" y="127762"/>
                    <a:pt x="127762" y="164592"/>
                    <a:pt x="82296" y="164592"/>
                  </a:cubicBezTo>
                  <a:cubicBezTo>
                    <a:pt x="36830" y="164592"/>
                    <a:pt x="0" y="127762"/>
                    <a:pt x="0" y="82296"/>
                  </a:cubicBezTo>
                  <a:close/>
                </a:path>
              </a:pathLst>
            </a:custGeom>
            <a:solidFill>
              <a:srgbClr val="324A9E"/>
            </a:solidFill>
          </p:spPr>
        </p:sp>
      </p:grpSp>
      <p:grpSp>
        <p:nvGrpSpPr>
          <p:cNvPr name="Group 54" id="54"/>
          <p:cNvGrpSpPr/>
          <p:nvPr/>
        </p:nvGrpSpPr>
        <p:grpSpPr>
          <a:xfrm rot="0">
            <a:off x="5760720" y="5177790"/>
            <a:ext cx="3017520" cy="685800"/>
            <a:chOff x="0" y="0"/>
            <a:chExt cx="4023360" cy="914400"/>
          </a:xfrm>
        </p:grpSpPr>
        <p:sp>
          <p:nvSpPr>
            <p:cNvPr name="Freeform 55" id="55"/>
            <p:cNvSpPr/>
            <p:nvPr/>
          </p:nvSpPr>
          <p:spPr>
            <a:xfrm flipH="false" flipV="false" rot="0">
              <a:off x="0" y="0"/>
              <a:ext cx="4023360" cy="914400"/>
            </a:xfrm>
            <a:custGeom>
              <a:avLst/>
              <a:gdLst/>
              <a:ahLst/>
              <a:cxnLst/>
              <a:rect r="r" b="b" t="t" l="l"/>
              <a:pathLst>
                <a:path h="914400" w="4023360">
                  <a:moveTo>
                    <a:pt x="0" y="0"/>
                  </a:moveTo>
                  <a:lnTo>
                    <a:pt x="4023360" y="0"/>
                  </a:lnTo>
                  <a:lnTo>
                    <a:pt x="4023360" y="914400"/>
                  </a:lnTo>
                  <a:lnTo>
                    <a:pt x="0" y="914400"/>
                  </a:lnTo>
                  <a:close/>
                </a:path>
              </a:pathLst>
            </a:custGeom>
            <a:blipFill>
              <a:blip r:embed="rId2">
                <a:alphaModFix amt="0"/>
              </a:blip>
              <a:stretch>
                <a:fillRect l="0" t="-35734" r="0" b="-35734"/>
              </a:stretch>
            </a:blipFill>
          </p:spPr>
        </p:sp>
        <p:sp>
          <p:nvSpPr>
            <p:cNvPr name="TextBox 56" id="56"/>
            <p:cNvSpPr txBox="true"/>
            <p:nvPr/>
          </p:nvSpPr>
          <p:spPr>
            <a:xfrm>
              <a:off x="0" y="-38100"/>
              <a:ext cx="4023360" cy="952500"/>
            </a:xfrm>
            <a:prstGeom prst="rect">
              <a:avLst/>
            </a:prstGeom>
          </p:spPr>
          <p:txBody>
            <a:bodyPr anchor="ctr" rtlCol="false" tIns="0" lIns="0" bIns="0" rIns="0"/>
            <a:lstStyle/>
            <a:p>
              <a:pPr algn="l">
                <a:lnSpc>
                  <a:spcPts val="2250"/>
                </a:lnSpc>
              </a:pPr>
              <a:r>
                <a:rPr lang="en-US" sz="1875">
                  <a:solidFill>
                    <a:srgbClr val="2B2B38"/>
                  </a:solidFill>
                  <a:latin typeface="Calibri (MS)"/>
                  <a:ea typeface="Calibri (MS)"/>
                  <a:cs typeface="Calibri (MS)"/>
                  <a:sym typeface="Calibri (MS)"/>
                </a:rPr>
                <a:t>Hybrid (fused)</a:t>
              </a:r>
            </a:p>
          </p:txBody>
        </p:sp>
      </p:grpSp>
      <p:grpSp>
        <p:nvGrpSpPr>
          <p:cNvPr name="Group 57" id="57"/>
          <p:cNvGrpSpPr/>
          <p:nvPr/>
        </p:nvGrpSpPr>
        <p:grpSpPr>
          <a:xfrm rot="0">
            <a:off x="9464040" y="2400300"/>
            <a:ext cx="3909060" cy="6515100"/>
            <a:chOff x="0" y="0"/>
            <a:chExt cx="5212080" cy="8686800"/>
          </a:xfrm>
        </p:grpSpPr>
        <p:sp>
          <p:nvSpPr>
            <p:cNvPr name="Freeform 58" id="58"/>
            <p:cNvSpPr/>
            <p:nvPr/>
          </p:nvSpPr>
          <p:spPr>
            <a:xfrm flipH="false" flipV="false" rot="0">
              <a:off x="0" y="0"/>
              <a:ext cx="5212080" cy="8686800"/>
            </a:xfrm>
            <a:custGeom>
              <a:avLst/>
              <a:gdLst/>
              <a:ahLst/>
              <a:cxnLst/>
              <a:rect r="r" b="b" t="t" l="l"/>
              <a:pathLst>
                <a:path h="8686800" w="5212080">
                  <a:moveTo>
                    <a:pt x="0" y="182880"/>
                  </a:moveTo>
                  <a:cubicBezTo>
                    <a:pt x="0" y="81915"/>
                    <a:pt x="81915" y="0"/>
                    <a:pt x="182880" y="0"/>
                  </a:cubicBezTo>
                  <a:lnTo>
                    <a:pt x="5029200" y="0"/>
                  </a:lnTo>
                  <a:cubicBezTo>
                    <a:pt x="5130165" y="0"/>
                    <a:pt x="5212080" y="81915"/>
                    <a:pt x="5212080" y="182880"/>
                  </a:cubicBezTo>
                  <a:lnTo>
                    <a:pt x="5212080" y="8503920"/>
                  </a:lnTo>
                  <a:cubicBezTo>
                    <a:pt x="5212080" y="8604885"/>
                    <a:pt x="5130165" y="8686800"/>
                    <a:pt x="5029200" y="8686800"/>
                  </a:cubicBezTo>
                  <a:lnTo>
                    <a:pt x="182880" y="8686800"/>
                  </a:lnTo>
                  <a:cubicBezTo>
                    <a:pt x="81915" y="8686800"/>
                    <a:pt x="0" y="8604885"/>
                    <a:pt x="0" y="8503920"/>
                  </a:cubicBezTo>
                  <a:close/>
                </a:path>
              </a:pathLst>
            </a:custGeom>
            <a:solidFill>
              <a:srgbClr val="F4F6FC"/>
            </a:solidFill>
          </p:spPr>
        </p:sp>
      </p:grpSp>
      <p:grpSp>
        <p:nvGrpSpPr>
          <p:cNvPr name="Group 59" id="59"/>
          <p:cNvGrpSpPr/>
          <p:nvPr/>
        </p:nvGrpSpPr>
        <p:grpSpPr>
          <a:xfrm rot="0">
            <a:off x="9464040" y="2400300"/>
            <a:ext cx="3909060" cy="891540"/>
            <a:chOff x="0" y="0"/>
            <a:chExt cx="5212080" cy="1188720"/>
          </a:xfrm>
        </p:grpSpPr>
        <p:sp>
          <p:nvSpPr>
            <p:cNvPr name="Freeform 60" id="60"/>
            <p:cNvSpPr/>
            <p:nvPr/>
          </p:nvSpPr>
          <p:spPr>
            <a:xfrm flipH="false" flipV="false" rot="0">
              <a:off x="0" y="0"/>
              <a:ext cx="5212080" cy="1188720"/>
            </a:xfrm>
            <a:custGeom>
              <a:avLst/>
              <a:gdLst/>
              <a:ahLst/>
              <a:cxnLst/>
              <a:rect r="r" b="b" t="t" l="l"/>
              <a:pathLst>
                <a:path h="1188720" w="5212080">
                  <a:moveTo>
                    <a:pt x="0" y="182880"/>
                  </a:moveTo>
                  <a:cubicBezTo>
                    <a:pt x="0" y="81915"/>
                    <a:pt x="81915" y="0"/>
                    <a:pt x="182880" y="0"/>
                  </a:cubicBezTo>
                  <a:lnTo>
                    <a:pt x="5029200" y="0"/>
                  </a:lnTo>
                  <a:cubicBezTo>
                    <a:pt x="5130165" y="0"/>
                    <a:pt x="5212080" y="81915"/>
                    <a:pt x="5212080" y="182880"/>
                  </a:cubicBezTo>
                  <a:lnTo>
                    <a:pt x="5212080" y="1005840"/>
                  </a:lnTo>
                  <a:cubicBezTo>
                    <a:pt x="5212080" y="1106805"/>
                    <a:pt x="5130165" y="1188720"/>
                    <a:pt x="5029200" y="1188720"/>
                  </a:cubicBezTo>
                  <a:lnTo>
                    <a:pt x="182880" y="1188720"/>
                  </a:lnTo>
                  <a:cubicBezTo>
                    <a:pt x="81915" y="1188720"/>
                    <a:pt x="0" y="1106805"/>
                    <a:pt x="0" y="1005840"/>
                  </a:cubicBezTo>
                  <a:close/>
                </a:path>
              </a:pathLst>
            </a:custGeom>
            <a:solidFill>
              <a:srgbClr val="5E76C7"/>
            </a:solidFill>
          </p:spPr>
        </p:sp>
      </p:grpSp>
      <p:grpSp>
        <p:nvGrpSpPr>
          <p:cNvPr name="Group 61" id="61"/>
          <p:cNvGrpSpPr/>
          <p:nvPr/>
        </p:nvGrpSpPr>
        <p:grpSpPr>
          <a:xfrm rot="0">
            <a:off x="9669780" y="2400300"/>
            <a:ext cx="3497580" cy="891540"/>
            <a:chOff x="0" y="0"/>
            <a:chExt cx="4663440" cy="1188720"/>
          </a:xfrm>
        </p:grpSpPr>
        <p:sp>
          <p:nvSpPr>
            <p:cNvPr name="Freeform 62" id="62"/>
            <p:cNvSpPr/>
            <p:nvPr/>
          </p:nvSpPr>
          <p:spPr>
            <a:xfrm flipH="false" flipV="false" rot="0">
              <a:off x="0" y="0"/>
              <a:ext cx="4663440" cy="1188720"/>
            </a:xfrm>
            <a:custGeom>
              <a:avLst/>
              <a:gdLst/>
              <a:ahLst/>
              <a:cxnLst/>
              <a:rect r="r" b="b" t="t" l="l"/>
              <a:pathLst>
                <a:path h="1188720" w="4663440">
                  <a:moveTo>
                    <a:pt x="0" y="0"/>
                  </a:moveTo>
                  <a:lnTo>
                    <a:pt x="4663440" y="0"/>
                  </a:lnTo>
                  <a:lnTo>
                    <a:pt x="4663440" y="1188720"/>
                  </a:lnTo>
                  <a:lnTo>
                    <a:pt x="0" y="1188720"/>
                  </a:lnTo>
                  <a:close/>
                </a:path>
              </a:pathLst>
            </a:custGeom>
            <a:blipFill>
              <a:blip r:embed="rId2">
                <a:alphaModFix amt="0"/>
              </a:blip>
              <a:stretch>
                <a:fillRect l="0" t="-26441" r="0" b="-26441"/>
              </a:stretch>
            </a:blipFill>
          </p:spPr>
        </p:sp>
        <p:sp>
          <p:nvSpPr>
            <p:cNvPr name="TextBox 63" id="63"/>
            <p:cNvSpPr txBox="true"/>
            <p:nvPr/>
          </p:nvSpPr>
          <p:spPr>
            <a:xfrm>
              <a:off x="0" y="-19050"/>
              <a:ext cx="4663440" cy="1207770"/>
            </a:xfrm>
            <a:prstGeom prst="rect">
              <a:avLst/>
            </a:prstGeom>
          </p:spPr>
          <p:txBody>
            <a:bodyPr anchor="ctr" rtlCol="false" tIns="0" lIns="0" bIns="0" rIns="0"/>
            <a:lstStyle/>
            <a:p>
              <a:pPr algn="l">
                <a:lnSpc>
                  <a:spcPts val="2520"/>
                </a:lnSpc>
              </a:pPr>
              <a:r>
                <a:rPr lang="en-US" sz="2100" b="true">
                  <a:solidFill>
                    <a:srgbClr val="FFFFFF"/>
                  </a:solidFill>
                  <a:latin typeface="Cambria Bold"/>
                  <a:ea typeface="Cambria Bold"/>
                  <a:cs typeface="Cambria Bold"/>
                  <a:sym typeface="Cambria Bold"/>
                </a:rPr>
                <a:t>Knowledge structure</a:t>
              </a:r>
            </a:p>
          </p:txBody>
        </p:sp>
      </p:grpSp>
      <p:grpSp>
        <p:nvGrpSpPr>
          <p:cNvPr name="Group 64" id="64"/>
          <p:cNvGrpSpPr/>
          <p:nvPr/>
        </p:nvGrpSpPr>
        <p:grpSpPr>
          <a:xfrm rot="0">
            <a:off x="9806940" y="3758184"/>
            <a:ext cx="123444" cy="123444"/>
            <a:chOff x="0" y="0"/>
            <a:chExt cx="164592" cy="164592"/>
          </a:xfrm>
        </p:grpSpPr>
        <p:sp>
          <p:nvSpPr>
            <p:cNvPr name="Freeform 65" id="65"/>
            <p:cNvSpPr/>
            <p:nvPr/>
          </p:nvSpPr>
          <p:spPr>
            <a:xfrm flipH="false" flipV="false" rot="0">
              <a:off x="0" y="0"/>
              <a:ext cx="164592" cy="164592"/>
            </a:xfrm>
            <a:custGeom>
              <a:avLst/>
              <a:gdLst/>
              <a:ahLst/>
              <a:cxnLst/>
              <a:rect r="r" b="b" t="t" l="l"/>
              <a:pathLst>
                <a:path h="164592" w="164592">
                  <a:moveTo>
                    <a:pt x="0" y="82296"/>
                  </a:moveTo>
                  <a:cubicBezTo>
                    <a:pt x="0" y="36830"/>
                    <a:pt x="36830" y="0"/>
                    <a:pt x="82296" y="0"/>
                  </a:cubicBezTo>
                  <a:cubicBezTo>
                    <a:pt x="127762" y="0"/>
                    <a:pt x="164592" y="36830"/>
                    <a:pt x="164592" y="82296"/>
                  </a:cubicBezTo>
                  <a:cubicBezTo>
                    <a:pt x="164592" y="127762"/>
                    <a:pt x="127762" y="164592"/>
                    <a:pt x="82296" y="164592"/>
                  </a:cubicBezTo>
                  <a:cubicBezTo>
                    <a:pt x="36830" y="164592"/>
                    <a:pt x="0" y="127762"/>
                    <a:pt x="0" y="82296"/>
                  </a:cubicBezTo>
                  <a:close/>
                </a:path>
              </a:pathLst>
            </a:custGeom>
            <a:solidFill>
              <a:srgbClr val="5E76C7"/>
            </a:solidFill>
          </p:spPr>
        </p:sp>
      </p:grpSp>
      <p:grpSp>
        <p:nvGrpSpPr>
          <p:cNvPr name="Group 66" id="66"/>
          <p:cNvGrpSpPr/>
          <p:nvPr/>
        </p:nvGrpSpPr>
        <p:grpSpPr>
          <a:xfrm rot="0">
            <a:off x="10081260" y="3634740"/>
            <a:ext cx="3017520" cy="685800"/>
            <a:chOff x="0" y="0"/>
            <a:chExt cx="4023360" cy="914400"/>
          </a:xfrm>
        </p:grpSpPr>
        <p:sp>
          <p:nvSpPr>
            <p:cNvPr name="Freeform 67" id="67"/>
            <p:cNvSpPr/>
            <p:nvPr/>
          </p:nvSpPr>
          <p:spPr>
            <a:xfrm flipH="false" flipV="false" rot="0">
              <a:off x="0" y="0"/>
              <a:ext cx="4023360" cy="914400"/>
            </a:xfrm>
            <a:custGeom>
              <a:avLst/>
              <a:gdLst/>
              <a:ahLst/>
              <a:cxnLst/>
              <a:rect r="r" b="b" t="t" l="l"/>
              <a:pathLst>
                <a:path h="914400" w="4023360">
                  <a:moveTo>
                    <a:pt x="0" y="0"/>
                  </a:moveTo>
                  <a:lnTo>
                    <a:pt x="4023360" y="0"/>
                  </a:lnTo>
                  <a:lnTo>
                    <a:pt x="4023360" y="914400"/>
                  </a:lnTo>
                  <a:lnTo>
                    <a:pt x="0" y="914400"/>
                  </a:lnTo>
                  <a:close/>
                </a:path>
              </a:pathLst>
            </a:custGeom>
            <a:blipFill>
              <a:blip r:embed="rId2">
                <a:alphaModFix amt="0"/>
              </a:blip>
              <a:stretch>
                <a:fillRect l="0" t="-35734" r="0" b="-35734"/>
              </a:stretch>
            </a:blipFill>
          </p:spPr>
        </p:sp>
        <p:sp>
          <p:nvSpPr>
            <p:cNvPr name="TextBox 68" id="68"/>
            <p:cNvSpPr txBox="true"/>
            <p:nvPr/>
          </p:nvSpPr>
          <p:spPr>
            <a:xfrm>
              <a:off x="0" y="-38100"/>
              <a:ext cx="4023360" cy="952500"/>
            </a:xfrm>
            <a:prstGeom prst="rect">
              <a:avLst/>
            </a:prstGeom>
          </p:spPr>
          <p:txBody>
            <a:bodyPr anchor="ctr" rtlCol="false" tIns="0" lIns="0" bIns="0" rIns="0"/>
            <a:lstStyle/>
            <a:p>
              <a:pPr algn="l">
                <a:lnSpc>
                  <a:spcPts val="2250"/>
                </a:lnSpc>
              </a:pPr>
              <a:r>
                <a:rPr lang="en-US" sz="1875">
                  <a:solidFill>
                    <a:srgbClr val="2B2B38"/>
                  </a:solidFill>
                  <a:latin typeface="Calibri (MS)"/>
                  <a:ea typeface="Calibri (MS)"/>
                  <a:cs typeface="Calibri (MS)"/>
                  <a:sym typeface="Calibri (MS)"/>
                </a:rPr>
                <a:t>Flat / chunked</a:t>
              </a:r>
            </a:p>
          </p:txBody>
        </p:sp>
      </p:grpSp>
      <p:grpSp>
        <p:nvGrpSpPr>
          <p:cNvPr name="Group 69" id="69"/>
          <p:cNvGrpSpPr/>
          <p:nvPr/>
        </p:nvGrpSpPr>
        <p:grpSpPr>
          <a:xfrm rot="0">
            <a:off x="9806940" y="4608576"/>
            <a:ext cx="123444" cy="123444"/>
            <a:chOff x="0" y="0"/>
            <a:chExt cx="164592" cy="164592"/>
          </a:xfrm>
        </p:grpSpPr>
        <p:sp>
          <p:nvSpPr>
            <p:cNvPr name="Freeform 70" id="70"/>
            <p:cNvSpPr/>
            <p:nvPr/>
          </p:nvSpPr>
          <p:spPr>
            <a:xfrm flipH="false" flipV="false" rot="0">
              <a:off x="0" y="0"/>
              <a:ext cx="164592" cy="164592"/>
            </a:xfrm>
            <a:custGeom>
              <a:avLst/>
              <a:gdLst/>
              <a:ahLst/>
              <a:cxnLst/>
              <a:rect r="r" b="b" t="t" l="l"/>
              <a:pathLst>
                <a:path h="164592" w="164592">
                  <a:moveTo>
                    <a:pt x="0" y="82296"/>
                  </a:moveTo>
                  <a:cubicBezTo>
                    <a:pt x="0" y="36830"/>
                    <a:pt x="36830" y="0"/>
                    <a:pt x="82296" y="0"/>
                  </a:cubicBezTo>
                  <a:cubicBezTo>
                    <a:pt x="127762" y="0"/>
                    <a:pt x="164592" y="36830"/>
                    <a:pt x="164592" y="82296"/>
                  </a:cubicBezTo>
                  <a:cubicBezTo>
                    <a:pt x="164592" y="127762"/>
                    <a:pt x="127762" y="164592"/>
                    <a:pt x="82296" y="164592"/>
                  </a:cubicBezTo>
                  <a:cubicBezTo>
                    <a:pt x="36830" y="164592"/>
                    <a:pt x="0" y="127762"/>
                    <a:pt x="0" y="82296"/>
                  </a:cubicBezTo>
                  <a:close/>
                </a:path>
              </a:pathLst>
            </a:custGeom>
            <a:solidFill>
              <a:srgbClr val="5E76C7"/>
            </a:solidFill>
          </p:spPr>
        </p:sp>
      </p:grpSp>
      <p:grpSp>
        <p:nvGrpSpPr>
          <p:cNvPr name="Group 71" id="71"/>
          <p:cNvGrpSpPr/>
          <p:nvPr/>
        </p:nvGrpSpPr>
        <p:grpSpPr>
          <a:xfrm rot="0">
            <a:off x="10081260" y="4485132"/>
            <a:ext cx="3017520" cy="685800"/>
            <a:chOff x="0" y="0"/>
            <a:chExt cx="4023360" cy="914400"/>
          </a:xfrm>
        </p:grpSpPr>
        <p:sp>
          <p:nvSpPr>
            <p:cNvPr name="Freeform 72" id="72"/>
            <p:cNvSpPr/>
            <p:nvPr/>
          </p:nvSpPr>
          <p:spPr>
            <a:xfrm flipH="false" flipV="false" rot="0">
              <a:off x="0" y="0"/>
              <a:ext cx="4023360" cy="914400"/>
            </a:xfrm>
            <a:custGeom>
              <a:avLst/>
              <a:gdLst/>
              <a:ahLst/>
              <a:cxnLst/>
              <a:rect r="r" b="b" t="t" l="l"/>
              <a:pathLst>
                <a:path h="914400" w="4023360">
                  <a:moveTo>
                    <a:pt x="0" y="0"/>
                  </a:moveTo>
                  <a:lnTo>
                    <a:pt x="4023360" y="0"/>
                  </a:lnTo>
                  <a:lnTo>
                    <a:pt x="4023360" y="914400"/>
                  </a:lnTo>
                  <a:lnTo>
                    <a:pt x="0" y="914400"/>
                  </a:lnTo>
                  <a:close/>
                </a:path>
              </a:pathLst>
            </a:custGeom>
            <a:blipFill>
              <a:blip r:embed="rId2">
                <a:alphaModFix amt="0"/>
              </a:blip>
              <a:stretch>
                <a:fillRect l="0" t="-35734" r="0" b="-35734"/>
              </a:stretch>
            </a:blipFill>
          </p:spPr>
        </p:sp>
        <p:sp>
          <p:nvSpPr>
            <p:cNvPr name="TextBox 73" id="73"/>
            <p:cNvSpPr txBox="true"/>
            <p:nvPr/>
          </p:nvSpPr>
          <p:spPr>
            <a:xfrm>
              <a:off x="0" y="-38100"/>
              <a:ext cx="4023360" cy="952500"/>
            </a:xfrm>
            <a:prstGeom prst="rect">
              <a:avLst/>
            </a:prstGeom>
          </p:spPr>
          <p:txBody>
            <a:bodyPr anchor="ctr" rtlCol="false" tIns="0" lIns="0" bIns="0" rIns="0"/>
            <a:lstStyle/>
            <a:p>
              <a:pPr algn="l">
                <a:lnSpc>
                  <a:spcPts val="2250"/>
                </a:lnSpc>
              </a:pPr>
              <a:r>
                <a:rPr lang="en-US" sz="1875">
                  <a:solidFill>
                    <a:srgbClr val="2B2B38"/>
                  </a:solidFill>
                  <a:latin typeface="Calibri (MS)"/>
                  <a:ea typeface="Calibri (MS)"/>
                  <a:cs typeface="Calibri (MS)"/>
                  <a:sym typeface="Calibri (MS)"/>
                </a:rPr>
                <a:t>Hierarchical (RAPTOR)</a:t>
              </a:r>
            </a:p>
          </p:txBody>
        </p:sp>
      </p:grpSp>
      <p:grpSp>
        <p:nvGrpSpPr>
          <p:cNvPr name="Group 74" id="74"/>
          <p:cNvGrpSpPr/>
          <p:nvPr/>
        </p:nvGrpSpPr>
        <p:grpSpPr>
          <a:xfrm rot="0">
            <a:off x="9806940" y="5458968"/>
            <a:ext cx="123444" cy="123444"/>
            <a:chOff x="0" y="0"/>
            <a:chExt cx="164592" cy="164592"/>
          </a:xfrm>
        </p:grpSpPr>
        <p:sp>
          <p:nvSpPr>
            <p:cNvPr name="Freeform 75" id="75"/>
            <p:cNvSpPr/>
            <p:nvPr/>
          </p:nvSpPr>
          <p:spPr>
            <a:xfrm flipH="false" flipV="false" rot="0">
              <a:off x="0" y="0"/>
              <a:ext cx="164592" cy="164592"/>
            </a:xfrm>
            <a:custGeom>
              <a:avLst/>
              <a:gdLst/>
              <a:ahLst/>
              <a:cxnLst/>
              <a:rect r="r" b="b" t="t" l="l"/>
              <a:pathLst>
                <a:path h="164592" w="164592">
                  <a:moveTo>
                    <a:pt x="0" y="82296"/>
                  </a:moveTo>
                  <a:cubicBezTo>
                    <a:pt x="0" y="36830"/>
                    <a:pt x="36830" y="0"/>
                    <a:pt x="82296" y="0"/>
                  </a:cubicBezTo>
                  <a:cubicBezTo>
                    <a:pt x="127762" y="0"/>
                    <a:pt x="164592" y="36830"/>
                    <a:pt x="164592" y="82296"/>
                  </a:cubicBezTo>
                  <a:cubicBezTo>
                    <a:pt x="164592" y="127762"/>
                    <a:pt x="127762" y="164592"/>
                    <a:pt x="82296" y="164592"/>
                  </a:cubicBezTo>
                  <a:cubicBezTo>
                    <a:pt x="36830" y="164592"/>
                    <a:pt x="0" y="127762"/>
                    <a:pt x="0" y="82296"/>
                  </a:cubicBezTo>
                  <a:close/>
                </a:path>
              </a:pathLst>
            </a:custGeom>
            <a:solidFill>
              <a:srgbClr val="5E76C7"/>
            </a:solidFill>
          </p:spPr>
        </p:sp>
      </p:grpSp>
      <p:grpSp>
        <p:nvGrpSpPr>
          <p:cNvPr name="Group 76" id="76"/>
          <p:cNvGrpSpPr/>
          <p:nvPr/>
        </p:nvGrpSpPr>
        <p:grpSpPr>
          <a:xfrm rot="0">
            <a:off x="10081260" y="5335524"/>
            <a:ext cx="3017520" cy="685800"/>
            <a:chOff x="0" y="0"/>
            <a:chExt cx="4023360" cy="914400"/>
          </a:xfrm>
        </p:grpSpPr>
        <p:sp>
          <p:nvSpPr>
            <p:cNvPr name="Freeform 77" id="77"/>
            <p:cNvSpPr/>
            <p:nvPr/>
          </p:nvSpPr>
          <p:spPr>
            <a:xfrm flipH="false" flipV="false" rot="0">
              <a:off x="0" y="0"/>
              <a:ext cx="4023360" cy="914400"/>
            </a:xfrm>
            <a:custGeom>
              <a:avLst/>
              <a:gdLst/>
              <a:ahLst/>
              <a:cxnLst/>
              <a:rect r="r" b="b" t="t" l="l"/>
              <a:pathLst>
                <a:path h="914400" w="4023360">
                  <a:moveTo>
                    <a:pt x="0" y="0"/>
                  </a:moveTo>
                  <a:lnTo>
                    <a:pt x="4023360" y="0"/>
                  </a:lnTo>
                  <a:lnTo>
                    <a:pt x="4023360" y="914400"/>
                  </a:lnTo>
                  <a:lnTo>
                    <a:pt x="0" y="914400"/>
                  </a:lnTo>
                  <a:close/>
                </a:path>
              </a:pathLst>
            </a:custGeom>
            <a:blipFill>
              <a:blip r:embed="rId2">
                <a:alphaModFix amt="0"/>
              </a:blip>
              <a:stretch>
                <a:fillRect l="0" t="-35734" r="0" b="-35734"/>
              </a:stretch>
            </a:blipFill>
          </p:spPr>
        </p:sp>
        <p:sp>
          <p:nvSpPr>
            <p:cNvPr name="TextBox 78" id="78"/>
            <p:cNvSpPr txBox="true"/>
            <p:nvPr/>
          </p:nvSpPr>
          <p:spPr>
            <a:xfrm>
              <a:off x="0" y="-38100"/>
              <a:ext cx="4023360" cy="952500"/>
            </a:xfrm>
            <a:prstGeom prst="rect">
              <a:avLst/>
            </a:prstGeom>
          </p:spPr>
          <p:txBody>
            <a:bodyPr anchor="ctr" rtlCol="false" tIns="0" lIns="0" bIns="0" rIns="0"/>
            <a:lstStyle/>
            <a:p>
              <a:pPr algn="l">
                <a:lnSpc>
                  <a:spcPts val="2250"/>
                </a:lnSpc>
              </a:pPr>
              <a:r>
                <a:rPr lang="en-US" sz="1875">
                  <a:solidFill>
                    <a:srgbClr val="2B2B38"/>
                  </a:solidFill>
                  <a:latin typeface="Calibri (MS)"/>
                  <a:ea typeface="Calibri (MS)"/>
                  <a:cs typeface="Calibri (MS)"/>
                  <a:sym typeface="Calibri (MS)"/>
                </a:rPr>
                <a:t>Graph RAG</a:t>
              </a:r>
            </a:p>
          </p:txBody>
        </p:sp>
      </p:grpSp>
      <p:grpSp>
        <p:nvGrpSpPr>
          <p:cNvPr name="Group 79" id="79"/>
          <p:cNvGrpSpPr/>
          <p:nvPr/>
        </p:nvGrpSpPr>
        <p:grpSpPr>
          <a:xfrm rot="0">
            <a:off x="13716000" y="2400300"/>
            <a:ext cx="3909060" cy="6515100"/>
            <a:chOff x="0" y="0"/>
            <a:chExt cx="5212080" cy="8686800"/>
          </a:xfrm>
        </p:grpSpPr>
        <p:sp>
          <p:nvSpPr>
            <p:cNvPr name="Freeform 80" id="80"/>
            <p:cNvSpPr/>
            <p:nvPr/>
          </p:nvSpPr>
          <p:spPr>
            <a:xfrm flipH="false" flipV="false" rot="0">
              <a:off x="0" y="0"/>
              <a:ext cx="5212080" cy="8686800"/>
            </a:xfrm>
            <a:custGeom>
              <a:avLst/>
              <a:gdLst/>
              <a:ahLst/>
              <a:cxnLst/>
              <a:rect r="r" b="b" t="t" l="l"/>
              <a:pathLst>
                <a:path h="8686800" w="5212080">
                  <a:moveTo>
                    <a:pt x="0" y="182880"/>
                  </a:moveTo>
                  <a:cubicBezTo>
                    <a:pt x="0" y="81915"/>
                    <a:pt x="81915" y="0"/>
                    <a:pt x="182880" y="0"/>
                  </a:cubicBezTo>
                  <a:lnTo>
                    <a:pt x="5029200" y="0"/>
                  </a:lnTo>
                  <a:cubicBezTo>
                    <a:pt x="5130165" y="0"/>
                    <a:pt x="5212080" y="81915"/>
                    <a:pt x="5212080" y="182880"/>
                  </a:cubicBezTo>
                  <a:lnTo>
                    <a:pt x="5212080" y="8503920"/>
                  </a:lnTo>
                  <a:cubicBezTo>
                    <a:pt x="5212080" y="8604885"/>
                    <a:pt x="5130165" y="8686800"/>
                    <a:pt x="5029200" y="8686800"/>
                  </a:cubicBezTo>
                  <a:lnTo>
                    <a:pt x="182880" y="8686800"/>
                  </a:lnTo>
                  <a:cubicBezTo>
                    <a:pt x="81915" y="8686800"/>
                    <a:pt x="0" y="8604885"/>
                    <a:pt x="0" y="8503920"/>
                  </a:cubicBezTo>
                  <a:close/>
                </a:path>
              </a:pathLst>
            </a:custGeom>
            <a:solidFill>
              <a:srgbClr val="F4F6FC"/>
            </a:solidFill>
          </p:spPr>
        </p:sp>
      </p:grpSp>
      <p:grpSp>
        <p:nvGrpSpPr>
          <p:cNvPr name="Group 81" id="81"/>
          <p:cNvGrpSpPr/>
          <p:nvPr/>
        </p:nvGrpSpPr>
        <p:grpSpPr>
          <a:xfrm rot="0">
            <a:off x="13716000" y="2400300"/>
            <a:ext cx="3909060" cy="891540"/>
            <a:chOff x="0" y="0"/>
            <a:chExt cx="5212080" cy="1188720"/>
          </a:xfrm>
        </p:grpSpPr>
        <p:sp>
          <p:nvSpPr>
            <p:cNvPr name="Freeform 82" id="82"/>
            <p:cNvSpPr/>
            <p:nvPr/>
          </p:nvSpPr>
          <p:spPr>
            <a:xfrm flipH="false" flipV="false" rot="0">
              <a:off x="0" y="0"/>
              <a:ext cx="5212080" cy="1188720"/>
            </a:xfrm>
            <a:custGeom>
              <a:avLst/>
              <a:gdLst/>
              <a:ahLst/>
              <a:cxnLst/>
              <a:rect r="r" b="b" t="t" l="l"/>
              <a:pathLst>
                <a:path h="1188720" w="5212080">
                  <a:moveTo>
                    <a:pt x="0" y="182880"/>
                  </a:moveTo>
                  <a:cubicBezTo>
                    <a:pt x="0" y="81915"/>
                    <a:pt x="81915" y="0"/>
                    <a:pt x="182880" y="0"/>
                  </a:cubicBezTo>
                  <a:lnTo>
                    <a:pt x="5029200" y="0"/>
                  </a:lnTo>
                  <a:cubicBezTo>
                    <a:pt x="5130165" y="0"/>
                    <a:pt x="5212080" y="81915"/>
                    <a:pt x="5212080" y="182880"/>
                  </a:cubicBezTo>
                  <a:lnTo>
                    <a:pt x="5212080" y="1005840"/>
                  </a:lnTo>
                  <a:cubicBezTo>
                    <a:pt x="5212080" y="1106805"/>
                    <a:pt x="5130165" y="1188720"/>
                    <a:pt x="5029200" y="1188720"/>
                  </a:cubicBezTo>
                  <a:lnTo>
                    <a:pt x="182880" y="1188720"/>
                  </a:lnTo>
                  <a:cubicBezTo>
                    <a:pt x="81915" y="1188720"/>
                    <a:pt x="0" y="1106805"/>
                    <a:pt x="0" y="1005840"/>
                  </a:cubicBezTo>
                  <a:close/>
                </a:path>
              </a:pathLst>
            </a:custGeom>
            <a:solidFill>
              <a:srgbClr val="E8664F"/>
            </a:solidFill>
          </p:spPr>
        </p:sp>
      </p:grpSp>
      <p:grpSp>
        <p:nvGrpSpPr>
          <p:cNvPr name="Group 83" id="83"/>
          <p:cNvGrpSpPr/>
          <p:nvPr/>
        </p:nvGrpSpPr>
        <p:grpSpPr>
          <a:xfrm rot="0">
            <a:off x="13925550" y="2100095"/>
            <a:ext cx="3497580" cy="1535962"/>
            <a:chOff x="0" y="0"/>
            <a:chExt cx="4663440" cy="2047949"/>
          </a:xfrm>
        </p:grpSpPr>
        <p:sp>
          <p:nvSpPr>
            <p:cNvPr name="Freeform 84" id="84"/>
            <p:cNvSpPr/>
            <p:nvPr/>
          </p:nvSpPr>
          <p:spPr>
            <a:xfrm flipH="false" flipV="false" rot="0">
              <a:off x="0" y="0"/>
              <a:ext cx="4663440" cy="2047949"/>
            </a:xfrm>
            <a:custGeom>
              <a:avLst/>
              <a:gdLst/>
              <a:ahLst/>
              <a:cxnLst/>
              <a:rect r="r" b="b" t="t" l="l"/>
              <a:pathLst>
                <a:path h="2047949" w="4663440">
                  <a:moveTo>
                    <a:pt x="0" y="0"/>
                  </a:moveTo>
                  <a:lnTo>
                    <a:pt x="4663440" y="0"/>
                  </a:lnTo>
                  <a:lnTo>
                    <a:pt x="4663440" y="2047949"/>
                  </a:lnTo>
                  <a:lnTo>
                    <a:pt x="0" y="2047949"/>
                  </a:lnTo>
                  <a:close/>
                </a:path>
              </a:pathLst>
            </a:custGeom>
            <a:blipFill>
              <a:blip r:embed="rId2">
                <a:alphaModFix amt="0"/>
              </a:blip>
              <a:stretch>
                <a:fillRect l="0" t="-15347" r="0" b="26607"/>
              </a:stretch>
            </a:blipFill>
          </p:spPr>
        </p:sp>
        <p:sp>
          <p:nvSpPr>
            <p:cNvPr name="TextBox 85" id="85"/>
            <p:cNvSpPr txBox="true"/>
            <p:nvPr/>
          </p:nvSpPr>
          <p:spPr>
            <a:xfrm>
              <a:off x="0" y="-19050"/>
              <a:ext cx="4663440" cy="2066999"/>
            </a:xfrm>
            <a:prstGeom prst="rect">
              <a:avLst/>
            </a:prstGeom>
          </p:spPr>
          <p:txBody>
            <a:bodyPr anchor="ctr" rtlCol="false" tIns="0" lIns="0" bIns="0" rIns="0"/>
            <a:lstStyle/>
            <a:p>
              <a:pPr algn="l">
                <a:lnSpc>
                  <a:spcPts val="2520"/>
                </a:lnSpc>
              </a:pPr>
              <a:r>
                <a:rPr lang="en-US" sz="2100" b="true">
                  <a:solidFill>
                    <a:srgbClr val="FFFFFF"/>
                  </a:solidFill>
                  <a:latin typeface="Cambria Bold"/>
                  <a:ea typeface="Cambria Bold"/>
                  <a:cs typeface="Cambria Bold"/>
                  <a:sym typeface="Cambria Bold"/>
                </a:rPr>
                <a:t>Control flow/behavior</a:t>
              </a:r>
            </a:p>
          </p:txBody>
        </p:sp>
      </p:grpSp>
      <p:grpSp>
        <p:nvGrpSpPr>
          <p:cNvPr name="Group 86" id="86"/>
          <p:cNvGrpSpPr/>
          <p:nvPr/>
        </p:nvGrpSpPr>
        <p:grpSpPr>
          <a:xfrm rot="0">
            <a:off x="14058900" y="3758184"/>
            <a:ext cx="123444" cy="123444"/>
            <a:chOff x="0" y="0"/>
            <a:chExt cx="164592" cy="164592"/>
          </a:xfrm>
        </p:grpSpPr>
        <p:sp>
          <p:nvSpPr>
            <p:cNvPr name="Freeform 87" id="87"/>
            <p:cNvSpPr/>
            <p:nvPr/>
          </p:nvSpPr>
          <p:spPr>
            <a:xfrm flipH="false" flipV="false" rot="0">
              <a:off x="0" y="0"/>
              <a:ext cx="164592" cy="164592"/>
            </a:xfrm>
            <a:custGeom>
              <a:avLst/>
              <a:gdLst/>
              <a:ahLst/>
              <a:cxnLst/>
              <a:rect r="r" b="b" t="t" l="l"/>
              <a:pathLst>
                <a:path h="164592" w="164592">
                  <a:moveTo>
                    <a:pt x="0" y="82296"/>
                  </a:moveTo>
                  <a:cubicBezTo>
                    <a:pt x="0" y="36830"/>
                    <a:pt x="36830" y="0"/>
                    <a:pt x="82296" y="0"/>
                  </a:cubicBezTo>
                  <a:cubicBezTo>
                    <a:pt x="127762" y="0"/>
                    <a:pt x="164592" y="36830"/>
                    <a:pt x="164592" y="82296"/>
                  </a:cubicBezTo>
                  <a:cubicBezTo>
                    <a:pt x="164592" y="127762"/>
                    <a:pt x="127762" y="164592"/>
                    <a:pt x="82296" y="164592"/>
                  </a:cubicBezTo>
                  <a:cubicBezTo>
                    <a:pt x="36830" y="164592"/>
                    <a:pt x="0" y="127762"/>
                    <a:pt x="0" y="82296"/>
                  </a:cubicBezTo>
                  <a:close/>
                </a:path>
              </a:pathLst>
            </a:custGeom>
            <a:solidFill>
              <a:srgbClr val="E8664F"/>
            </a:solidFill>
          </p:spPr>
        </p:sp>
      </p:grpSp>
      <p:grpSp>
        <p:nvGrpSpPr>
          <p:cNvPr name="Group 88" id="88"/>
          <p:cNvGrpSpPr/>
          <p:nvPr/>
        </p:nvGrpSpPr>
        <p:grpSpPr>
          <a:xfrm rot="0">
            <a:off x="14333220" y="3634740"/>
            <a:ext cx="3017520" cy="685800"/>
            <a:chOff x="0" y="0"/>
            <a:chExt cx="4023360" cy="914400"/>
          </a:xfrm>
        </p:grpSpPr>
        <p:sp>
          <p:nvSpPr>
            <p:cNvPr name="Freeform 89" id="89"/>
            <p:cNvSpPr/>
            <p:nvPr/>
          </p:nvSpPr>
          <p:spPr>
            <a:xfrm flipH="false" flipV="false" rot="0">
              <a:off x="0" y="0"/>
              <a:ext cx="4023360" cy="914400"/>
            </a:xfrm>
            <a:custGeom>
              <a:avLst/>
              <a:gdLst/>
              <a:ahLst/>
              <a:cxnLst/>
              <a:rect r="r" b="b" t="t" l="l"/>
              <a:pathLst>
                <a:path h="914400" w="4023360">
                  <a:moveTo>
                    <a:pt x="0" y="0"/>
                  </a:moveTo>
                  <a:lnTo>
                    <a:pt x="4023360" y="0"/>
                  </a:lnTo>
                  <a:lnTo>
                    <a:pt x="4023360" y="914400"/>
                  </a:lnTo>
                  <a:lnTo>
                    <a:pt x="0" y="914400"/>
                  </a:lnTo>
                  <a:close/>
                </a:path>
              </a:pathLst>
            </a:custGeom>
            <a:blipFill>
              <a:blip r:embed="rId2">
                <a:alphaModFix amt="0"/>
              </a:blip>
              <a:stretch>
                <a:fillRect l="0" t="-35734" r="0" b="-35734"/>
              </a:stretch>
            </a:blipFill>
          </p:spPr>
        </p:sp>
        <p:sp>
          <p:nvSpPr>
            <p:cNvPr name="TextBox 90" id="90"/>
            <p:cNvSpPr txBox="true"/>
            <p:nvPr/>
          </p:nvSpPr>
          <p:spPr>
            <a:xfrm>
              <a:off x="0" y="-38100"/>
              <a:ext cx="4023360" cy="952500"/>
            </a:xfrm>
            <a:prstGeom prst="rect">
              <a:avLst/>
            </a:prstGeom>
          </p:spPr>
          <p:txBody>
            <a:bodyPr anchor="ctr" rtlCol="false" tIns="0" lIns="0" bIns="0" rIns="0"/>
            <a:lstStyle/>
            <a:p>
              <a:pPr algn="l">
                <a:lnSpc>
                  <a:spcPts val="2250"/>
                </a:lnSpc>
              </a:pPr>
              <a:r>
                <a:rPr lang="en-US" sz="1875">
                  <a:solidFill>
                    <a:srgbClr val="2B2B38"/>
                  </a:solidFill>
                  <a:latin typeface="Calibri (MS)"/>
                  <a:ea typeface="Calibri (MS)"/>
                  <a:cs typeface="Calibri (MS)"/>
                  <a:sym typeface="Calibri (MS)"/>
                </a:rPr>
                <a:t>Self-RAG</a:t>
              </a:r>
            </a:p>
          </p:txBody>
        </p:sp>
      </p:grpSp>
      <p:grpSp>
        <p:nvGrpSpPr>
          <p:cNvPr name="Group 91" id="91"/>
          <p:cNvGrpSpPr/>
          <p:nvPr/>
        </p:nvGrpSpPr>
        <p:grpSpPr>
          <a:xfrm rot="0">
            <a:off x="14058900" y="4608576"/>
            <a:ext cx="123444" cy="123444"/>
            <a:chOff x="0" y="0"/>
            <a:chExt cx="164592" cy="164592"/>
          </a:xfrm>
        </p:grpSpPr>
        <p:sp>
          <p:nvSpPr>
            <p:cNvPr name="Freeform 92" id="92"/>
            <p:cNvSpPr/>
            <p:nvPr/>
          </p:nvSpPr>
          <p:spPr>
            <a:xfrm flipH="false" flipV="false" rot="0">
              <a:off x="0" y="0"/>
              <a:ext cx="164592" cy="164592"/>
            </a:xfrm>
            <a:custGeom>
              <a:avLst/>
              <a:gdLst/>
              <a:ahLst/>
              <a:cxnLst/>
              <a:rect r="r" b="b" t="t" l="l"/>
              <a:pathLst>
                <a:path h="164592" w="164592">
                  <a:moveTo>
                    <a:pt x="0" y="82296"/>
                  </a:moveTo>
                  <a:cubicBezTo>
                    <a:pt x="0" y="36830"/>
                    <a:pt x="36830" y="0"/>
                    <a:pt x="82296" y="0"/>
                  </a:cubicBezTo>
                  <a:cubicBezTo>
                    <a:pt x="127762" y="0"/>
                    <a:pt x="164592" y="36830"/>
                    <a:pt x="164592" y="82296"/>
                  </a:cubicBezTo>
                  <a:cubicBezTo>
                    <a:pt x="164592" y="127762"/>
                    <a:pt x="127762" y="164592"/>
                    <a:pt x="82296" y="164592"/>
                  </a:cubicBezTo>
                  <a:cubicBezTo>
                    <a:pt x="36830" y="164592"/>
                    <a:pt x="0" y="127762"/>
                    <a:pt x="0" y="82296"/>
                  </a:cubicBezTo>
                  <a:close/>
                </a:path>
              </a:pathLst>
            </a:custGeom>
            <a:solidFill>
              <a:srgbClr val="E8664F"/>
            </a:solidFill>
          </p:spPr>
        </p:sp>
      </p:grpSp>
      <p:grpSp>
        <p:nvGrpSpPr>
          <p:cNvPr name="Group 93" id="93"/>
          <p:cNvGrpSpPr/>
          <p:nvPr/>
        </p:nvGrpSpPr>
        <p:grpSpPr>
          <a:xfrm rot="0">
            <a:off x="14333220" y="4485132"/>
            <a:ext cx="3017520" cy="685800"/>
            <a:chOff x="0" y="0"/>
            <a:chExt cx="4023360" cy="914400"/>
          </a:xfrm>
        </p:grpSpPr>
        <p:sp>
          <p:nvSpPr>
            <p:cNvPr name="Freeform 94" id="94"/>
            <p:cNvSpPr/>
            <p:nvPr/>
          </p:nvSpPr>
          <p:spPr>
            <a:xfrm flipH="false" flipV="false" rot="0">
              <a:off x="0" y="0"/>
              <a:ext cx="4023360" cy="914400"/>
            </a:xfrm>
            <a:custGeom>
              <a:avLst/>
              <a:gdLst/>
              <a:ahLst/>
              <a:cxnLst/>
              <a:rect r="r" b="b" t="t" l="l"/>
              <a:pathLst>
                <a:path h="914400" w="4023360">
                  <a:moveTo>
                    <a:pt x="0" y="0"/>
                  </a:moveTo>
                  <a:lnTo>
                    <a:pt x="4023360" y="0"/>
                  </a:lnTo>
                  <a:lnTo>
                    <a:pt x="4023360" y="914400"/>
                  </a:lnTo>
                  <a:lnTo>
                    <a:pt x="0" y="914400"/>
                  </a:lnTo>
                  <a:close/>
                </a:path>
              </a:pathLst>
            </a:custGeom>
            <a:blipFill>
              <a:blip r:embed="rId2">
                <a:alphaModFix amt="0"/>
              </a:blip>
              <a:stretch>
                <a:fillRect l="0" t="-35734" r="0" b="-35734"/>
              </a:stretch>
            </a:blipFill>
          </p:spPr>
        </p:sp>
        <p:sp>
          <p:nvSpPr>
            <p:cNvPr name="TextBox 95" id="95"/>
            <p:cNvSpPr txBox="true"/>
            <p:nvPr/>
          </p:nvSpPr>
          <p:spPr>
            <a:xfrm>
              <a:off x="0" y="-38100"/>
              <a:ext cx="4023360" cy="952500"/>
            </a:xfrm>
            <a:prstGeom prst="rect">
              <a:avLst/>
            </a:prstGeom>
          </p:spPr>
          <p:txBody>
            <a:bodyPr anchor="ctr" rtlCol="false" tIns="0" lIns="0" bIns="0" rIns="0"/>
            <a:lstStyle/>
            <a:p>
              <a:pPr algn="l">
                <a:lnSpc>
                  <a:spcPts val="2250"/>
                </a:lnSpc>
              </a:pPr>
              <a:r>
                <a:rPr lang="en-US" sz="1875">
                  <a:solidFill>
                    <a:srgbClr val="2B2B38"/>
                  </a:solidFill>
                  <a:latin typeface="Calibri (MS)"/>
                  <a:ea typeface="Calibri (MS)"/>
                  <a:cs typeface="Calibri (MS)"/>
                  <a:sym typeface="Calibri (MS)"/>
                </a:rPr>
                <a:t>Corrective RAG</a:t>
              </a:r>
            </a:p>
          </p:txBody>
        </p:sp>
      </p:grpSp>
      <p:grpSp>
        <p:nvGrpSpPr>
          <p:cNvPr name="Group 96" id="96"/>
          <p:cNvGrpSpPr/>
          <p:nvPr/>
        </p:nvGrpSpPr>
        <p:grpSpPr>
          <a:xfrm rot="0">
            <a:off x="14058900" y="5458968"/>
            <a:ext cx="123444" cy="123444"/>
            <a:chOff x="0" y="0"/>
            <a:chExt cx="164592" cy="164592"/>
          </a:xfrm>
        </p:grpSpPr>
        <p:sp>
          <p:nvSpPr>
            <p:cNvPr name="Freeform 97" id="97"/>
            <p:cNvSpPr/>
            <p:nvPr/>
          </p:nvSpPr>
          <p:spPr>
            <a:xfrm flipH="false" flipV="false" rot="0">
              <a:off x="0" y="0"/>
              <a:ext cx="164592" cy="164592"/>
            </a:xfrm>
            <a:custGeom>
              <a:avLst/>
              <a:gdLst/>
              <a:ahLst/>
              <a:cxnLst/>
              <a:rect r="r" b="b" t="t" l="l"/>
              <a:pathLst>
                <a:path h="164592" w="164592">
                  <a:moveTo>
                    <a:pt x="0" y="82296"/>
                  </a:moveTo>
                  <a:cubicBezTo>
                    <a:pt x="0" y="36830"/>
                    <a:pt x="36830" y="0"/>
                    <a:pt x="82296" y="0"/>
                  </a:cubicBezTo>
                  <a:cubicBezTo>
                    <a:pt x="127762" y="0"/>
                    <a:pt x="164592" y="36830"/>
                    <a:pt x="164592" y="82296"/>
                  </a:cubicBezTo>
                  <a:cubicBezTo>
                    <a:pt x="164592" y="127762"/>
                    <a:pt x="127762" y="164592"/>
                    <a:pt x="82296" y="164592"/>
                  </a:cubicBezTo>
                  <a:cubicBezTo>
                    <a:pt x="36830" y="164592"/>
                    <a:pt x="0" y="127762"/>
                    <a:pt x="0" y="82296"/>
                  </a:cubicBezTo>
                  <a:close/>
                </a:path>
              </a:pathLst>
            </a:custGeom>
            <a:solidFill>
              <a:srgbClr val="E8664F"/>
            </a:solidFill>
          </p:spPr>
        </p:sp>
      </p:grpSp>
      <p:grpSp>
        <p:nvGrpSpPr>
          <p:cNvPr name="Group 98" id="98"/>
          <p:cNvGrpSpPr/>
          <p:nvPr/>
        </p:nvGrpSpPr>
        <p:grpSpPr>
          <a:xfrm rot="0">
            <a:off x="14333220" y="5335524"/>
            <a:ext cx="3017520" cy="685800"/>
            <a:chOff x="0" y="0"/>
            <a:chExt cx="4023360" cy="914400"/>
          </a:xfrm>
        </p:grpSpPr>
        <p:sp>
          <p:nvSpPr>
            <p:cNvPr name="Freeform 99" id="99"/>
            <p:cNvSpPr/>
            <p:nvPr/>
          </p:nvSpPr>
          <p:spPr>
            <a:xfrm flipH="false" flipV="false" rot="0">
              <a:off x="0" y="0"/>
              <a:ext cx="4023360" cy="914400"/>
            </a:xfrm>
            <a:custGeom>
              <a:avLst/>
              <a:gdLst/>
              <a:ahLst/>
              <a:cxnLst/>
              <a:rect r="r" b="b" t="t" l="l"/>
              <a:pathLst>
                <a:path h="914400" w="4023360">
                  <a:moveTo>
                    <a:pt x="0" y="0"/>
                  </a:moveTo>
                  <a:lnTo>
                    <a:pt x="4023360" y="0"/>
                  </a:lnTo>
                  <a:lnTo>
                    <a:pt x="4023360" y="914400"/>
                  </a:lnTo>
                  <a:lnTo>
                    <a:pt x="0" y="914400"/>
                  </a:lnTo>
                  <a:close/>
                </a:path>
              </a:pathLst>
            </a:custGeom>
            <a:blipFill>
              <a:blip r:embed="rId2">
                <a:alphaModFix amt="0"/>
              </a:blip>
              <a:stretch>
                <a:fillRect l="0" t="-35734" r="0" b="-35734"/>
              </a:stretch>
            </a:blipFill>
          </p:spPr>
        </p:sp>
        <p:sp>
          <p:nvSpPr>
            <p:cNvPr name="TextBox 100" id="100"/>
            <p:cNvSpPr txBox="true"/>
            <p:nvPr/>
          </p:nvSpPr>
          <p:spPr>
            <a:xfrm>
              <a:off x="0" y="-38100"/>
              <a:ext cx="4023360" cy="952500"/>
            </a:xfrm>
            <a:prstGeom prst="rect">
              <a:avLst/>
            </a:prstGeom>
          </p:spPr>
          <p:txBody>
            <a:bodyPr anchor="ctr" rtlCol="false" tIns="0" lIns="0" bIns="0" rIns="0"/>
            <a:lstStyle/>
            <a:p>
              <a:pPr algn="l">
                <a:lnSpc>
                  <a:spcPts val="2250"/>
                </a:lnSpc>
              </a:pPr>
              <a:r>
                <a:rPr lang="en-US" sz="1875">
                  <a:solidFill>
                    <a:srgbClr val="2B2B38"/>
                  </a:solidFill>
                  <a:latin typeface="Calibri (MS)"/>
                  <a:ea typeface="Calibri (MS)"/>
                  <a:cs typeface="Calibri (MS)"/>
                  <a:sym typeface="Calibri (MS)"/>
                </a:rPr>
                <a:t>FLARE</a:t>
              </a:r>
            </a:p>
          </p:txBody>
        </p:sp>
      </p:grpSp>
      <p:grpSp>
        <p:nvGrpSpPr>
          <p:cNvPr name="Group 101" id="101"/>
          <p:cNvGrpSpPr/>
          <p:nvPr/>
        </p:nvGrpSpPr>
        <p:grpSpPr>
          <a:xfrm rot="0">
            <a:off x="14058900" y="6309360"/>
            <a:ext cx="123444" cy="123444"/>
            <a:chOff x="0" y="0"/>
            <a:chExt cx="164592" cy="164592"/>
          </a:xfrm>
        </p:grpSpPr>
        <p:sp>
          <p:nvSpPr>
            <p:cNvPr name="Freeform 102" id="102"/>
            <p:cNvSpPr/>
            <p:nvPr/>
          </p:nvSpPr>
          <p:spPr>
            <a:xfrm flipH="false" flipV="false" rot="0">
              <a:off x="0" y="0"/>
              <a:ext cx="164592" cy="164592"/>
            </a:xfrm>
            <a:custGeom>
              <a:avLst/>
              <a:gdLst/>
              <a:ahLst/>
              <a:cxnLst/>
              <a:rect r="r" b="b" t="t" l="l"/>
              <a:pathLst>
                <a:path h="164592" w="164592">
                  <a:moveTo>
                    <a:pt x="0" y="82296"/>
                  </a:moveTo>
                  <a:cubicBezTo>
                    <a:pt x="0" y="36830"/>
                    <a:pt x="36830" y="0"/>
                    <a:pt x="82296" y="0"/>
                  </a:cubicBezTo>
                  <a:cubicBezTo>
                    <a:pt x="127762" y="0"/>
                    <a:pt x="164592" y="36830"/>
                    <a:pt x="164592" y="82296"/>
                  </a:cubicBezTo>
                  <a:cubicBezTo>
                    <a:pt x="164592" y="127762"/>
                    <a:pt x="127762" y="164592"/>
                    <a:pt x="82296" y="164592"/>
                  </a:cubicBezTo>
                  <a:cubicBezTo>
                    <a:pt x="36830" y="164592"/>
                    <a:pt x="0" y="127762"/>
                    <a:pt x="0" y="82296"/>
                  </a:cubicBezTo>
                  <a:close/>
                </a:path>
              </a:pathLst>
            </a:custGeom>
            <a:solidFill>
              <a:srgbClr val="E8664F"/>
            </a:solidFill>
          </p:spPr>
        </p:sp>
      </p:grpSp>
      <p:grpSp>
        <p:nvGrpSpPr>
          <p:cNvPr name="Group 103" id="103"/>
          <p:cNvGrpSpPr/>
          <p:nvPr/>
        </p:nvGrpSpPr>
        <p:grpSpPr>
          <a:xfrm rot="0">
            <a:off x="14333220" y="6185916"/>
            <a:ext cx="3017520" cy="685800"/>
            <a:chOff x="0" y="0"/>
            <a:chExt cx="4023360" cy="914400"/>
          </a:xfrm>
        </p:grpSpPr>
        <p:sp>
          <p:nvSpPr>
            <p:cNvPr name="Freeform 104" id="104"/>
            <p:cNvSpPr/>
            <p:nvPr/>
          </p:nvSpPr>
          <p:spPr>
            <a:xfrm flipH="false" flipV="false" rot="0">
              <a:off x="0" y="0"/>
              <a:ext cx="4023360" cy="914400"/>
            </a:xfrm>
            <a:custGeom>
              <a:avLst/>
              <a:gdLst/>
              <a:ahLst/>
              <a:cxnLst/>
              <a:rect r="r" b="b" t="t" l="l"/>
              <a:pathLst>
                <a:path h="914400" w="4023360">
                  <a:moveTo>
                    <a:pt x="0" y="0"/>
                  </a:moveTo>
                  <a:lnTo>
                    <a:pt x="4023360" y="0"/>
                  </a:lnTo>
                  <a:lnTo>
                    <a:pt x="4023360" y="914400"/>
                  </a:lnTo>
                  <a:lnTo>
                    <a:pt x="0" y="914400"/>
                  </a:lnTo>
                  <a:close/>
                </a:path>
              </a:pathLst>
            </a:custGeom>
            <a:blipFill>
              <a:blip r:embed="rId2">
                <a:alphaModFix amt="0"/>
              </a:blip>
              <a:stretch>
                <a:fillRect l="0" t="-35734" r="0" b="-35734"/>
              </a:stretch>
            </a:blipFill>
          </p:spPr>
        </p:sp>
        <p:sp>
          <p:nvSpPr>
            <p:cNvPr name="TextBox 105" id="105"/>
            <p:cNvSpPr txBox="true"/>
            <p:nvPr/>
          </p:nvSpPr>
          <p:spPr>
            <a:xfrm>
              <a:off x="0" y="-38100"/>
              <a:ext cx="4023360" cy="952500"/>
            </a:xfrm>
            <a:prstGeom prst="rect">
              <a:avLst/>
            </a:prstGeom>
          </p:spPr>
          <p:txBody>
            <a:bodyPr anchor="ctr" rtlCol="false" tIns="0" lIns="0" bIns="0" rIns="0"/>
            <a:lstStyle/>
            <a:p>
              <a:pPr algn="l">
                <a:lnSpc>
                  <a:spcPts val="2250"/>
                </a:lnSpc>
              </a:pPr>
              <a:r>
                <a:rPr lang="en-US" sz="1875">
                  <a:solidFill>
                    <a:srgbClr val="2B2B38"/>
                  </a:solidFill>
                  <a:latin typeface="Calibri (MS)"/>
                  <a:ea typeface="Calibri (MS)"/>
                  <a:cs typeface="Calibri (MS)"/>
                  <a:sym typeface="Calibri (MS)"/>
                </a:rPr>
                <a:t>Adaptive RAG</a:t>
              </a:r>
            </a:p>
          </p:txBody>
        </p:sp>
      </p:grpSp>
      <p:grpSp>
        <p:nvGrpSpPr>
          <p:cNvPr name="Group 106" id="106"/>
          <p:cNvGrpSpPr/>
          <p:nvPr/>
        </p:nvGrpSpPr>
        <p:grpSpPr>
          <a:xfrm rot="0">
            <a:off x="17282160" y="9710928"/>
            <a:ext cx="685800" cy="411480"/>
            <a:chOff x="0" y="0"/>
            <a:chExt cx="914400" cy="548640"/>
          </a:xfrm>
        </p:grpSpPr>
        <p:sp>
          <p:nvSpPr>
            <p:cNvPr name="Freeform 107" id="107"/>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108" id="108"/>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E7591"/>
                  </a:solidFill>
                  <a:latin typeface="Calibri (MS)"/>
                  <a:ea typeface="Calibri (MS)"/>
                  <a:cs typeface="Calibri (MS)"/>
                  <a:sym typeface="Calibri (MS)"/>
                </a:rPr>
                <a:t>4</a:t>
              </a:r>
            </a:p>
          </p:txBody>
        </p:sp>
      </p:grpSp>
      <p:grpSp>
        <p:nvGrpSpPr>
          <p:cNvPr name="Group 109" id="109"/>
          <p:cNvGrpSpPr/>
          <p:nvPr/>
        </p:nvGrpSpPr>
        <p:grpSpPr>
          <a:xfrm rot="0">
            <a:off x="914298" y="1458230"/>
            <a:ext cx="8892642" cy="46196"/>
            <a:chOff x="0" y="0"/>
            <a:chExt cx="1860174" cy="9663"/>
          </a:xfrm>
        </p:grpSpPr>
        <p:sp>
          <p:nvSpPr>
            <p:cNvPr name="Freeform 110" id="110"/>
            <p:cNvSpPr/>
            <p:nvPr/>
          </p:nvSpPr>
          <p:spPr>
            <a:xfrm flipH="false" flipV="false" rot="0">
              <a:off x="0" y="0"/>
              <a:ext cx="1860174" cy="9663"/>
            </a:xfrm>
            <a:custGeom>
              <a:avLst/>
              <a:gdLst/>
              <a:ahLst/>
              <a:cxnLst/>
              <a:rect r="r" b="b" t="t" l="l"/>
              <a:pathLst>
                <a:path h="9663" w="1860174">
                  <a:moveTo>
                    <a:pt x="0" y="4832"/>
                  </a:moveTo>
                  <a:cubicBezTo>
                    <a:pt x="0" y="2163"/>
                    <a:pt x="416308" y="0"/>
                    <a:pt x="930087" y="0"/>
                  </a:cubicBezTo>
                  <a:cubicBezTo>
                    <a:pt x="1443866" y="0"/>
                    <a:pt x="1860174" y="2163"/>
                    <a:pt x="1860174" y="4832"/>
                  </a:cubicBezTo>
                  <a:cubicBezTo>
                    <a:pt x="1860174" y="7501"/>
                    <a:pt x="1443866" y="9663"/>
                    <a:pt x="930087" y="9663"/>
                  </a:cubicBezTo>
                  <a:cubicBezTo>
                    <a:pt x="416308" y="9663"/>
                    <a:pt x="0" y="7501"/>
                    <a:pt x="0" y="4832"/>
                  </a:cubicBezTo>
                  <a:close/>
                </a:path>
              </a:pathLst>
            </a:custGeom>
            <a:solidFill>
              <a:srgbClr val="E8664F"/>
            </a:solid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00147" y="-723696"/>
            <a:ext cx="10972800" cy="3516213"/>
            <a:chOff x="0" y="0"/>
            <a:chExt cx="14630400" cy="4688284"/>
          </a:xfrm>
        </p:grpSpPr>
        <p:sp>
          <p:nvSpPr>
            <p:cNvPr name="Freeform 3" id="3"/>
            <p:cNvSpPr/>
            <p:nvPr/>
          </p:nvSpPr>
          <p:spPr>
            <a:xfrm flipH="false" flipV="false" rot="0">
              <a:off x="0" y="0"/>
              <a:ext cx="14630400" cy="4688284"/>
            </a:xfrm>
            <a:custGeom>
              <a:avLst/>
              <a:gdLst/>
              <a:ahLst/>
              <a:cxnLst/>
              <a:rect r="r" b="b" t="t" l="l"/>
              <a:pathLst>
                <a:path h="4688284" w="14630400">
                  <a:moveTo>
                    <a:pt x="0" y="0"/>
                  </a:moveTo>
                  <a:lnTo>
                    <a:pt x="14630400" y="0"/>
                  </a:lnTo>
                  <a:lnTo>
                    <a:pt x="14630400" y="4688284"/>
                  </a:lnTo>
                  <a:lnTo>
                    <a:pt x="0" y="4688284"/>
                  </a:lnTo>
                  <a:close/>
                </a:path>
              </a:pathLst>
            </a:custGeom>
            <a:blipFill>
              <a:blip r:embed="rId2">
                <a:alphaModFix amt="0"/>
              </a:blip>
              <a:stretch>
                <a:fillRect l="0" t="-49103" r="0" b="27492"/>
              </a:stretch>
            </a:blipFill>
          </p:spPr>
        </p:sp>
        <p:sp>
          <p:nvSpPr>
            <p:cNvPr name="TextBox 4" id="4"/>
            <p:cNvSpPr txBox="true"/>
            <p:nvPr/>
          </p:nvSpPr>
          <p:spPr>
            <a:xfrm>
              <a:off x="0" y="-9525"/>
              <a:ext cx="14630400" cy="4697809"/>
            </a:xfrm>
            <a:prstGeom prst="rect">
              <a:avLst/>
            </a:prstGeom>
          </p:spPr>
          <p:txBody>
            <a:bodyPr anchor="ctr" rtlCol="false" tIns="0" lIns="0" bIns="0" rIns="0"/>
            <a:lstStyle/>
            <a:p>
              <a:pPr algn="l">
                <a:lnSpc>
                  <a:spcPts val="5759"/>
                </a:lnSpc>
              </a:pPr>
              <a:r>
                <a:rPr lang="en-US" sz="4800" b="true">
                  <a:solidFill>
                    <a:srgbClr val="1E2761"/>
                  </a:solidFill>
                  <a:latin typeface="Cambria Bold"/>
                  <a:ea typeface="Cambria Bold"/>
                  <a:cs typeface="Cambria Bold"/>
                  <a:sym typeface="Cambria Bold"/>
                </a:rPr>
                <a:t>Things to consider</a:t>
              </a:r>
            </a:p>
          </p:txBody>
        </p:sp>
      </p:grpSp>
      <p:grpSp>
        <p:nvGrpSpPr>
          <p:cNvPr name="Group 5" id="5"/>
          <p:cNvGrpSpPr/>
          <p:nvPr/>
        </p:nvGrpSpPr>
        <p:grpSpPr>
          <a:xfrm rot="0">
            <a:off x="960120" y="1481328"/>
            <a:ext cx="13716000" cy="548640"/>
            <a:chOff x="0" y="0"/>
            <a:chExt cx="18288000" cy="731520"/>
          </a:xfrm>
        </p:grpSpPr>
        <p:sp>
          <p:nvSpPr>
            <p:cNvPr name="Freeform 6" id="6"/>
            <p:cNvSpPr/>
            <p:nvPr/>
          </p:nvSpPr>
          <p:spPr>
            <a:xfrm flipH="false" flipV="false" rot="0">
              <a:off x="0" y="0"/>
              <a:ext cx="18288000" cy="731520"/>
            </a:xfrm>
            <a:custGeom>
              <a:avLst/>
              <a:gdLst/>
              <a:ahLst/>
              <a:cxnLst/>
              <a:rect r="r" b="b" t="t" l="l"/>
              <a:pathLst>
                <a:path h="731520" w="18288000">
                  <a:moveTo>
                    <a:pt x="0" y="0"/>
                  </a:moveTo>
                  <a:lnTo>
                    <a:pt x="18288000" y="0"/>
                  </a:lnTo>
                  <a:lnTo>
                    <a:pt x="18288000" y="731520"/>
                  </a:lnTo>
                  <a:lnTo>
                    <a:pt x="0" y="731520"/>
                  </a:lnTo>
                  <a:close/>
                </a:path>
              </a:pathLst>
            </a:custGeom>
            <a:blipFill>
              <a:blip r:embed="rId2">
                <a:alphaModFix amt="0"/>
              </a:blip>
              <a:stretch>
                <a:fillRect l="0" t="-437125" r="0" b="-437125"/>
              </a:stretch>
            </a:blipFill>
          </p:spPr>
        </p:sp>
        <p:sp>
          <p:nvSpPr>
            <p:cNvPr name="TextBox 7" id="7"/>
            <p:cNvSpPr txBox="true"/>
            <p:nvPr/>
          </p:nvSpPr>
          <p:spPr>
            <a:xfrm>
              <a:off x="0" y="-57150"/>
              <a:ext cx="18288000" cy="788670"/>
            </a:xfrm>
            <a:prstGeom prst="rect">
              <a:avLst/>
            </a:prstGeom>
          </p:spPr>
          <p:txBody>
            <a:bodyPr anchor="ctr" rtlCol="false" tIns="0" lIns="0" bIns="0" rIns="0"/>
            <a:lstStyle/>
            <a:p>
              <a:pPr algn="l">
                <a:lnSpc>
                  <a:spcPts val="2700"/>
                </a:lnSpc>
              </a:pPr>
              <a:r>
                <a:rPr lang="en-US" sz="2250" i="true">
                  <a:solidFill>
                    <a:srgbClr val="6E7591"/>
                  </a:solidFill>
                  <a:latin typeface="Calibri (MS) Italics"/>
                  <a:ea typeface="Calibri (MS) Italics"/>
                  <a:cs typeface="Calibri (MS) Italics"/>
                  <a:sym typeface="Calibri (MS) Italics"/>
                </a:rPr>
                <a:t>Changes can be applied to different components</a:t>
              </a:r>
            </a:p>
          </p:txBody>
        </p:sp>
      </p:grpSp>
      <p:grpSp>
        <p:nvGrpSpPr>
          <p:cNvPr name="Group 8" id="8"/>
          <p:cNvGrpSpPr/>
          <p:nvPr/>
        </p:nvGrpSpPr>
        <p:grpSpPr>
          <a:xfrm rot="0">
            <a:off x="17282160" y="9710928"/>
            <a:ext cx="685800" cy="411480"/>
            <a:chOff x="0" y="0"/>
            <a:chExt cx="914400" cy="548640"/>
          </a:xfrm>
        </p:grpSpPr>
        <p:sp>
          <p:nvSpPr>
            <p:cNvPr name="Freeform 9" id="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10" id="10"/>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E7591"/>
                  </a:solidFill>
                  <a:latin typeface="Calibri (MS)"/>
                  <a:ea typeface="Calibri (MS)"/>
                  <a:cs typeface="Calibri (MS)"/>
                  <a:sym typeface="Calibri (MS)"/>
                </a:rPr>
                <a:t>4</a:t>
              </a:r>
            </a:p>
          </p:txBody>
        </p:sp>
      </p:grpSp>
      <p:grpSp>
        <p:nvGrpSpPr>
          <p:cNvPr name="Group 11" id="11"/>
          <p:cNvGrpSpPr/>
          <p:nvPr/>
        </p:nvGrpSpPr>
        <p:grpSpPr>
          <a:xfrm rot="0">
            <a:off x="914298" y="1458230"/>
            <a:ext cx="8892642" cy="46196"/>
            <a:chOff x="0" y="0"/>
            <a:chExt cx="1860174" cy="9663"/>
          </a:xfrm>
        </p:grpSpPr>
        <p:sp>
          <p:nvSpPr>
            <p:cNvPr name="Freeform 12" id="12"/>
            <p:cNvSpPr/>
            <p:nvPr/>
          </p:nvSpPr>
          <p:spPr>
            <a:xfrm flipH="false" flipV="false" rot="0">
              <a:off x="0" y="0"/>
              <a:ext cx="1860174" cy="9663"/>
            </a:xfrm>
            <a:custGeom>
              <a:avLst/>
              <a:gdLst/>
              <a:ahLst/>
              <a:cxnLst/>
              <a:rect r="r" b="b" t="t" l="l"/>
              <a:pathLst>
                <a:path h="9663" w="1860174">
                  <a:moveTo>
                    <a:pt x="0" y="4832"/>
                  </a:moveTo>
                  <a:cubicBezTo>
                    <a:pt x="0" y="2163"/>
                    <a:pt x="416308" y="0"/>
                    <a:pt x="930087" y="0"/>
                  </a:cubicBezTo>
                  <a:cubicBezTo>
                    <a:pt x="1443866" y="0"/>
                    <a:pt x="1860174" y="2163"/>
                    <a:pt x="1860174" y="4832"/>
                  </a:cubicBezTo>
                  <a:cubicBezTo>
                    <a:pt x="1860174" y="7501"/>
                    <a:pt x="1443866" y="9663"/>
                    <a:pt x="930087" y="9663"/>
                  </a:cubicBezTo>
                  <a:cubicBezTo>
                    <a:pt x="416308" y="9663"/>
                    <a:pt x="0" y="7501"/>
                    <a:pt x="0" y="4832"/>
                  </a:cubicBezTo>
                  <a:close/>
                </a:path>
              </a:pathLst>
            </a:custGeom>
            <a:solidFill>
              <a:srgbClr val="E8664F"/>
            </a:solidFill>
          </p:spPr>
        </p:sp>
      </p:grpSp>
      <p:grpSp>
        <p:nvGrpSpPr>
          <p:cNvPr name="Group 13" id="13"/>
          <p:cNvGrpSpPr/>
          <p:nvPr/>
        </p:nvGrpSpPr>
        <p:grpSpPr>
          <a:xfrm rot="0">
            <a:off x="960120" y="2537460"/>
            <a:ext cx="7818120" cy="6446520"/>
            <a:chOff x="0" y="0"/>
            <a:chExt cx="10424160" cy="8595360"/>
          </a:xfrm>
        </p:grpSpPr>
        <p:sp>
          <p:nvSpPr>
            <p:cNvPr name="Freeform 14" id="14"/>
            <p:cNvSpPr/>
            <p:nvPr/>
          </p:nvSpPr>
          <p:spPr>
            <a:xfrm flipH="false" flipV="false" rot="0">
              <a:off x="0" y="0"/>
              <a:ext cx="10424160" cy="8595360"/>
            </a:xfrm>
            <a:custGeom>
              <a:avLst/>
              <a:gdLst/>
              <a:ahLst/>
              <a:cxnLst/>
              <a:rect r="r" b="b" t="t" l="l"/>
              <a:pathLst>
                <a:path h="8595360" w="10424160">
                  <a:moveTo>
                    <a:pt x="0" y="182880"/>
                  </a:moveTo>
                  <a:cubicBezTo>
                    <a:pt x="0" y="81915"/>
                    <a:pt x="81915" y="0"/>
                    <a:pt x="182880" y="0"/>
                  </a:cubicBezTo>
                  <a:lnTo>
                    <a:pt x="10241280" y="0"/>
                  </a:lnTo>
                  <a:cubicBezTo>
                    <a:pt x="10342245" y="0"/>
                    <a:pt x="10424160" y="81915"/>
                    <a:pt x="10424160" y="182880"/>
                  </a:cubicBezTo>
                  <a:lnTo>
                    <a:pt x="10424160" y="8412480"/>
                  </a:lnTo>
                  <a:cubicBezTo>
                    <a:pt x="10424160" y="8513445"/>
                    <a:pt x="10342245" y="8595360"/>
                    <a:pt x="10241280" y="8595360"/>
                  </a:cubicBezTo>
                  <a:lnTo>
                    <a:pt x="182880" y="8595360"/>
                  </a:lnTo>
                  <a:cubicBezTo>
                    <a:pt x="81915" y="8595360"/>
                    <a:pt x="0" y="8513445"/>
                    <a:pt x="0" y="8412480"/>
                  </a:cubicBezTo>
                  <a:close/>
                </a:path>
              </a:pathLst>
            </a:custGeom>
            <a:solidFill>
              <a:srgbClr val="F4F6FC"/>
            </a:solidFill>
          </p:spPr>
        </p:sp>
      </p:grpSp>
      <p:grpSp>
        <p:nvGrpSpPr>
          <p:cNvPr name="Group 15" id="15"/>
          <p:cNvGrpSpPr/>
          <p:nvPr/>
        </p:nvGrpSpPr>
        <p:grpSpPr>
          <a:xfrm rot="0">
            <a:off x="960120" y="2537460"/>
            <a:ext cx="7818120" cy="754380"/>
            <a:chOff x="0" y="0"/>
            <a:chExt cx="10424160" cy="1005840"/>
          </a:xfrm>
        </p:grpSpPr>
        <p:sp>
          <p:nvSpPr>
            <p:cNvPr name="Freeform 16" id="16"/>
            <p:cNvSpPr/>
            <p:nvPr/>
          </p:nvSpPr>
          <p:spPr>
            <a:xfrm flipH="false" flipV="false" rot="0">
              <a:off x="0" y="0"/>
              <a:ext cx="10424160" cy="1005840"/>
            </a:xfrm>
            <a:custGeom>
              <a:avLst/>
              <a:gdLst/>
              <a:ahLst/>
              <a:cxnLst/>
              <a:rect r="r" b="b" t="t" l="l"/>
              <a:pathLst>
                <a:path h="1005840" w="10424160">
                  <a:moveTo>
                    <a:pt x="0" y="182880"/>
                  </a:moveTo>
                  <a:cubicBezTo>
                    <a:pt x="0" y="81915"/>
                    <a:pt x="81915" y="0"/>
                    <a:pt x="182880" y="0"/>
                  </a:cubicBezTo>
                  <a:lnTo>
                    <a:pt x="10241280" y="0"/>
                  </a:lnTo>
                  <a:cubicBezTo>
                    <a:pt x="10342245" y="0"/>
                    <a:pt x="10424160" y="81915"/>
                    <a:pt x="10424160" y="182880"/>
                  </a:cubicBezTo>
                  <a:lnTo>
                    <a:pt x="10424160" y="822960"/>
                  </a:lnTo>
                  <a:cubicBezTo>
                    <a:pt x="10424160" y="923925"/>
                    <a:pt x="10342245" y="1005840"/>
                    <a:pt x="10241280" y="1005840"/>
                  </a:cubicBezTo>
                  <a:lnTo>
                    <a:pt x="182880" y="1005840"/>
                  </a:lnTo>
                  <a:cubicBezTo>
                    <a:pt x="81915" y="1005840"/>
                    <a:pt x="0" y="923925"/>
                    <a:pt x="0" y="822960"/>
                  </a:cubicBezTo>
                  <a:close/>
                </a:path>
              </a:pathLst>
            </a:custGeom>
            <a:solidFill>
              <a:srgbClr val="1E2761"/>
            </a:solidFill>
          </p:spPr>
        </p:sp>
      </p:grpSp>
      <p:grpSp>
        <p:nvGrpSpPr>
          <p:cNvPr name="Group 17" id="17"/>
          <p:cNvGrpSpPr/>
          <p:nvPr/>
        </p:nvGrpSpPr>
        <p:grpSpPr>
          <a:xfrm rot="0">
            <a:off x="1371600" y="2537460"/>
            <a:ext cx="6995160" cy="754380"/>
            <a:chOff x="0" y="0"/>
            <a:chExt cx="9326880" cy="1005840"/>
          </a:xfrm>
        </p:grpSpPr>
        <p:sp>
          <p:nvSpPr>
            <p:cNvPr name="Freeform 18" id="18"/>
            <p:cNvSpPr/>
            <p:nvPr/>
          </p:nvSpPr>
          <p:spPr>
            <a:xfrm flipH="false" flipV="false" rot="0">
              <a:off x="0" y="0"/>
              <a:ext cx="9326880" cy="1005840"/>
            </a:xfrm>
            <a:custGeom>
              <a:avLst/>
              <a:gdLst/>
              <a:ahLst/>
              <a:cxnLst/>
              <a:rect r="r" b="b" t="t" l="l"/>
              <a:pathLst>
                <a:path h="1005840" w="9326880">
                  <a:moveTo>
                    <a:pt x="0" y="0"/>
                  </a:moveTo>
                  <a:lnTo>
                    <a:pt x="9326880" y="0"/>
                  </a:lnTo>
                  <a:lnTo>
                    <a:pt x="9326880" y="1005840"/>
                  </a:lnTo>
                  <a:lnTo>
                    <a:pt x="0" y="1005840"/>
                  </a:lnTo>
                  <a:close/>
                </a:path>
              </a:pathLst>
            </a:custGeom>
            <a:blipFill>
              <a:blip r:embed="rId2">
                <a:alphaModFix amt="0"/>
              </a:blip>
              <a:stretch>
                <a:fillRect l="0" t="-130679" r="0" b="-130679"/>
              </a:stretch>
            </a:blipFill>
          </p:spPr>
        </p:sp>
        <p:sp>
          <p:nvSpPr>
            <p:cNvPr name="TextBox 19" id="19"/>
            <p:cNvSpPr txBox="true"/>
            <p:nvPr/>
          </p:nvSpPr>
          <p:spPr>
            <a:xfrm>
              <a:off x="0" y="-19050"/>
              <a:ext cx="9326880" cy="1024890"/>
            </a:xfrm>
            <a:prstGeom prst="rect">
              <a:avLst/>
            </a:prstGeom>
          </p:spPr>
          <p:txBody>
            <a:bodyPr anchor="ctr" rtlCol="false" tIns="0" lIns="0" bIns="0" rIns="0"/>
            <a:lstStyle/>
            <a:p>
              <a:pPr algn="l">
                <a:lnSpc>
                  <a:spcPts val="2700"/>
                </a:lnSpc>
              </a:pPr>
              <a:r>
                <a:rPr lang="en-US" b="true" sz="2250" spc="150">
                  <a:solidFill>
                    <a:srgbClr val="FFFFFF"/>
                  </a:solidFill>
                  <a:latin typeface="Cambria Bold"/>
                  <a:ea typeface="Cambria Bold"/>
                  <a:cs typeface="Cambria Bold"/>
                  <a:sym typeface="Cambria Bold"/>
                </a:rPr>
                <a:t>RAG EVALS</a:t>
              </a:r>
            </a:p>
          </p:txBody>
        </p:sp>
      </p:grpSp>
      <p:grpSp>
        <p:nvGrpSpPr>
          <p:cNvPr name="Group 20" id="20"/>
          <p:cNvGrpSpPr/>
          <p:nvPr/>
        </p:nvGrpSpPr>
        <p:grpSpPr>
          <a:xfrm rot="0">
            <a:off x="1371600" y="3470148"/>
            <a:ext cx="6995160" cy="480060"/>
            <a:chOff x="0" y="0"/>
            <a:chExt cx="9326880" cy="640080"/>
          </a:xfrm>
        </p:grpSpPr>
        <p:sp>
          <p:nvSpPr>
            <p:cNvPr name="Freeform 21" id="21"/>
            <p:cNvSpPr/>
            <p:nvPr/>
          </p:nvSpPr>
          <p:spPr>
            <a:xfrm flipH="false" flipV="false" rot="0">
              <a:off x="0" y="0"/>
              <a:ext cx="9326880" cy="640080"/>
            </a:xfrm>
            <a:custGeom>
              <a:avLst/>
              <a:gdLst/>
              <a:ahLst/>
              <a:cxnLst/>
              <a:rect r="r" b="b" t="t" l="l"/>
              <a:pathLst>
                <a:path h="640080" w="9326880">
                  <a:moveTo>
                    <a:pt x="0" y="0"/>
                  </a:moveTo>
                  <a:lnTo>
                    <a:pt x="9326880" y="0"/>
                  </a:lnTo>
                  <a:lnTo>
                    <a:pt x="9326880" y="640080"/>
                  </a:lnTo>
                  <a:lnTo>
                    <a:pt x="0" y="640080"/>
                  </a:lnTo>
                  <a:close/>
                </a:path>
              </a:pathLst>
            </a:custGeom>
            <a:blipFill>
              <a:blip r:embed="rId2">
                <a:alphaModFix amt="0"/>
              </a:blip>
              <a:stretch>
                <a:fillRect l="0" t="-233924" r="0" b="-233924"/>
              </a:stretch>
            </a:blipFill>
          </p:spPr>
        </p:sp>
        <p:sp>
          <p:nvSpPr>
            <p:cNvPr name="TextBox 22" id="22"/>
            <p:cNvSpPr txBox="true"/>
            <p:nvPr/>
          </p:nvSpPr>
          <p:spPr>
            <a:xfrm>
              <a:off x="0" y="-38100"/>
              <a:ext cx="9326880" cy="678180"/>
            </a:xfrm>
            <a:prstGeom prst="rect">
              <a:avLst/>
            </a:prstGeom>
          </p:spPr>
          <p:txBody>
            <a:bodyPr anchor="ctr" rtlCol="false" tIns="0" lIns="0" bIns="0" rIns="0"/>
            <a:lstStyle/>
            <a:p>
              <a:pPr algn="l">
                <a:lnSpc>
                  <a:spcPts val="2250"/>
                </a:lnSpc>
              </a:pPr>
              <a:r>
                <a:rPr lang="en-US" sz="1875" i="true">
                  <a:solidFill>
                    <a:srgbClr val="6E7591"/>
                  </a:solidFill>
                  <a:latin typeface="Calibri (MS) Italics"/>
                  <a:ea typeface="Calibri (MS) Italics"/>
                  <a:cs typeface="Calibri (MS) Italics"/>
                  <a:sym typeface="Calibri (MS) Italics"/>
                </a:rPr>
                <a:t>Score the whole pipeline</a:t>
              </a:r>
            </a:p>
          </p:txBody>
        </p:sp>
      </p:grpSp>
      <p:grpSp>
        <p:nvGrpSpPr>
          <p:cNvPr name="Group 23" id="23"/>
          <p:cNvGrpSpPr/>
          <p:nvPr/>
        </p:nvGrpSpPr>
        <p:grpSpPr>
          <a:xfrm rot="0">
            <a:off x="1645920" y="4005072"/>
            <a:ext cx="6652260" cy="1028700"/>
            <a:chOff x="0" y="0"/>
            <a:chExt cx="8869680" cy="1371600"/>
          </a:xfrm>
        </p:grpSpPr>
        <p:sp>
          <p:nvSpPr>
            <p:cNvPr name="Freeform 24" id="24"/>
            <p:cNvSpPr/>
            <p:nvPr/>
          </p:nvSpPr>
          <p:spPr>
            <a:xfrm flipH="false" flipV="false" rot="0">
              <a:off x="0" y="0"/>
              <a:ext cx="8869680" cy="1371600"/>
            </a:xfrm>
            <a:custGeom>
              <a:avLst/>
              <a:gdLst/>
              <a:ahLst/>
              <a:cxnLst/>
              <a:rect r="r" b="b" t="t" l="l"/>
              <a:pathLst>
                <a:path h="1371600" w="8869680">
                  <a:moveTo>
                    <a:pt x="0" y="0"/>
                  </a:moveTo>
                  <a:lnTo>
                    <a:pt x="8869680" y="0"/>
                  </a:lnTo>
                  <a:lnTo>
                    <a:pt x="8869680" y="1371600"/>
                  </a:lnTo>
                  <a:lnTo>
                    <a:pt x="0" y="1371600"/>
                  </a:lnTo>
                  <a:close/>
                </a:path>
              </a:pathLst>
            </a:custGeom>
            <a:blipFill>
              <a:blip r:embed="rId2">
                <a:alphaModFix amt="0"/>
              </a:blip>
              <a:stretch>
                <a:fillRect l="0" t="-76003" r="0" b="-76003"/>
              </a:stretch>
            </a:blipFill>
          </p:spPr>
        </p:sp>
        <p:sp>
          <p:nvSpPr>
            <p:cNvPr name="TextBox 25" id="25"/>
            <p:cNvSpPr txBox="true"/>
            <p:nvPr/>
          </p:nvSpPr>
          <p:spPr>
            <a:xfrm>
              <a:off x="0" y="-38100"/>
              <a:ext cx="8869680" cy="1409700"/>
            </a:xfrm>
            <a:prstGeom prst="rect">
              <a:avLst/>
            </a:prstGeom>
          </p:spPr>
          <p:txBody>
            <a:bodyPr anchor="ctr" rtlCol="false" tIns="0" lIns="0" bIns="0" rIns="0"/>
            <a:lstStyle/>
            <a:p>
              <a:pPr algn="l">
                <a:lnSpc>
                  <a:spcPts val="2100"/>
                </a:lnSpc>
              </a:pPr>
              <a:r>
                <a:rPr lang="en-US" sz="1800">
                  <a:solidFill>
                    <a:srgbClr val="2B2B38"/>
                  </a:solidFill>
                  <a:latin typeface="Calibri (MS)"/>
                  <a:ea typeface="Calibri (MS)"/>
                  <a:cs typeface="Calibri (MS)"/>
                  <a:sym typeface="Calibri (MS)"/>
                </a:rPr>
                <a:t>Context precision — are retrieved chunks relevant?</a:t>
              </a:r>
            </a:p>
          </p:txBody>
        </p:sp>
      </p:grpSp>
      <p:grpSp>
        <p:nvGrpSpPr>
          <p:cNvPr name="Group 26" id="26"/>
          <p:cNvGrpSpPr/>
          <p:nvPr/>
        </p:nvGrpSpPr>
        <p:grpSpPr>
          <a:xfrm rot="0">
            <a:off x="1645920" y="5198364"/>
            <a:ext cx="6652260" cy="1028700"/>
            <a:chOff x="0" y="0"/>
            <a:chExt cx="8869680" cy="1371600"/>
          </a:xfrm>
        </p:grpSpPr>
        <p:sp>
          <p:nvSpPr>
            <p:cNvPr name="Freeform 27" id="27"/>
            <p:cNvSpPr/>
            <p:nvPr/>
          </p:nvSpPr>
          <p:spPr>
            <a:xfrm flipH="false" flipV="false" rot="0">
              <a:off x="0" y="0"/>
              <a:ext cx="8869680" cy="1371600"/>
            </a:xfrm>
            <a:custGeom>
              <a:avLst/>
              <a:gdLst/>
              <a:ahLst/>
              <a:cxnLst/>
              <a:rect r="r" b="b" t="t" l="l"/>
              <a:pathLst>
                <a:path h="1371600" w="8869680">
                  <a:moveTo>
                    <a:pt x="0" y="0"/>
                  </a:moveTo>
                  <a:lnTo>
                    <a:pt x="8869680" y="0"/>
                  </a:lnTo>
                  <a:lnTo>
                    <a:pt x="8869680" y="1371600"/>
                  </a:lnTo>
                  <a:lnTo>
                    <a:pt x="0" y="1371600"/>
                  </a:lnTo>
                  <a:close/>
                </a:path>
              </a:pathLst>
            </a:custGeom>
            <a:blipFill>
              <a:blip r:embed="rId2">
                <a:alphaModFix amt="0"/>
              </a:blip>
              <a:stretch>
                <a:fillRect l="0" t="-76003" r="0" b="-76003"/>
              </a:stretch>
            </a:blipFill>
          </p:spPr>
        </p:sp>
        <p:sp>
          <p:nvSpPr>
            <p:cNvPr name="TextBox 28" id="28"/>
            <p:cNvSpPr txBox="true"/>
            <p:nvPr/>
          </p:nvSpPr>
          <p:spPr>
            <a:xfrm>
              <a:off x="0" y="-38100"/>
              <a:ext cx="8869680" cy="1409700"/>
            </a:xfrm>
            <a:prstGeom prst="rect">
              <a:avLst/>
            </a:prstGeom>
          </p:spPr>
          <p:txBody>
            <a:bodyPr anchor="ctr" rtlCol="false" tIns="0" lIns="0" bIns="0" rIns="0"/>
            <a:lstStyle/>
            <a:p>
              <a:pPr algn="l">
                <a:lnSpc>
                  <a:spcPts val="2100"/>
                </a:lnSpc>
              </a:pPr>
              <a:r>
                <a:rPr lang="en-US" sz="1800">
                  <a:solidFill>
                    <a:srgbClr val="2B2B38"/>
                  </a:solidFill>
                  <a:latin typeface="Calibri (MS)"/>
                  <a:ea typeface="Calibri (MS)"/>
                  <a:cs typeface="Calibri (MS)"/>
                  <a:sym typeface="Calibri (MS)"/>
                </a:rPr>
                <a:t>Context recall — was everything needed retrieved?</a:t>
              </a:r>
            </a:p>
          </p:txBody>
        </p:sp>
      </p:grpSp>
      <p:grpSp>
        <p:nvGrpSpPr>
          <p:cNvPr name="Group 29" id="29"/>
          <p:cNvGrpSpPr/>
          <p:nvPr/>
        </p:nvGrpSpPr>
        <p:grpSpPr>
          <a:xfrm rot="0">
            <a:off x="1645920" y="6391656"/>
            <a:ext cx="6652260" cy="1028700"/>
            <a:chOff x="0" y="0"/>
            <a:chExt cx="8869680" cy="1371600"/>
          </a:xfrm>
        </p:grpSpPr>
        <p:sp>
          <p:nvSpPr>
            <p:cNvPr name="Freeform 30" id="30"/>
            <p:cNvSpPr/>
            <p:nvPr/>
          </p:nvSpPr>
          <p:spPr>
            <a:xfrm flipH="false" flipV="false" rot="0">
              <a:off x="0" y="0"/>
              <a:ext cx="8869680" cy="1371600"/>
            </a:xfrm>
            <a:custGeom>
              <a:avLst/>
              <a:gdLst/>
              <a:ahLst/>
              <a:cxnLst/>
              <a:rect r="r" b="b" t="t" l="l"/>
              <a:pathLst>
                <a:path h="1371600" w="8869680">
                  <a:moveTo>
                    <a:pt x="0" y="0"/>
                  </a:moveTo>
                  <a:lnTo>
                    <a:pt x="8869680" y="0"/>
                  </a:lnTo>
                  <a:lnTo>
                    <a:pt x="8869680" y="1371600"/>
                  </a:lnTo>
                  <a:lnTo>
                    <a:pt x="0" y="1371600"/>
                  </a:lnTo>
                  <a:close/>
                </a:path>
              </a:pathLst>
            </a:custGeom>
            <a:blipFill>
              <a:blip r:embed="rId2">
                <a:alphaModFix amt="0"/>
              </a:blip>
              <a:stretch>
                <a:fillRect l="0" t="-76003" r="0" b="-76003"/>
              </a:stretch>
            </a:blipFill>
          </p:spPr>
        </p:sp>
        <p:sp>
          <p:nvSpPr>
            <p:cNvPr name="TextBox 31" id="31"/>
            <p:cNvSpPr txBox="true"/>
            <p:nvPr/>
          </p:nvSpPr>
          <p:spPr>
            <a:xfrm>
              <a:off x="0" y="-38100"/>
              <a:ext cx="8869680" cy="1409700"/>
            </a:xfrm>
            <a:prstGeom prst="rect">
              <a:avLst/>
            </a:prstGeom>
          </p:spPr>
          <p:txBody>
            <a:bodyPr anchor="ctr" rtlCol="false" tIns="0" lIns="0" bIns="0" rIns="0"/>
            <a:lstStyle/>
            <a:p>
              <a:pPr algn="l">
                <a:lnSpc>
                  <a:spcPts val="2100"/>
                </a:lnSpc>
              </a:pPr>
              <a:r>
                <a:rPr lang="en-US" sz="1800">
                  <a:solidFill>
                    <a:srgbClr val="2B2B38"/>
                  </a:solidFill>
                  <a:latin typeface="Calibri (MS)"/>
                  <a:ea typeface="Calibri (MS)"/>
                  <a:cs typeface="Calibri (MS)"/>
                  <a:sym typeface="Calibri (MS)"/>
                </a:rPr>
                <a:t>Faithfulness — does the answer match retrieved context?</a:t>
              </a:r>
            </a:p>
          </p:txBody>
        </p:sp>
      </p:grpSp>
      <p:grpSp>
        <p:nvGrpSpPr>
          <p:cNvPr name="Group 32" id="32"/>
          <p:cNvGrpSpPr/>
          <p:nvPr/>
        </p:nvGrpSpPr>
        <p:grpSpPr>
          <a:xfrm rot="0">
            <a:off x="1645920" y="7584948"/>
            <a:ext cx="6652260" cy="1028700"/>
            <a:chOff x="0" y="0"/>
            <a:chExt cx="8869680" cy="1371600"/>
          </a:xfrm>
        </p:grpSpPr>
        <p:sp>
          <p:nvSpPr>
            <p:cNvPr name="Freeform 33" id="33"/>
            <p:cNvSpPr/>
            <p:nvPr/>
          </p:nvSpPr>
          <p:spPr>
            <a:xfrm flipH="false" flipV="false" rot="0">
              <a:off x="0" y="0"/>
              <a:ext cx="8869680" cy="1371600"/>
            </a:xfrm>
            <a:custGeom>
              <a:avLst/>
              <a:gdLst/>
              <a:ahLst/>
              <a:cxnLst/>
              <a:rect r="r" b="b" t="t" l="l"/>
              <a:pathLst>
                <a:path h="1371600" w="8869680">
                  <a:moveTo>
                    <a:pt x="0" y="0"/>
                  </a:moveTo>
                  <a:lnTo>
                    <a:pt x="8869680" y="0"/>
                  </a:lnTo>
                  <a:lnTo>
                    <a:pt x="8869680" y="1371600"/>
                  </a:lnTo>
                  <a:lnTo>
                    <a:pt x="0" y="1371600"/>
                  </a:lnTo>
                  <a:close/>
                </a:path>
              </a:pathLst>
            </a:custGeom>
            <a:blipFill>
              <a:blip r:embed="rId2">
                <a:alphaModFix amt="0"/>
              </a:blip>
              <a:stretch>
                <a:fillRect l="0" t="-76003" r="0" b="-76003"/>
              </a:stretch>
            </a:blipFill>
          </p:spPr>
        </p:sp>
        <p:sp>
          <p:nvSpPr>
            <p:cNvPr name="TextBox 34" id="34"/>
            <p:cNvSpPr txBox="true"/>
            <p:nvPr/>
          </p:nvSpPr>
          <p:spPr>
            <a:xfrm>
              <a:off x="0" y="-38100"/>
              <a:ext cx="8869680" cy="1409700"/>
            </a:xfrm>
            <a:prstGeom prst="rect">
              <a:avLst/>
            </a:prstGeom>
          </p:spPr>
          <p:txBody>
            <a:bodyPr anchor="ctr" rtlCol="false" tIns="0" lIns="0" bIns="0" rIns="0"/>
            <a:lstStyle/>
            <a:p>
              <a:pPr algn="l">
                <a:lnSpc>
                  <a:spcPts val="2100"/>
                </a:lnSpc>
              </a:pPr>
              <a:r>
                <a:rPr lang="en-US" sz="1800">
                  <a:solidFill>
                    <a:srgbClr val="2B2B38"/>
                  </a:solidFill>
                  <a:latin typeface="Calibri (MS)"/>
                  <a:ea typeface="Calibri (MS)"/>
                  <a:cs typeface="Calibri (MS)"/>
                  <a:sym typeface="Calibri (MS)"/>
                </a:rPr>
                <a:t>Answer relevance — does it address the query?</a:t>
              </a:r>
            </a:p>
          </p:txBody>
        </p:sp>
      </p:grpSp>
      <p:grpSp>
        <p:nvGrpSpPr>
          <p:cNvPr name="Group 35" id="35"/>
          <p:cNvGrpSpPr/>
          <p:nvPr/>
        </p:nvGrpSpPr>
        <p:grpSpPr>
          <a:xfrm rot="0">
            <a:off x="9464040" y="2537460"/>
            <a:ext cx="7818120" cy="6446520"/>
            <a:chOff x="0" y="0"/>
            <a:chExt cx="10424160" cy="8595360"/>
          </a:xfrm>
        </p:grpSpPr>
        <p:sp>
          <p:nvSpPr>
            <p:cNvPr name="Freeform 36" id="36"/>
            <p:cNvSpPr/>
            <p:nvPr/>
          </p:nvSpPr>
          <p:spPr>
            <a:xfrm flipH="false" flipV="false" rot="0">
              <a:off x="0" y="0"/>
              <a:ext cx="10424160" cy="8595360"/>
            </a:xfrm>
            <a:custGeom>
              <a:avLst/>
              <a:gdLst/>
              <a:ahLst/>
              <a:cxnLst/>
              <a:rect r="r" b="b" t="t" l="l"/>
              <a:pathLst>
                <a:path h="8595360" w="10424160">
                  <a:moveTo>
                    <a:pt x="0" y="182880"/>
                  </a:moveTo>
                  <a:cubicBezTo>
                    <a:pt x="0" y="81915"/>
                    <a:pt x="81915" y="0"/>
                    <a:pt x="182880" y="0"/>
                  </a:cubicBezTo>
                  <a:lnTo>
                    <a:pt x="10241280" y="0"/>
                  </a:lnTo>
                  <a:cubicBezTo>
                    <a:pt x="10342245" y="0"/>
                    <a:pt x="10424160" y="81915"/>
                    <a:pt x="10424160" y="182880"/>
                  </a:cubicBezTo>
                  <a:lnTo>
                    <a:pt x="10424160" y="8412480"/>
                  </a:lnTo>
                  <a:cubicBezTo>
                    <a:pt x="10424160" y="8513445"/>
                    <a:pt x="10342245" y="8595360"/>
                    <a:pt x="10241280" y="8595360"/>
                  </a:cubicBezTo>
                  <a:lnTo>
                    <a:pt x="182880" y="8595360"/>
                  </a:lnTo>
                  <a:cubicBezTo>
                    <a:pt x="81915" y="8595360"/>
                    <a:pt x="0" y="8513445"/>
                    <a:pt x="0" y="8412480"/>
                  </a:cubicBezTo>
                  <a:close/>
                </a:path>
              </a:pathLst>
            </a:custGeom>
            <a:solidFill>
              <a:srgbClr val="F4F6FC"/>
            </a:solidFill>
          </p:spPr>
        </p:sp>
      </p:grpSp>
      <p:grpSp>
        <p:nvGrpSpPr>
          <p:cNvPr name="Group 37" id="37"/>
          <p:cNvGrpSpPr/>
          <p:nvPr/>
        </p:nvGrpSpPr>
        <p:grpSpPr>
          <a:xfrm rot="0">
            <a:off x="9464040" y="2537460"/>
            <a:ext cx="7818120" cy="754380"/>
            <a:chOff x="0" y="0"/>
            <a:chExt cx="10424160" cy="1005840"/>
          </a:xfrm>
        </p:grpSpPr>
        <p:sp>
          <p:nvSpPr>
            <p:cNvPr name="Freeform 38" id="38"/>
            <p:cNvSpPr/>
            <p:nvPr/>
          </p:nvSpPr>
          <p:spPr>
            <a:xfrm flipH="false" flipV="false" rot="0">
              <a:off x="0" y="0"/>
              <a:ext cx="10424160" cy="1005840"/>
            </a:xfrm>
            <a:custGeom>
              <a:avLst/>
              <a:gdLst/>
              <a:ahLst/>
              <a:cxnLst/>
              <a:rect r="r" b="b" t="t" l="l"/>
              <a:pathLst>
                <a:path h="1005840" w="10424160">
                  <a:moveTo>
                    <a:pt x="0" y="182880"/>
                  </a:moveTo>
                  <a:cubicBezTo>
                    <a:pt x="0" y="81915"/>
                    <a:pt x="81915" y="0"/>
                    <a:pt x="182880" y="0"/>
                  </a:cubicBezTo>
                  <a:lnTo>
                    <a:pt x="10241280" y="0"/>
                  </a:lnTo>
                  <a:cubicBezTo>
                    <a:pt x="10342245" y="0"/>
                    <a:pt x="10424160" y="81915"/>
                    <a:pt x="10424160" y="182880"/>
                  </a:cubicBezTo>
                  <a:lnTo>
                    <a:pt x="10424160" y="822960"/>
                  </a:lnTo>
                  <a:cubicBezTo>
                    <a:pt x="10424160" y="923925"/>
                    <a:pt x="10342245" y="1005840"/>
                    <a:pt x="10241280" y="1005840"/>
                  </a:cubicBezTo>
                  <a:lnTo>
                    <a:pt x="182880" y="1005840"/>
                  </a:lnTo>
                  <a:cubicBezTo>
                    <a:pt x="81915" y="1005840"/>
                    <a:pt x="0" y="923925"/>
                    <a:pt x="0" y="822960"/>
                  </a:cubicBezTo>
                  <a:close/>
                </a:path>
              </a:pathLst>
            </a:custGeom>
            <a:solidFill>
              <a:srgbClr val="E8664F"/>
            </a:solidFill>
          </p:spPr>
        </p:sp>
      </p:grpSp>
      <p:grpSp>
        <p:nvGrpSpPr>
          <p:cNvPr name="Group 39" id="39"/>
          <p:cNvGrpSpPr/>
          <p:nvPr/>
        </p:nvGrpSpPr>
        <p:grpSpPr>
          <a:xfrm rot="0">
            <a:off x="9875520" y="2537460"/>
            <a:ext cx="6995160" cy="754380"/>
            <a:chOff x="0" y="0"/>
            <a:chExt cx="9326880" cy="1005840"/>
          </a:xfrm>
        </p:grpSpPr>
        <p:sp>
          <p:nvSpPr>
            <p:cNvPr name="Freeform 40" id="40"/>
            <p:cNvSpPr/>
            <p:nvPr/>
          </p:nvSpPr>
          <p:spPr>
            <a:xfrm flipH="false" flipV="false" rot="0">
              <a:off x="0" y="0"/>
              <a:ext cx="9326880" cy="1005840"/>
            </a:xfrm>
            <a:custGeom>
              <a:avLst/>
              <a:gdLst/>
              <a:ahLst/>
              <a:cxnLst/>
              <a:rect r="r" b="b" t="t" l="l"/>
              <a:pathLst>
                <a:path h="1005840" w="9326880">
                  <a:moveTo>
                    <a:pt x="0" y="0"/>
                  </a:moveTo>
                  <a:lnTo>
                    <a:pt x="9326880" y="0"/>
                  </a:lnTo>
                  <a:lnTo>
                    <a:pt x="9326880" y="1005840"/>
                  </a:lnTo>
                  <a:lnTo>
                    <a:pt x="0" y="1005840"/>
                  </a:lnTo>
                  <a:close/>
                </a:path>
              </a:pathLst>
            </a:custGeom>
            <a:blipFill>
              <a:blip r:embed="rId2">
                <a:alphaModFix amt="0"/>
              </a:blip>
              <a:stretch>
                <a:fillRect l="0" t="-130679" r="0" b="-130679"/>
              </a:stretch>
            </a:blipFill>
          </p:spPr>
        </p:sp>
        <p:sp>
          <p:nvSpPr>
            <p:cNvPr name="TextBox 41" id="41"/>
            <p:cNvSpPr txBox="true"/>
            <p:nvPr/>
          </p:nvSpPr>
          <p:spPr>
            <a:xfrm>
              <a:off x="0" y="-19050"/>
              <a:ext cx="9326880" cy="1024890"/>
            </a:xfrm>
            <a:prstGeom prst="rect">
              <a:avLst/>
            </a:prstGeom>
          </p:spPr>
          <p:txBody>
            <a:bodyPr anchor="ctr" rtlCol="false" tIns="0" lIns="0" bIns="0" rIns="0"/>
            <a:lstStyle/>
            <a:p>
              <a:pPr algn="l">
                <a:lnSpc>
                  <a:spcPts val="2700"/>
                </a:lnSpc>
              </a:pPr>
              <a:r>
                <a:rPr lang="en-US" b="true" sz="2250" spc="150">
                  <a:solidFill>
                    <a:srgbClr val="FFFFFF"/>
                  </a:solidFill>
                  <a:latin typeface="Cambria Bold"/>
                  <a:ea typeface="Cambria Bold"/>
                  <a:cs typeface="Cambria Bold"/>
                  <a:sym typeface="Cambria Bold"/>
                </a:rPr>
                <a:t>HALLUCINATION EVALS</a:t>
              </a:r>
            </a:p>
          </p:txBody>
        </p:sp>
      </p:grpSp>
      <p:grpSp>
        <p:nvGrpSpPr>
          <p:cNvPr name="Group 42" id="42"/>
          <p:cNvGrpSpPr/>
          <p:nvPr/>
        </p:nvGrpSpPr>
        <p:grpSpPr>
          <a:xfrm rot="0">
            <a:off x="9875520" y="3470148"/>
            <a:ext cx="6995160" cy="480060"/>
            <a:chOff x="0" y="0"/>
            <a:chExt cx="9326880" cy="640080"/>
          </a:xfrm>
        </p:grpSpPr>
        <p:sp>
          <p:nvSpPr>
            <p:cNvPr name="Freeform 43" id="43"/>
            <p:cNvSpPr/>
            <p:nvPr/>
          </p:nvSpPr>
          <p:spPr>
            <a:xfrm flipH="false" flipV="false" rot="0">
              <a:off x="0" y="0"/>
              <a:ext cx="9326880" cy="640080"/>
            </a:xfrm>
            <a:custGeom>
              <a:avLst/>
              <a:gdLst/>
              <a:ahLst/>
              <a:cxnLst/>
              <a:rect r="r" b="b" t="t" l="l"/>
              <a:pathLst>
                <a:path h="640080" w="9326880">
                  <a:moveTo>
                    <a:pt x="0" y="0"/>
                  </a:moveTo>
                  <a:lnTo>
                    <a:pt x="9326880" y="0"/>
                  </a:lnTo>
                  <a:lnTo>
                    <a:pt x="9326880" y="640080"/>
                  </a:lnTo>
                  <a:lnTo>
                    <a:pt x="0" y="640080"/>
                  </a:lnTo>
                  <a:close/>
                </a:path>
              </a:pathLst>
            </a:custGeom>
            <a:blipFill>
              <a:blip r:embed="rId2">
                <a:alphaModFix amt="0"/>
              </a:blip>
              <a:stretch>
                <a:fillRect l="0" t="-233924" r="0" b="-233924"/>
              </a:stretch>
            </a:blipFill>
          </p:spPr>
        </p:sp>
        <p:sp>
          <p:nvSpPr>
            <p:cNvPr name="TextBox 44" id="44"/>
            <p:cNvSpPr txBox="true"/>
            <p:nvPr/>
          </p:nvSpPr>
          <p:spPr>
            <a:xfrm>
              <a:off x="0" y="-38100"/>
              <a:ext cx="9326880" cy="678180"/>
            </a:xfrm>
            <a:prstGeom prst="rect">
              <a:avLst/>
            </a:prstGeom>
          </p:spPr>
          <p:txBody>
            <a:bodyPr anchor="ctr" rtlCol="false" tIns="0" lIns="0" bIns="0" rIns="0"/>
            <a:lstStyle/>
            <a:p>
              <a:pPr algn="l">
                <a:lnSpc>
                  <a:spcPts val="2250"/>
                </a:lnSpc>
              </a:pPr>
              <a:r>
                <a:rPr lang="en-US" sz="1875" i="true">
                  <a:solidFill>
                    <a:srgbClr val="6E7591"/>
                  </a:solidFill>
                  <a:latin typeface="Calibri (MS) Italics"/>
                  <a:ea typeface="Calibri (MS) Italics"/>
                  <a:cs typeface="Calibri (MS) Italics"/>
                  <a:sym typeface="Calibri (MS) Italics"/>
                </a:rPr>
                <a:t>Score the output on its own terms</a:t>
              </a:r>
            </a:p>
          </p:txBody>
        </p:sp>
      </p:grpSp>
      <p:grpSp>
        <p:nvGrpSpPr>
          <p:cNvPr name="Group 45" id="45"/>
          <p:cNvGrpSpPr/>
          <p:nvPr/>
        </p:nvGrpSpPr>
        <p:grpSpPr>
          <a:xfrm rot="0">
            <a:off x="9875520" y="4224528"/>
            <a:ext cx="123444" cy="123444"/>
            <a:chOff x="0" y="0"/>
            <a:chExt cx="164592" cy="164592"/>
          </a:xfrm>
        </p:grpSpPr>
        <p:sp>
          <p:nvSpPr>
            <p:cNvPr name="Freeform 46" id="46"/>
            <p:cNvSpPr/>
            <p:nvPr/>
          </p:nvSpPr>
          <p:spPr>
            <a:xfrm flipH="false" flipV="false" rot="0">
              <a:off x="0" y="0"/>
              <a:ext cx="164592" cy="164592"/>
            </a:xfrm>
            <a:custGeom>
              <a:avLst/>
              <a:gdLst/>
              <a:ahLst/>
              <a:cxnLst/>
              <a:rect r="r" b="b" t="t" l="l"/>
              <a:pathLst>
                <a:path h="164592" w="164592">
                  <a:moveTo>
                    <a:pt x="0" y="82296"/>
                  </a:moveTo>
                  <a:cubicBezTo>
                    <a:pt x="0" y="36830"/>
                    <a:pt x="36830" y="0"/>
                    <a:pt x="82296" y="0"/>
                  </a:cubicBezTo>
                  <a:cubicBezTo>
                    <a:pt x="127762" y="0"/>
                    <a:pt x="164592" y="36830"/>
                    <a:pt x="164592" y="82296"/>
                  </a:cubicBezTo>
                  <a:cubicBezTo>
                    <a:pt x="164592" y="127762"/>
                    <a:pt x="127762" y="164592"/>
                    <a:pt x="82296" y="164592"/>
                  </a:cubicBezTo>
                  <a:cubicBezTo>
                    <a:pt x="36830" y="164592"/>
                    <a:pt x="0" y="127762"/>
                    <a:pt x="0" y="82296"/>
                  </a:cubicBezTo>
                  <a:close/>
                </a:path>
              </a:pathLst>
            </a:custGeom>
            <a:solidFill>
              <a:srgbClr val="E8664F"/>
            </a:solidFill>
          </p:spPr>
        </p:sp>
      </p:grpSp>
      <p:grpSp>
        <p:nvGrpSpPr>
          <p:cNvPr name="Group 47" id="47"/>
          <p:cNvGrpSpPr/>
          <p:nvPr/>
        </p:nvGrpSpPr>
        <p:grpSpPr>
          <a:xfrm rot="0">
            <a:off x="10151364" y="3796665"/>
            <a:ext cx="6652260" cy="1028700"/>
            <a:chOff x="0" y="0"/>
            <a:chExt cx="8869680" cy="1371600"/>
          </a:xfrm>
        </p:grpSpPr>
        <p:sp>
          <p:nvSpPr>
            <p:cNvPr name="Freeform 48" id="48"/>
            <p:cNvSpPr/>
            <p:nvPr/>
          </p:nvSpPr>
          <p:spPr>
            <a:xfrm flipH="false" flipV="false" rot="0">
              <a:off x="0" y="0"/>
              <a:ext cx="8869680" cy="1371600"/>
            </a:xfrm>
            <a:custGeom>
              <a:avLst/>
              <a:gdLst/>
              <a:ahLst/>
              <a:cxnLst/>
              <a:rect r="r" b="b" t="t" l="l"/>
              <a:pathLst>
                <a:path h="1371600" w="8869680">
                  <a:moveTo>
                    <a:pt x="0" y="0"/>
                  </a:moveTo>
                  <a:lnTo>
                    <a:pt x="8869680" y="0"/>
                  </a:lnTo>
                  <a:lnTo>
                    <a:pt x="8869680" y="1371600"/>
                  </a:lnTo>
                  <a:lnTo>
                    <a:pt x="0" y="1371600"/>
                  </a:lnTo>
                  <a:close/>
                </a:path>
              </a:pathLst>
            </a:custGeom>
            <a:blipFill>
              <a:blip r:embed="rId2">
                <a:alphaModFix amt="0"/>
              </a:blip>
              <a:stretch>
                <a:fillRect l="0" t="-76003" r="0" b="-76003"/>
              </a:stretch>
            </a:blipFill>
          </p:spPr>
        </p:sp>
        <p:sp>
          <p:nvSpPr>
            <p:cNvPr name="TextBox 49" id="49"/>
            <p:cNvSpPr txBox="true"/>
            <p:nvPr/>
          </p:nvSpPr>
          <p:spPr>
            <a:xfrm>
              <a:off x="0" y="-38100"/>
              <a:ext cx="8869680" cy="1409700"/>
            </a:xfrm>
            <a:prstGeom prst="rect">
              <a:avLst/>
            </a:prstGeom>
          </p:spPr>
          <p:txBody>
            <a:bodyPr anchor="ctr" rtlCol="false" tIns="0" lIns="0" bIns="0" rIns="0"/>
            <a:lstStyle/>
            <a:p>
              <a:pPr algn="l">
                <a:lnSpc>
                  <a:spcPts val="2100"/>
                </a:lnSpc>
              </a:pPr>
              <a:r>
                <a:rPr lang="en-US" sz="1800">
                  <a:solidFill>
                    <a:srgbClr val="2B2B38"/>
                  </a:solidFill>
                  <a:latin typeface="Calibri (MS)"/>
                  <a:ea typeface="Calibri (MS)"/>
                  <a:cs typeface="Calibri (MS)"/>
                  <a:sym typeface="Calibri (MS)"/>
                </a:rPr>
                <a:t>TruthfulQA — common-misconception factuality</a:t>
              </a:r>
            </a:p>
          </p:txBody>
        </p:sp>
      </p:grpSp>
      <p:grpSp>
        <p:nvGrpSpPr>
          <p:cNvPr name="Group 50" id="50"/>
          <p:cNvGrpSpPr/>
          <p:nvPr/>
        </p:nvGrpSpPr>
        <p:grpSpPr>
          <a:xfrm rot="0">
            <a:off x="9875520" y="5417820"/>
            <a:ext cx="123444" cy="123444"/>
            <a:chOff x="0" y="0"/>
            <a:chExt cx="164592" cy="164592"/>
          </a:xfrm>
        </p:grpSpPr>
        <p:sp>
          <p:nvSpPr>
            <p:cNvPr name="Freeform 51" id="51"/>
            <p:cNvSpPr/>
            <p:nvPr/>
          </p:nvSpPr>
          <p:spPr>
            <a:xfrm flipH="false" flipV="false" rot="0">
              <a:off x="0" y="0"/>
              <a:ext cx="164592" cy="164592"/>
            </a:xfrm>
            <a:custGeom>
              <a:avLst/>
              <a:gdLst/>
              <a:ahLst/>
              <a:cxnLst/>
              <a:rect r="r" b="b" t="t" l="l"/>
              <a:pathLst>
                <a:path h="164592" w="164592">
                  <a:moveTo>
                    <a:pt x="0" y="82296"/>
                  </a:moveTo>
                  <a:cubicBezTo>
                    <a:pt x="0" y="36830"/>
                    <a:pt x="36830" y="0"/>
                    <a:pt x="82296" y="0"/>
                  </a:cubicBezTo>
                  <a:cubicBezTo>
                    <a:pt x="127762" y="0"/>
                    <a:pt x="164592" y="36830"/>
                    <a:pt x="164592" y="82296"/>
                  </a:cubicBezTo>
                  <a:cubicBezTo>
                    <a:pt x="164592" y="127762"/>
                    <a:pt x="127762" y="164592"/>
                    <a:pt x="82296" y="164592"/>
                  </a:cubicBezTo>
                  <a:cubicBezTo>
                    <a:pt x="36830" y="164592"/>
                    <a:pt x="0" y="127762"/>
                    <a:pt x="0" y="82296"/>
                  </a:cubicBezTo>
                  <a:close/>
                </a:path>
              </a:pathLst>
            </a:custGeom>
            <a:solidFill>
              <a:srgbClr val="E8664F"/>
            </a:solidFill>
          </p:spPr>
        </p:sp>
      </p:grpSp>
      <p:grpSp>
        <p:nvGrpSpPr>
          <p:cNvPr name="Group 52" id="52"/>
          <p:cNvGrpSpPr/>
          <p:nvPr/>
        </p:nvGrpSpPr>
        <p:grpSpPr>
          <a:xfrm rot="0">
            <a:off x="10151364" y="4989957"/>
            <a:ext cx="6652260" cy="1028700"/>
            <a:chOff x="0" y="0"/>
            <a:chExt cx="8869680" cy="1371600"/>
          </a:xfrm>
        </p:grpSpPr>
        <p:sp>
          <p:nvSpPr>
            <p:cNvPr name="Freeform 53" id="53"/>
            <p:cNvSpPr/>
            <p:nvPr/>
          </p:nvSpPr>
          <p:spPr>
            <a:xfrm flipH="false" flipV="false" rot="0">
              <a:off x="0" y="0"/>
              <a:ext cx="8869680" cy="1371600"/>
            </a:xfrm>
            <a:custGeom>
              <a:avLst/>
              <a:gdLst/>
              <a:ahLst/>
              <a:cxnLst/>
              <a:rect r="r" b="b" t="t" l="l"/>
              <a:pathLst>
                <a:path h="1371600" w="8869680">
                  <a:moveTo>
                    <a:pt x="0" y="0"/>
                  </a:moveTo>
                  <a:lnTo>
                    <a:pt x="8869680" y="0"/>
                  </a:lnTo>
                  <a:lnTo>
                    <a:pt x="8869680" y="1371600"/>
                  </a:lnTo>
                  <a:lnTo>
                    <a:pt x="0" y="1371600"/>
                  </a:lnTo>
                  <a:close/>
                </a:path>
              </a:pathLst>
            </a:custGeom>
            <a:blipFill>
              <a:blip r:embed="rId2">
                <a:alphaModFix amt="0"/>
              </a:blip>
              <a:stretch>
                <a:fillRect l="0" t="-76003" r="0" b="-76003"/>
              </a:stretch>
            </a:blipFill>
          </p:spPr>
        </p:sp>
        <p:sp>
          <p:nvSpPr>
            <p:cNvPr name="TextBox 54" id="54"/>
            <p:cNvSpPr txBox="true"/>
            <p:nvPr/>
          </p:nvSpPr>
          <p:spPr>
            <a:xfrm>
              <a:off x="0" y="-38100"/>
              <a:ext cx="8869680" cy="1409700"/>
            </a:xfrm>
            <a:prstGeom prst="rect">
              <a:avLst/>
            </a:prstGeom>
          </p:spPr>
          <p:txBody>
            <a:bodyPr anchor="ctr" rtlCol="false" tIns="0" lIns="0" bIns="0" rIns="0"/>
            <a:lstStyle/>
            <a:p>
              <a:pPr algn="l">
                <a:lnSpc>
                  <a:spcPts val="2100"/>
                </a:lnSpc>
              </a:pPr>
              <a:r>
                <a:rPr lang="en-US" sz="1800">
                  <a:solidFill>
                    <a:srgbClr val="2B2B38"/>
                  </a:solidFill>
                  <a:latin typeface="Calibri (MS)"/>
                  <a:ea typeface="Calibri (MS)"/>
                  <a:cs typeface="Calibri (MS)"/>
                  <a:sym typeface="Calibri (MS)"/>
                </a:rPr>
                <a:t>HaluEval — paired correct / hallucinated samples</a:t>
              </a:r>
            </a:p>
          </p:txBody>
        </p:sp>
      </p:grpSp>
      <p:grpSp>
        <p:nvGrpSpPr>
          <p:cNvPr name="Group 55" id="55"/>
          <p:cNvGrpSpPr/>
          <p:nvPr/>
        </p:nvGrpSpPr>
        <p:grpSpPr>
          <a:xfrm rot="0">
            <a:off x="9875520" y="6611112"/>
            <a:ext cx="123444" cy="123444"/>
            <a:chOff x="0" y="0"/>
            <a:chExt cx="164592" cy="164592"/>
          </a:xfrm>
        </p:grpSpPr>
        <p:sp>
          <p:nvSpPr>
            <p:cNvPr name="Freeform 56" id="56"/>
            <p:cNvSpPr/>
            <p:nvPr/>
          </p:nvSpPr>
          <p:spPr>
            <a:xfrm flipH="false" flipV="false" rot="0">
              <a:off x="0" y="0"/>
              <a:ext cx="164592" cy="164592"/>
            </a:xfrm>
            <a:custGeom>
              <a:avLst/>
              <a:gdLst/>
              <a:ahLst/>
              <a:cxnLst/>
              <a:rect r="r" b="b" t="t" l="l"/>
              <a:pathLst>
                <a:path h="164592" w="164592">
                  <a:moveTo>
                    <a:pt x="0" y="82296"/>
                  </a:moveTo>
                  <a:cubicBezTo>
                    <a:pt x="0" y="36830"/>
                    <a:pt x="36830" y="0"/>
                    <a:pt x="82296" y="0"/>
                  </a:cubicBezTo>
                  <a:cubicBezTo>
                    <a:pt x="127762" y="0"/>
                    <a:pt x="164592" y="36830"/>
                    <a:pt x="164592" y="82296"/>
                  </a:cubicBezTo>
                  <a:cubicBezTo>
                    <a:pt x="164592" y="127762"/>
                    <a:pt x="127762" y="164592"/>
                    <a:pt x="82296" y="164592"/>
                  </a:cubicBezTo>
                  <a:cubicBezTo>
                    <a:pt x="36830" y="164592"/>
                    <a:pt x="0" y="127762"/>
                    <a:pt x="0" y="82296"/>
                  </a:cubicBezTo>
                  <a:close/>
                </a:path>
              </a:pathLst>
            </a:custGeom>
            <a:solidFill>
              <a:srgbClr val="E8664F"/>
            </a:solidFill>
          </p:spPr>
        </p:sp>
      </p:grpSp>
      <p:grpSp>
        <p:nvGrpSpPr>
          <p:cNvPr name="Group 57" id="57"/>
          <p:cNvGrpSpPr/>
          <p:nvPr/>
        </p:nvGrpSpPr>
        <p:grpSpPr>
          <a:xfrm rot="0">
            <a:off x="10151364" y="6183249"/>
            <a:ext cx="6652260" cy="1028700"/>
            <a:chOff x="0" y="0"/>
            <a:chExt cx="8869680" cy="1371600"/>
          </a:xfrm>
        </p:grpSpPr>
        <p:sp>
          <p:nvSpPr>
            <p:cNvPr name="Freeform 58" id="58"/>
            <p:cNvSpPr/>
            <p:nvPr/>
          </p:nvSpPr>
          <p:spPr>
            <a:xfrm flipH="false" flipV="false" rot="0">
              <a:off x="0" y="0"/>
              <a:ext cx="8869680" cy="1371600"/>
            </a:xfrm>
            <a:custGeom>
              <a:avLst/>
              <a:gdLst/>
              <a:ahLst/>
              <a:cxnLst/>
              <a:rect r="r" b="b" t="t" l="l"/>
              <a:pathLst>
                <a:path h="1371600" w="8869680">
                  <a:moveTo>
                    <a:pt x="0" y="0"/>
                  </a:moveTo>
                  <a:lnTo>
                    <a:pt x="8869680" y="0"/>
                  </a:lnTo>
                  <a:lnTo>
                    <a:pt x="8869680" y="1371600"/>
                  </a:lnTo>
                  <a:lnTo>
                    <a:pt x="0" y="1371600"/>
                  </a:lnTo>
                  <a:close/>
                </a:path>
              </a:pathLst>
            </a:custGeom>
            <a:blipFill>
              <a:blip r:embed="rId2">
                <a:alphaModFix amt="0"/>
              </a:blip>
              <a:stretch>
                <a:fillRect l="0" t="-76003" r="0" b="-76003"/>
              </a:stretch>
            </a:blipFill>
          </p:spPr>
        </p:sp>
        <p:sp>
          <p:nvSpPr>
            <p:cNvPr name="TextBox 59" id="59"/>
            <p:cNvSpPr txBox="true"/>
            <p:nvPr/>
          </p:nvSpPr>
          <p:spPr>
            <a:xfrm>
              <a:off x="0" y="-38100"/>
              <a:ext cx="8869680" cy="1409700"/>
            </a:xfrm>
            <a:prstGeom prst="rect">
              <a:avLst/>
            </a:prstGeom>
          </p:spPr>
          <p:txBody>
            <a:bodyPr anchor="ctr" rtlCol="false" tIns="0" lIns="0" bIns="0" rIns="0"/>
            <a:lstStyle/>
            <a:p>
              <a:pPr algn="l">
                <a:lnSpc>
                  <a:spcPts val="2100"/>
                </a:lnSpc>
              </a:pPr>
              <a:r>
                <a:rPr lang="en-US" sz="1800">
                  <a:solidFill>
                    <a:srgbClr val="2B2B38"/>
                  </a:solidFill>
                  <a:latin typeface="Calibri (MS)"/>
                  <a:ea typeface="Calibri (MS)"/>
                  <a:cs typeface="Calibri (MS)"/>
                  <a:sym typeface="Calibri (MS)"/>
                </a:rPr>
                <a:t>SelfCheckGPT — consistency across samples</a:t>
              </a:r>
            </a:p>
          </p:txBody>
        </p:sp>
      </p:grpSp>
      <p:grpSp>
        <p:nvGrpSpPr>
          <p:cNvPr name="Group 60" id="60"/>
          <p:cNvGrpSpPr/>
          <p:nvPr/>
        </p:nvGrpSpPr>
        <p:grpSpPr>
          <a:xfrm rot="0">
            <a:off x="9875520" y="7804404"/>
            <a:ext cx="123444" cy="123444"/>
            <a:chOff x="0" y="0"/>
            <a:chExt cx="164592" cy="164592"/>
          </a:xfrm>
        </p:grpSpPr>
        <p:sp>
          <p:nvSpPr>
            <p:cNvPr name="Freeform 61" id="61"/>
            <p:cNvSpPr/>
            <p:nvPr/>
          </p:nvSpPr>
          <p:spPr>
            <a:xfrm flipH="false" flipV="false" rot="0">
              <a:off x="0" y="0"/>
              <a:ext cx="164592" cy="164592"/>
            </a:xfrm>
            <a:custGeom>
              <a:avLst/>
              <a:gdLst/>
              <a:ahLst/>
              <a:cxnLst/>
              <a:rect r="r" b="b" t="t" l="l"/>
              <a:pathLst>
                <a:path h="164592" w="164592">
                  <a:moveTo>
                    <a:pt x="0" y="82296"/>
                  </a:moveTo>
                  <a:cubicBezTo>
                    <a:pt x="0" y="36830"/>
                    <a:pt x="36830" y="0"/>
                    <a:pt x="82296" y="0"/>
                  </a:cubicBezTo>
                  <a:cubicBezTo>
                    <a:pt x="127762" y="0"/>
                    <a:pt x="164592" y="36830"/>
                    <a:pt x="164592" y="82296"/>
                  </a:cubicBezTo>
                  <a:cubicBezTo>
                    <a:pt x="164592" y="127762"/>
                    <a:pt x="127762" y="164592"/>
                    <a:pt x="82296" y="164592"/>
                  </a:cubicBezTo>
                  <a:cubicBezTo>
                    <a:pt x="36830" y="164592"/>
                    <a:pt x="0" y="127762"/>
                    <a:pt x="0" y="82296"/>
                  </a:cubicBezTo>
                  <a:close/>
                </a:path>
              </a:pathLst>
            </a:custGeom>
            <a:solidFill>
              <a:srgbClr val="E8664F"/>
            </a:solidFill>
          </p:spPr>
        </p:sp>
      </p:grpSp>
      <p:grpSp>
        <p:nvGrpSpPr>
          <p:cNvPr name="Group 62" id="62"/>
          <p:cNvGrpSpPr/>
          <p:nvPr/>
        </p:nvGrpSpPr>
        <p:grpSpPr>
          <a:xfrm rot="0">
            <a:off x="10151364" y="7376541"/>
            <a:ext cx="6652260" cy="1028700"/>
            <a:chOff x="0" y="0"/>
            <a:chExt cx="8869680" cy="1371600"/>
          </a:xfrm>
        </p:grpSpPr>
        <p:sp>
          <p:nvSpPr>
            <p:cNvPr name="Freeform 63" id="63"/>
            <p:cNvSpPr/>
            <p:nvPr/>
          </p:nvSpPr>
          <p:spPr>
            <a:xfrm flipH="false" flipV="false" rot="0">
              <a:off x="0" y="0"/>
              <a:ext cx="8869680" cy="1371600"/>
            </a:xfrm>
            <a:custGeom>
              <a:avLst/>
              <a:gdLst/>
              <a:ahLst/>
              <a:cxnLst/>
              <a:rect r="r" b="b" t="t" l="l"/>
              <a:pathLst>
                <a:path h="1371600" w="8869680">
                  <a:moveTo>
                    <a:pt x="0" y="0"/>
                  </a:moveTo>
                  <a:lnTo>
                    <a:pt x="8869680" y="0"/>
                  </a:lnTo>
                  <a:lnTo>
                    <a:pt x="8869680" y="1371600"/>
                  </a:lnTo>
                  <a:lnTo>
                    <a:pt x="0" y="1371600"/>
                  </a:lnTo>
                  <a:close/>
                </a:path>
              </a:pathLst>
            </a:custGeom>
            <a:blipFill>
              <a:blip r:embed="rId2">
                <a:alphaModFix amt="0"/>
              </a:blip>
              <a:stretch>
                <a:fillRect l="0" t="-76003" r="0" b="-76003"/>
              </a:stretch>
            </a:blipFill>
          </p:spPr>
        </p:sp>
        <p:sp>
          <p:nvSpPr>
            <p:cNvPr name="TextBox 64" id="64"/>
            <p:cNvSpPr txBox="true"/>
            <p:nvPr/>
          </p:nvSpPr>
          <p:spPr>
            <a:xfrm>
              <a:off x="0" y="-38100"/>
              <a:ext cx="8869680" cy="1409700"/>
            </a:xfrm>
            <a:prstGeom prst="rect">
              <a:avLst/>
            </a:prstGeom>
          </p:spPr>
          <p:txBody>
            <a:bodyPr anchor="ctr" rtlCol="false" tIns="0" lIns="0" bIns="0" rIns="0"/>
            <a:lstStyle/>
            <a:p>
              <a:pPr algn="l">
                <a:lnSpc>
                  <a:spcPts val="2100"/>
                </a:lnSpc>
              </a:pPr>
              <a:r>
                <a:rPr lang="en-US" sz="1800">
                  <a:solidFill>
                    <a:srgbClr val="2B2B38"/>
                  </a:solidFill>
                  <a:latin typeface="Calibri (MS)"/>
                  <a:ea typeface="Calibri (MS)"/>
                  <a:cs typeface="Calibri (MS)"/>
                  <a:sym typeface="Calibri (MS)"/>
                </a:rPr>
                <a:t>RAGTruth — word-level hallucination spans in RAG</a:t>
              </a:r>
            </a:p>
          </p:txBody>
        </p:sp>
      </p:grpSp>
      <p:grpSp>
        <p:nvGrpSpPr>
          <p:cNvPr name="Group 65" id="65"/>
          <p:cNvGrpSpPr/>
          <p:nvPr/>
        </p:nvGrpSpPr>
        <p:grpSpPr>
          <a:xfrm rot="0">
            <a:off x="1371600" y="8099298"/>
            <a:ext cx="123444" cy="123444"/>
            <a:chOff x="0" y="0"/>
            <a:chExt cx="164592" cy="164592"/>
          </a:xfrm>
        </p:grpSpPr>
        <p:sp>
          <p:nvSpPr>
            <p:cNvPr name="Freeform 66" id="66"/>
            <p:cNvSpPr/>
            <p:nvPr/>
          </p:nvSpPr>
          <p:spPr>
            <a:xfrm flipH="false" flipV="false" rot="0">
              <a:off x="0" y="0"/>
              <a:ext cx="164592" cy="164592"/>
            </a:xfrm>
            <a:custGeom>
              <a:avLst/>
              <a:gdLst/>
              <a:ahLst/>
              <a:cxnLst/>
              <a:rect r="r" b="b" t="t" l="l"/>
              <a:pathLst>
                <a:path h="164592" w="164592">
                  <a:moveTo>
                    <a:pt x="0" y="82296"/>
                  </a:moveTo>
                  <a:cubicBezTo>
                    <a:pt x="0" y="36830"/>
                    <a:pt x="36830" y="0"/>
                    <a:pt x="82296" y="0"/>
                  </a:cubicBezTo>
                  <a:cubicBezTo>
                    <a:pt x="127762" y="0"/>
                    <a:pt x="164592" y="36830"/>
                    <a:pt x="164592" y="82296"/>
                  </a:cubicBezTo>
                  <a:cubicBezTo>
                    <a:pt x="164592" y="127762"/>
                    <a:pt x="127762" y="164592"/>
                    <a:pt x="82296" y="164592"/>
                  </a:cubicBezTo>
                  <a:cubicBezTo>
                    <a:pt x="36830" y="164592"/>
                    <a:pt x="0" y="127762"/>
                    <a:pt x="0" y="82296"/>
                  </a:cubicBezTo>
                  <a:close/>
                </a:path>
              </a:pathLst>
            </a:custGeom>
            <a:solidFill>
              <a:srgbClr val="1E2761"/>
            </a:solidFill>
          </p:spPr>
        </p:sp>
      </p:grpSp>
      <p:grpSp>
        <p:nvGrpSpPr>
          <p:cNvPr name="Group 67" id="67"/>
          <p:cNvGrpSpPr/>
          <p:nvPr/>
        </p:nvGrpSpPr>
        <p:grpSpPr>
          <a:xfrm rot="0">
            <a:off x="1371600" y="6837405"/>
            <a:ext cx="137202" cy="137202"/>
            <a:chOff x="0" y="0"/>
            <a:chExt cx="164592" cy="164592"/>
          </a:xfrm>
        </p:grpSpPr>
        <p:sp>
          <p:nvSpPr>
            <p:cNvPr name="Freeform 68" id="68"/>
            <p:cNvSpPr/>
            <p:nvPr/>
          </p:nvSpPr>
          <p:spPr>
            <a:xfrm flipH="false" flipV="false" rot="0">
              <a:off x="0" y="0"/>
              <a:ext cx="164592" cy="164592"/>
            </a:xfrm>
            <a:custGeom>
              <a:avLst/>
              <a:gdLst/>
              <a:ahLst/>
              <a:cxnLst/>
              <a:rect r="r" b="b" t="t" l="l"/>
              <a:pathLst>
                <a:path h="164592" w="164592">
                  <a:moveTo>
                    <a:pt x="0" y="82296"/>
                  </a:moveTo>
                  <a:cubicBezTo>
                    <a:pt x="0" y="36830"/>
                    <a:pt x="36830" y="0"/>
                    <a:pt x="82296" y="0"/>
                  </a:cubicBezTo>
                  <a:cubicBezTo>
                    <a:pt x="127762" y="0"/>
                    <a:pt x="164592" y="36830"/>
                    <a:pt x="164592" y="82296"/>
                  </a:cubicBezTo>
                  <a:cubicBezTo>
                    <a:pt x="164592" y="127762"/>
                    <a:pt x="127762" y="164592"/>
                    <a:pt x="82296" y="164592"/>
                  </a:cubicBezTo>
                  <a:cubicBezTo>
                    <a:pt x="36830" y="164592"/>
                    <a:pt x="0" y="127762"/>
                    <a:pt x="0" y="82296"/>
                  </a:cubicBezTo>
                  <a:close/>
                </a:path>
              </a:pathLst>
            </a:custGeom>
            <a:solidFill>
              <a:srgbClr val="1E2761"/>
            </a:solidFill>
          </p:spPr>
        </p:sp>
      </p:grpSp>
      <p:grpSp>
        <p:nvGrpSpPr>
          <p:cNvPr name="Group 69" id="69"/>
          <p:cNvGrpSpPr/>
          <p:nvPr/>
        </p:nvGrpSpPr>
        <p:grpSpPr>
          <a:xfrm rot="0">
            <a:off x="1357842" y="5644113"/>
            <a:ext cx="137202" cy="137202"/>
            <a:chOff x="0" y="0"/>
            <a:chExt cx="164592" cy="164592"/>
          </a:xfrm>
        </p:grpSpPr>
        <p:sp>
          <p:nvSpPr>
            <p:cNvPr name="Freeform 70" id="70"/>
            <p:cNvSpPr/>
            <p:nvPr/>
          </p:nvSpPr>
          <p:spPr>
            <a:xfrm flipH="false" flipV="false" rot="0">
              <a:off x="0" y="0"/>
              <a:ext cx="164592" cy="164592"/>
            </a:xfrm>
            <a:custGeom>
              <a:avLst/>
              <a:gdLst/>
              <a:ahLst/>
              <a:cxnLst/>
              <a:rect r="r" b="b" t="t" l="l"/>
              <a:pathLst>
                <a:path h="164592" w="164592">
                  <a:moveTo>
                    <a:pt x="0" y="82296"/>
                  </a:moveTo>
                  <a:cubicBezTo>
                    <a:pt x="0" y="36830"/>
                    <a:pt x="36830" y="0"/>
                    <a:pt x="82296" y="0"/>
                  </a:cubicBezTo>
                  <a:cubicBezTo>
                    <a:pt x="127762" y="0"/>
                    <a:pt x="164592" y="36830"/>
                    <a:pt x="164592" y="82296"/>
                  </a:cubicBezTo>
                  <a:cubicBezTo>
                    <a:pt x="164592" y="127762"/>
                    <a:pt x="127762" y="164592"/>
                    <a:pt x="82296" y="164592"/>
                  </a:cubicBezTo>
                  <a:cubicBezTo>
                    <a:pt x="36830" y="164592"/>
                    <a:pt x="0" y="127762"/>
                    <a:pt x="0" y="82296"/>
                  </a:cubicBezTo>
                  <a:close/>
                </a:path>
              </a:pathLst>
            </a:custGeom>
            <a:solidFill>
              <a:srgbClr val="1E2761"/>
            </a:solidFill>
          </p:spPr>
        </p:sp>
      </p:grpSp>
      <p:grpSp>
        <p:nvGrpSpPr>
          <p:cNvPr name="Group 71" id="71"/>
          <p:cNvGrpSpPr/>
          <p:nvPr/>
        </p:nvGrpSpPr>
        <p:grpSpPr>
          <a:xfrm rot="0">
            <a:off x="1357842" y="4449636"/>
            <a:ext cx="137202" cy="137202"/>
            <a:chOff x="0" y="0"/>
            <a:chExt cx="164592" cy="164592"/>
          </a:xfrm>
        </p:grpSpPr>
        <p:sp>
          <p:nvSpPr>
            <p:cNvPr name="Freeform 72" id="72"/>
            <p:cNvSpPr/>
            <p:nvPr/>
          </p:nvSpPr>
          <p:spPr>
            <a:xfrm flipH="false" flipV="false" rot="0">
              <a:off x="0" y="0"/>
              <a:ext cx="164592" cy="164592"/>
            </a:xfrm>
            <a:custGeom>
              <a:avLst/>
              <a:gdLst/>
              <a:ahLst/>
              <a:cxnLst/>
              <a:rect r="r" b="b" t="t" l="l"/>
              <a:pathLst>
                <a:path h="164592" w="164592">
                  <a:moveTo>
                    <a:pt x="0" y="82296"/>
                  </a:moveTo>
                  <a:cubicBezTo>
                    <a:pt x="0" y="36830"/>
                    <a:pt x="36830" y="0"/>
                    <a:pt x="82296" y="0"/>
                  </a:cubicBezTo>
                  <a:cubicBezTo>
                    <a:pt x="127762" y="0"/>
                    <a:pt x="164592" y="36830"/>
                    <a:pt x="164592" y="82296"/>
                  </a:cubicBezTo>
                  <a:cubicBezTo>
                    <a:pt x="164592" y="127762"/>
                    <a:pt x="127762" y="164592"/>
                    <a:pt x="82296" y="164592"/>
                  </a:cubicBezTo>
                  <a:cubicBezTo>
                    <a:pt x="36830" y="164592"/>
                    <a:pt x="0" y="127762"/>
                    <a:pt x="0" y="82296"/>
                  </a:cubicBezTo>
                  <a:close/>
                </a:path>
              </a:pathLst>
            </a:custGeom>
            <a:solidFill>
              <a:srgbClr val="1E2761"/>
            </a:solid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960120" y="-856833"/>
            <a:ext cx="10972800" cy="3516213"/>
            <a:chOff x="0" y="0"/>
            <a:chExt cx="14630400" cy="4688284"/>
          </a:xfrm>
        </p:grpSpPr>
        <p:sp>
          <p:nvSpPr>
            <p:cNvPr name="Freeform 3" id="3"/>
            <p:cNvSpPr/>
            <p:nvPr/>
          </p:nvSpPr>
          <p:spPr>
            <a:xfrm flipH="false" flipV="false" rot="0">
              <a:off x="0" y="0"/>
              <a:ext cx="14630400" cy="4688284"/>
            </a:xfrm>
            <a:custGeom>
              <a:avLst/>
              <a:gdLst/>
              <a:ahLst/>
              <a:cxnLst/>
              <a:rect r="r" b="b" t="t" l="l"/>
              <a:pathLst>
                <a:path h="4688284" w="14630400">
                  <a:moveTo>
                    <a:pt x="0" y="0"/>
                  </a:moveTo>
                  <a:lnTo>
                    <a:pt x="14630400" y="0"/>
                  </a:lnTo>
                  <a:lnTo>
                    <a:pt x="14630400" y="4688284"/>
                  </a:lnTo>
                  <a:lnTo>
                    <a:pt x="0" y="4688284"/>
                  </a:lnTo>
                  <a:close/>
                </a:path>
              </a:pathLst>
            </a:custGeom>
            <a:blipFill>
              <a:blip r:embed="rId2">
                <a:alphaModFix amt="0"/>
              </a:blip>
              <a:stretch>
                <a:fillRect l="0" t="-49103" r="0" b="27492"/>
              </a:stretch>
            </a:blipFill>
          </p:spPr>
        </p:sp>
        <p:sp>
          <p:nvSpPr>
            <p:cNvPr name="TextBox 4" id="4"/>
            <p:cNvSpPr txBox="true"/>
            <p:nvPr/>
          </p:nvSpPr>
          <p:spPr>
            <a:xfrm>
              <a:off x="0" y="-9525"/>
              <a:ext cx="14630400" cy="4697809"/>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Evals</a:t>
              </a:r>
            </a:p>
          </p:txBody>
        </p:sp>
      </p:grpSp>
      <p:grpSp>
        <p:nvGrpSpPr>
          <p:cNvPr name="Group 5" id="5"/>
          <p:cNvGrpSpPr/>
          <p:nvPr/>
        </p:nvGrpSpPr>
        <p:grpSpPr>
          <a:xfrm rot="0">
            <a:off x="960120" y="1389329"/>
            <a:ext cx="13716000" cy="669976"/>
            <a:chOff x="0" y="0"/>
            <a:chExt cx="18288000" cy="893302"/>
          </a:xfrm>
        </p:grpSpPr>
        <p:sp>
          <p:nvSpPr>
            <p:cNvPr name="Freeform 6" id="6"/>
            <p:cNvSpPr/>
            <p:nvPr/>
          </p:nvSpPr>
          <p:spPr>
            <a:xfrm flipH="false" flipV="false" rot="0">
              <a:off x="0" y="0"/>
              <a:ext cx="18288000" cy="893302"/>
            </a:xfrm>
            <a:custGeom>
              <a:avLst/>
              <a:gdLst/>
              <a:ahLst/>
              <a:cxnLst/>
              <a:rect r="r" b="b" t="t" l="l"/>
              <a:pathLst>
                <a:path h="893302" w="18288000">
                  <a:moveTo>
                    <a:pt x="0" y="0"/>
                  </a:moveTo>
                  <a:lnTo>
                    <a:pt x="18288000" y="0"/>
                  </a:lnTo>
                  <a:lnTo>
                    <a:pt x="18288000" y="893302"/>
                  </a:lnTo>
                  <a:lnTo>
                    <a:pt x="0" y="893302"/>
                  </a:lnTo>
                  <a:close/>
                </a:path>
              </a:pathLst>
            </a:custGeom>
            <a:blipFill>
              <a:blip r:embed="rId2">
                <a:alphaModFix amt="0"/>
              </a:blip>
              <a:stretch>
                <a:fillRect l="0" t="-357960" r="0" b="-339849"/>
              </a:stretch>
            </a:blipFill>
          </p:spPr>
        </p:sp>
        <p:sp>
          <p:nvSpPr>
            <p:cNvPr name="TextBox 7" id="7"/>
            <p:cNvSpPr txBox="true"/>
            <p:nvPr/>
          </p:nvSpPr>
          <p:spPr>
            <a:xfrm>
              <a:off x="0" y="-66675"/>
              <a:ext cx="18288000" cy="959977"/>
            </a:xfrm>
            <a:prstGeom prst="rect">
              <a:avLst/>
            </a:prstGeom>
          </p:spPr>
          <p:txBody>
            <a:bodyPr anchor="ctr" rtlCol="false" tIns="0" lIns="0" bIns="0" rIns="0"/>
            <a:lstStyle/>
            <a:p>
              <a:pPr algn="l">
                <a:lnSpc>
                  <a:spcPts val="4019"/>
                </a:lnSpc>
              </a:pPr>
              <a:r>
                <a:rPr lang="en-US" sz="3349" i="true">
                  <a:solidFill>
                    <a:srgbClr val="CADCFC"/>
                  </a:solidFill>
                  <a:latin typeface="Calibri (MS) Italics"/>
                  <a:ea typeface="Calibri (MS) Italics"/>
                  <a:cs typeface="Calibri (MS) Italics"/>
                  <a:sym typeface="Calibri (MS) Italics"/>
                </a:rPr>
                <a:t>Evaluation Metric: RAG Triad</a:t>
              </a:r>
            </a:p>
          </p:txBody>
        </p:sp>
      </p:grpSp>
      <p:sp>
        <p:nvSpPr>
          <p:cNvPr name="Freeform 8" id="8"/>
          <p:cNvSpPr/>
          <p:nvPr/>
        </p:nvSpPr>
        <p:spPr>
          <a:xfrm flipH="false" flipV="false" rot="0">
            <a:off x="3101554" y="2358569"/>
            <a:ext cx="11454484" cy="5569863"/>
          </a:xfrm>
          <a:custGeom>
            <a:avLst/>
            <a:gdLst/>
            <a:ahLst/>
            <a:cxnLst/>
            <a:rect r="r" b="b" t="t" l="l"/>
            <a:pathLst>
              <a:path h="5569863" w="11454484">
                <a:moveTo>
                  <a:pt x="0" y="0"/>
                </a:moveTo>
                <a:lnTo>
                  <a:pt x="11454484" y="0"/>
                </a:lnTo>
                <a:lnTo>
                  <a:pt x="11454484" y="5569862"/>
                </a:lnTo>
                <a:lnTo>
                  <a:pt x="0" y="5569862"/>
                </a:lnTo>
                <a:lnTo>
                  <a:pt x="0" y="0"/>
                </a:lnTo>
                <a:close/>
              </a:path>
            </a:pathLst>
          </a:custGeom>
          <a:blipFill>
            <a:blip r:embed="rId3"/>
            <a:stretch>
              <a:fillRect l="0" t="-12935" r="0" b="-4671"/>
            </a:stretch>
          </a:blipFill>
        </p:spPr>
      </p:sp>
      <p:grpSp>
        <p:nvGrpSpPr>
          <p:cNvPr name="Group 9" id="9"/>
          <p:cNvGrpSpPr/>
          <p:nvPr/>
        </p:nvGrpSpPr>
        <p:grpSpPr>
          <a:xfrm rot="0">
            <a:off x="1459999" y="8223706"/>
            <a:ext cx="15626428" cy="1554949"/>
            <a:chOff x="0" y="0"/>
            <a:chExt cx="20835238" cy="2073266"/>
          </a:xfrm>
        </p:grpSpPr>
        <p:sp>
          <p:nvSpPr>
            <p:cNvPr name="Freeform 10" id="10"/>
            <p:cNvSpPr/>
            <p:nvPr/>
          </p:nvSpPr>
          <p:spPr>
            <a:xfrm flipH="false" flipV="false" rot="0">
              <a:off x="0" y="0"/>
              <a:ext cx="20835238" cy="2073266"/>
            </a:xfrm>
            <a:custGeom>
              <a:avLst/>
              <a:gdLst/>
              <a:ahLst/>
              <a:cxnLst/>
              <a:rect r="r" b="b" t="t" l="l"/>
              <a:pathLst>
                <a:path h="2073266" w="20835238">
                  <a:moveTo>
                    <a:pt x="0" y="153575"/>
                  </a:moveTo>
                  <a:cubicBezTo>
                    <a:pt x="0" y="68789"/>
                    <a:pt x="155541" y="0"/>
                    <a:pt x="347254" y="0"/>
                  </a:cubicBezTo>
                  <a:lnTo>
                    <a:pt x="20487984" y="0"/>
                  </a:lnTo>
                  <a:cubicBezTo>
                    <a:pt x="20679696" y="0"/>
                    <a:pt x="20835238" y="68789"/>
                    <a:pt x="20835238" y="153575"/>
                  </a:cubicBezTo>
                  <a:lnTo>
                    <a:pt x="20835238" y="1919691"/>
                  </a:lnTo>
                  <a:cubicBezTo>
                    <a:pt x="20835238" y="2004477"/>
                    <a:pt x="20679696" y="2073266"/>
                    <a:pt x="20487984" y="2073266"/>
                  </a:cubicBezTo>
                  <a:lnTo>
                    <a:pt x="347254" y="2073266"/>
                  </a:lnTo>
                  <a:cubicBezTo>
                    <a:pt x="155541" y="2073266"/>
                    <a:pt x="0" y="2004477"/>
                    <a:pt x="0" y="1919691"/>
                  </a:cubicBezTo>
                  <a:close/>
                </a:path>
              </a:pathLst>
            </a:custGeom>
            <a:solidFill>
              <a:srgbClr val="E8664F"/>
            </a:solidFill>
          </p:spPr>
        </p:sp>
      </p:grpSp>
      <p:grpSp>
        <p:nvGrpSpPr>
          <p:cNvPr name="Group 11" id="11"/>
          <p:cNvGrpSpPr/>
          <p:nvPr/>
        </p:nvGrpSpPr>
        <p:grpSpPr>
          <a:xfrm rot="0">
            <a:off x="1905993" y="7684006"/>
            <a:ext cx="14476014" cy="2602994"/>
            <a:chOff x="0" y="0"/>
            <a:chExt cx="19301352" cy="3470659"/>
          </a:xfrm>
        </p:grpSpPr>
        <p:sp>
          <p:nvSpPr>
            <p:cNvPr name="Freeform 12" id="12"/>
            <p:cNvSpPr/>
            <p:nvPr/>
          </p:nvSpPr>
          <p:spPr>
            <a:xfrm flipH="false" flipV="false" rot="0">
              <a:off x="0" y="0"/>
              <a:ext cx="19301352" cy="3470659"/>
            </a:xfrm>
            <a:custGeom>
              <a:avLst/>
              <a:gdLst/>
              <a:ahLst/>
              <a:cxnLst/>
              <a:rect r="r" b="b" t="t" l="l"/>
              <a:pathLst>
                <a:path h="3470659" w="19301352">
                  <a:moveTo>
                    <a:pt x="0" y="0"/>
                  </a:moveTo>
                  <a:lnTo>
                    <a:pt x="19301352" y="0"/>
                  </a:lnTo>
                  <a:lnTo>
                    <a:pt x="19301352" y="3470659"/>
                  </a:lnTo>
                  <a:lnTo>
                    <a:pt x="0" y="3470659"/>
                  </a:lnTo>
                  <a:close/>
                </a:path>
              </a:pathLst>
            </a:custGeom>
            <a:blipFill>
              <a:blip r:embed="rId2">
                <a:alphaModFix amt="0"/>
              </a:blip>
              <a:stretch>
                <a:fillRect l="0" t="-9143" r="69680" b="43432"/>
              </a:stretch>
            </a:blipFill>
          </p:spPr>
        </p:sp>
        <p:sp>
          <p:nvSpPr>
            <p:cNvPr name="TextBox 13" id="13"/>
            <p:cNvSpPr txBox="true"/>
            <p:nvPr/>
          </p:nvSpPr>
          <p:spPr>
            <a:xfrm>
              <a:off x="0" y="0"/>
              <a:ext cx="19301352" cy="3470659"/>
            </a:xfrm>
            <a:prstGeom prst="rect">
              <a:avLst/>
            </a:prstGeom>
          </p:spPr>
          <p:txBody>
            <a:bodyPr anchor="ctr" rtlCol="false" tIns="0" lIns="0" bIns="0" rIns="0"/>
            <a:lstStyle/>
            <a:p>
              <a:pPr algn="ctr">
                <a:lnSpc>
                  <a:spcPts val="2280"/>
                </a:lnSpc>
              </a:pPr>
              <a:r>
                <a:rPr lang="en-US" b="true" sz="1900">
                  <a:solidFill>
                    <a:srgbClr val="FFFFFF"/>
                  </a:solidFill>
                  <a:latin typeface="Cambria Bold"/>
                  <a:ea typeface="Cambria Bold"/>
                  <a:cs typeface="Cambria Bold"/>
                  <a:sym typeface="Cambria Bold"/>
                </a:rPr>
                <a:t>NOTE: Hallucination on in itself cannot be measured by just single metric, thats why we will be looking at multiple factors to judge the outcome. The best way to judge this is by using RAG traid. It measures the out put based on 3 metrics:  Context Relevance, Answer Relevance and groundedness. It does 2 test before output generation and 2 after the generation.</a:t>
              </a:r>
            </a:p>
          </p:txBody>
        </p:sp>
      </p:grpSp>
      <p:grpSp>
        <p:nvGrpSpPr>
          <p:cNvPr name="Group 14" id="14"/>
          <p:cNvGrpSpPr/>
          <p:nvPr/>
        </p:nvGrpSpPr>
        <p:grpSpPr>
          <a:xfrm rot="0">
            <a:off x="960120" y="1343133"/>
            <a:ext cx="8892642" cy="46196"/>
            <a:chOff x="0" y="0"/>
            <a:chExt cx="1860174" cy="9663"/>
          </a:xfrm>
        </p:grpSpPr>
        <p:sp>
          <p:nvSpPr>
            <p:cNvPr name="Freeform 15" id="15"/>
            <p:cNvSpPr/>
            <p:nvPr/>
          </p:nvSpPr>
          <p:spPr>
            <a:xfrm flipH="false" flipV="false" rot="0">
              <a:off x="0" y="0"/>
              <a:ext cx="1860174" cy="9663"/>
            </a:xfrm>
            <a:custGeom>
              <a:avLst/>
              <a:gdLst/>
              <a:ahLst/>
              <a:cxnLst/>
              <a:rect r="r" b="b" t="t" l="l"/>
              <a:pathLst>
                <a:path h="9663" w="1860174">
                  <a:moveTo>
                    <a:pt x="0" y="4832"/>
                  </a:moveTo>
                  <a:cubicBezTo>
                    <a:pt x="0" y="2163"/>
                    <a:pt x="416308" y="0"/>
                    <a:pt x="930087" y="0"/>
                  </a:cubicBezTo>
                  <a:cubicBezTo>
                    <a:pt x="1443866" y="0"/>
                    <a:pt x="1860174" y="2163"/>
                    <a:pt x="1860174" y="4832"/>
                  </a:cubicBezTo>
                  <a:cubicBezTo>
                    <a:pt x="1860174" y="7501"/>
                    <a:pt x="1443866" y="9663"/>
                    <a:pt x="930087" y="9663"/>
                  </a:cubicBezTo>
                  <a:cubicBezTo>
                    <a:pt x="416308" y="9663"/>
                    <a:pt x="0" y="7501"/>
                    <a:pt x="0" y="4832"/>
                  </a:cubicBezTo>
                  <a:close/>
                </a:path>
              </a:pathLst>
            </a:custGeom>
            <a:solidFill>
              <a:srgbClr val="E8664F"/>
            </a:solidFill>
          </p:spPr>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8931456" y="1846726"/>
            <a:ext cx="50033" cy="7713938"/>
            <a:chOff x="0" y="0"/>
            <a:chExt cx="66064" cy="10185477"/>
          </a:xfrm>
        </p:grpSpPr>
        <p:sp>
          <p:nvSpPr>
            <p:cNvPr name="Freeform 3" id="3"/>
            <p:cNvSpPr/>
            <p:nvPr/>
          </p:nvSpPr>
          <p:spPr>
            <a:xfrm flipH="false" flipV="false" rot="0">
              <a:off x="0" y="0"/>
              <a:ext cx="66064" cy="10185477"/>
            </a:xfrm>
            <a:custGeom>
              <a:avLst/>
              <a:gdLst/>
              <a:ahLst/>
              <a:cxnLst/>
              <a:rect r="r" b="b" t="t" l="l"/>
              <a:pathLst>
                <a:path h="10185477" w="66064">
                  <a:moveTo>
                    <a:pt x="0" y="754480"/>
                  </a:moveTo>
                  <a:cubicBezTo>
                    <a:pt x="0" y="337944"/>
                    <a:pt x="493" y="0"/>
                    <a:pt x="1101" y="0"/>
                  </a:cubicBezTo>
                  <a:lnTo>
                    <a:pt x="64963" y="0"/>
                  </a:lnTo>
                  <a:cubicBezTo>
                    <a:pt x="65571" y="0"/>
                    <a:pt x="66064" y="337944"/>
                    <a:pt x="66064" y="754480"/>
                  </a:cubicBezTo>
                  <a:lnTo>
                    <a:pt x="66064" y="9430997"/>
                  </a:lnTo>
                  <a:cubicBezTo>
                    <a:pt x="66064" y="9847533"/>
                    <a:pt x="65571" y="10185477"/>
                    <a:pt x="64963" y="10185477"/>
                  </a:cubicBezTo>
                  <a:lnTo>
                    <a:pt x="1101" y="10185477"/>
                  </a:lnTo>
                  <a:cubicBezTo>
                    <a:pt x="493" y="10185477"/>
                    <a:pt x="0" y="9847533"/>
                    <a:pt x="0" y="9430997"/>
                  </a:cubicBezTo>
                  <a:close/>
                </a:path>
              </a:pathLst>
            </a:custGeom>
            <a:solidFill>
              <a:srgbClr val="085041"/>
            </a:solidFill>
          </p:spPr>
        </p:sp>
      </p:grpSp>
      <p:grpSp>
        <p:nvGrpSpPr>
          <p:cNvPr name="Group 4" id="4"/>
          <p:cNvGrpSpPr/>
          <p:nvPr/>
        </p:nvGrpSpPr>
        <p:grpSpPr>
          <a:xfrm rot="0">
            <a:off x="1028700" y="-729407"/>
            <a:ext cx="10972800" cy="3516213"/>
            <a:chOff x="0" y="0"/>
            <a:chExt cx="14630400" cy="4688284"/>
          </a:xfrm>
        </p:grpSpPr>
        <p:sp>
          <p:nvSpPr>
            <p:cNvPr name="Freeform 5" id="5"/>
            <p:cNvSpPr/>
            <p:nvPr/>
          </p:nvSpPr>
          <p:spPr>
            <a:xfrm flipH="false" flipV="false" rot="0">
              <a:off x="0" y="0"/>
              <a:ext cx="14630400" cy="4688284"/>
            </a:xfrm>
            <a:custGeom>
              <a:avLst/>
              <a:gdLst/>
              <a:ahLst/>
              <a:cxnLst/>
              <a:rect r="r" b="b" t="t" l="l"/>
              <a:pathLst>
                <a:path h="4688284" w="14630400">
                  <a:moveTo>
                    <a:pt x="0" y="0"/>
                  </a:moveTo>
                  <a:lnTo>
                    <a:pt x="14630400" y="0"/>
                  </a:lnTo>
                  <a:lnTo>
                    <a:pt x="14630400" y="4688284"/>
                  </a:lnTo>
                  <a:lnTo>
                    <a:pt x="0" y="4688284"/>
                  </a:lnTo>
                  <a:close/>
                </a:path>
              </a:pathLst>
            </a:custGeom>
            <a:blipFill>
              <a:blip r:embed="rId2">
                <a:alphaModFix amt="0"/>
              </a:blip>
              <a:stretch>
                <a:fillRect l="0" t="-49103" r="0" b="27492"/>
              </a:stretch>
            </a:blipFill>
          </p:spPr>
        </p:sp>
        <p:sp>
          <p:nvSpPr>
            <p:cNvPr name="TextBox 6" id="6"/>
            <p:cNvSpPr txBox="true"/>
            <p:nvPr/>
          </p:nvSpPr>
          <p:spPr>
            <a:xfrm>
              <a:off x="0" y="-9525"/>
              <a:ext cx="14630400" cy="4697809"/>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Eval Metrics</a:t>
              </a:r>
            </a:p>
          </p:txBody>
        </p:sp>
      </p:grpSp>
      <p:grpSp>
        <p:nvGrpSpPr>
          <p:cNvPr name="Group 7" id="7"/>
          <p:cNvGrpSpPr/>
          <p:nvPr/>
        </p:nvGrpSpPr>
        <p:grpSpPr>
          <a:xfrm rot="0">
            <a:off x="960120" y="2948940"/>
            <a:ext cx="3771900" cy="5349240"/>
            <a:chOff x="0" y="0"/>
            <a:chExt cx="5029200" cy="7132320"/>
          </a:xfrm>
        </p:grpSpPr>
        <p:sp>
          <p:nvSpPr>
            <p:cNvPr name="Freeform 8" id="8"/>
            <p:cNvSpPr/>
            <p:nvPr/>
          </p:nvSpPr>
          <p:spPr>
            <a:xfrm flipH="false" flipV="false" rot="0">
              <a:off x="0" y="0"/>
              <a:ext cx="5029200" cy="7132320"/>
            </a:xfrm>
            <a:custGeom>
              <a:avLst/>
              <a:gdLst/>
              <a:ahLst/>
              <a:cxnLst/>
              <a:rect r="r" b="b" t="t" l="l"/>
              <a:pathLst>
                <a:path h="7132320" w="5029200">
                  <a:moveTo>
                    <a:pt x="0" y="182880"/>
                  </a:moveTo>
                  <a:cubicBezTo>
                    <a:pt x="0" y="81915"/>
                    <a:pt x="81915" y="0"/>
                    <a:pt x="182880" y="0"/>
                  </a:cubicBezTo>
                  <a:lnTo>
                    <a:pt x="4846320" y="0"/>
                  </a:lnTo>
                  <a:cubicBezTo>
                    <a:pt x="4947285" y="0"/>
                    <a:pt x="5029200" y="81915"/>
                    <a:pt x="5029200" y="182880"/>
                  </a:cubicBezTo>
                  <a:lnTo>
                    <a:pt x="5029200" y="6949440"/>
                  </a:lnTo>
                  <a:cubicBezTo>
                    <a:pt x="5029200" y="7050405"/>
                    <a:pt x="4947285" y="7132320"/>
                    <a:pt x="4846320" y="7132320"/>
                  </a:cubicBezTo>
                  <a:lnTo>
                    <a:pt x="182880" y="7132320"/>
                  </a:lnTo>
                  <a:cubicBezTo>
                    <a:pt x="81915" y="7132320"/>
                    <a:pt x="0" y="7050405"/>
                    <a:pt x="0" y="6949440"/>
                  </a:cubicBezTo>
                  <a:close/>
                </a:path>
              </a:pathLst>
            </a:custGeom>
            <a:solidFill>
              <a:srgbClr val="263172"/>
            </a:solidFill>
          </p:spPr>
        </p:sp>
      </p:grpSp>
      <p:grpSp>
        <p:nvGrpSpPr>
          <p:cNvPr name="Group 9" id="9"/>
          <p:cNvGrpSpPr/>
          <p:nvPr/>
        </p:nvGrpSpPr>
        <p:grpSpPr>
          <a:xfrm rot="0">
            <a:off x="2434590" y="3360420"/>
            <a:ext cx="822960" cy="822960"/>
            <a:chOff x="0" y="0"/>
            <a:chExt cx="1097280" cy="1097280"/>
          </a:xfrm>
        </p:grpSpPr>
        <p:sp>
          <p:nvSpPr>
            <p:cNvPr name="Freeform 10" id="10"/>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E8664F"/>
            </a:solidFill>
          </p:spPr>
        </p:sp>
      </p:grpSp>
      <p:grpSp>
        <p:nvGrpSpPr>
          <p:cNvPr name="Group 11" id="11"/>
          <p:cNvGrpSpPr/>
          <p:nvPr/>
        </p:nvGrpSpPr>
        <p:grpSpPr>
          <a:xfrm rot="0">
            <a:off x="2434590" y="3360420"/>
            <a:ext cx="822960" cy="822960"/>
            <a:chOff x="0" y="0"/>
            <a:chExt cx="1097280" cy="1097280"/>
          </a:xfrm>
        </p:grpSpPr>
        <p:sp>
          <p:nvSpPr>
            <p:cNvPr name="Freeform 12" id="12"/>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2">
                <a:alphaModFix amt="0"/>
              </a:blip>
              <a:stretch>
                <a:fillRect l="-78303" t="0" r="-78303" b="0"/>
              </a:stretch>
            </a:blipFill>
          </p:spPr>
        </p:sp>
        <p:sp>
          <p:nvSpPr>
            <p:cNvPr name="TextBox 13" id="13"/>
            <p:cNvSpPr txBox="true"/>
            <p:nvPr/>
          </p:nvSpPr>
          <p:spPr>
            <a:xfrm>
              <a:off x="0" y="-19050"/>
              <a:ext cx="1097280" cy="1116330"/>
            </a:xfrm>
            <a:prstGeom prst="rect">
              <a:avLst/>
            </a:prstGeom>
          </p:spPr>
          <p:txBody>
            <a:bodyPr anchor="ctr" rtlCol="false" tIns="0" lIns="0" bIns="0" rIns="0"/>
            <a:lstStyle/>
            <a:p>
              <a:pPr algn="ctr">
                <a:lnSpc>
                  <a:spcPts val="3600"/>
                </a:lnSpc>
              </a:pPr>
              <a:r>
                <a:rPr lang="en-US" sz="3000" b="true">
                  <a:solidFill>
                    <a:srgbClr val="FFFFFF"/>
                  </a:solidFill>
                  <a:latin typeface="Cambria Bold"/>
                  <a:ea typeface="Cambria Bold"/>
                  <a:cs typeface="Cambria Bold"/>
                  <a:sym typeface="Cambria Bold"/>
                </a:rPr>
                <a:t>1</a:t>
              </a:r>
            </a:p>
          </p:txBody>
        </p:sp>
      </p:grpSp>
      <p:grpSp>
        <p:nvGrpSpPr>
          <p:cNvPr name="Group 14" id="14"/>
          <p:cNvGrpSpPr/>
          <p:nvPr/>
        </p:nvGrpSpPr>
        <p:grpSpPr>
          <a:xfrm rot="0">
            <a:off x="1234440" y="4526280"/>
            <a:ext cx="3223260" cy="1651797"/>
            <a:chOff x="0" y="0"/>
            <a:chExt cx="4297680" cy="2202396"/>
          </a:xfrm>
        </p:grpSpPr>
        <p:sp>
          <p:nvSpPr>
            <p:cNvPr name="Freeform 15" id="15"/>
            <p:cNvSpPr/>
            <p:nvPr/>
          </p:nvSpPr>
          <p:spPr>
            <a:xfrm flipH="false" flipV="false" rot="0">
              <a:off x="0" y="0"/>
              <a:ext cx="4297680" cy="2202396"/>
            </a:xfrm>
            <a:custGeom>
              <a:avLst/>
              <a:gdLst/>
              <a:ahLst/>
              <a:cxnLst/>
              <a:rect r="r" b="b" t="t" l="l"/>
              <a:pathLst>
                <a:path h="2202396" w="4297680">
                  <a:moveTo>
                    <a:pt x="0" y="0"/>
                  </a:moveTo>
                  <a:lnTo>
                    <a:pt x="4297680" y="0"/>
                  </a:lnTo>
                  <a:lnTo>
                    <a:pt x="4297680" y="2202396"/>
                  </a:lnTo>
                  <a:lnTo>
                    <a:pt x="0" y="2202396"/>
                  </a:lnTo>
                  <a:close/>
                </a:path>
              </a:pathLst>
            </a:custGeom>
            <a:blipFill>
              <a:blip r:embed="rId2">
                <a:alphaModFix amt="0"/>
              </a:blip>
              <a:stretch>
                <a:fillRect l="0" t="-15187" r="0" b="39142"/>
              </a:stretch>
            </a:blipFill>
          </p:spPr>
        </p:sp>
        <p:sp>
          <p:nvSpPr>
            <p:cNvPr name="TextBox 16" id="16"/>
            <p:cNvSpPr txBox="true"/>
            <p:nvPr/>
          </p:nvSpPr>
          <p:spPr>
            <a:xfrm>
              <a:off x="0" y="-19050"/>
              <a:ext cx="4297680" cy="2221446"/>
            </a:xfrm>
            <a:prstGeom prst="rect">
              <a:avLst/>
            </a:prstGeom>
          </p:spPr>
          <p:txBody>
            <a:bodyPr anchor="ctr" rtlCol="false" tIns="0" lIns="0" bIns="0" rIns="0"/>
            <a:lstStyle/>
            <a:p>
              <a:pPr algn="ctr">
                <a:lnSpc>
                  <a:spcPts val="2700"/>
                </a:lnSpc>
              </a:pPr>
              <a:r>
                <a:rPr lang="en-US" sz="2250" b="true">
                  <a:solidFill>
                    <a:srgbClr val="FFFFFF"/>
                  </a:solidFill>
                  <a:latin typeface="Cambria Bold"/>
                  <a:ea typeface="Cambria Bold"/>
                  <a:cs typeface="Cambria Bold"/>
                  <a:sym typeface="Cambria Bold"/>
                </a:rPr>
                <a:t>Context recall</a:t>
              </a:r>
            </a:p>
          </p:txBody>
        </p:sp>
      </p:grpSp>
      <p:grpSp>
        <p:nvGrpSpPr>
          <p:cNvPr name="Group 17" id="17"/>
          <p:cNvGrpSpPr/>
          <p:nvPr/>
        </p:nvGrpSpPr>
        <p:grpSpPr>
          <a:xfrm rot="0">
            <a:off x="1303020" y="5349240"/>
            <a:ext cx="3086100" cy="2606040"/>
            <a:chOff x="0" y="0"/>
            <a:chExt cx="4114800" cy="3474720"/>
          </a:xfrm>
        </p:grpSpPr>
        <p:sp>
          <p:nvSpPr>
            <p:cNvPr name="Freeform 18" id="18"/>
            <p:cNvSpPr/>
            <p:nvPr/>
          </p:nvSpPr>
          <p:spPr>
            <a:xfrm flipH="false" flipV="false" rot="0">
              <a:off x="0" y="0"/>
              <a:ext cx="4114800" cy="3474720"/>
            </a:xfrm>
            <a:custGeom>
              <a:avLst/>
              <a:gdLst/>
              <a:ahLst/>
              <a:cxnLst/>
              <a:rect r="r" b="b" t="t" l="l"/>
              <a:pathLst>
                <a:path h="3474720" w="4114800">
                  <a:moveTo>
                    <a:pt x="0" y="0"/>
                  </a:moveTo>
                  <a:lnTo>
                    <a:pt x="4114800" y="0"/>
                  </a:lnTo>
                  <a:lnTo>
                    <a:pt x="4114800" y="3474720"/>
                  </a:lnTo>
                  <a:lnTo>
                    <a:pt x="0" y="3474720"/>
                  </a:lnTo>
                  <a:close/>
                </a:path>
              </a:pathLst>
            </a:custGeom>
            <a:blipFill>
              <a:blip r:embed="rId2">
                <a:alphaModFix amt="0"/>
              </a:blip>
              <a:stretch>
                <a:fillRect l="-58345" t="0" r="-58345" b="0"/>
              </a:stretch>
            </a:blipFill>
          </p:spPr>
        </p:sp>
        <p:sp>
          <p:nvSpPr>
            <p:cNvPr name="TextBox 19" id="19"/>
            <p:cNvSpPr txBox="true"/>
            <p:nvPr/>
          </p:nvSpPr>
          <p:spPr>
            <a:xfrm>
              <a:off x="0" y="-57150"/>
              <a:ext cx="4114800" cy="3531870"/>
            </a:xfrm>
            <a:prstGeom prst="rect">
              <a:avLst/>
            </a:prstGeom>
          </p:spPr>
          <p:txBody>
            <a:bodyPr anchor="ctr" rtlCol="false" tIns="0" lIns="0" bIns="0" rIns="0"/>
            <a:lstStyle/>
            <a:p>
              <a:pPr algn="ctr">
                <a:lnSpc>
                  <a:spcPts val="2250"/>
                </a:lnSpc>
              </a:pPr>
              <a:r>
                <a:rPr lang="en-US" sz="1725">
                  <a:solidFill>
                    <a:srgbClr val="D6DCF5"/>
                  </a:solidFill>
                  <a:latin typeface="Calibri (MS)"/>
                  <a:ea typeface="Calibri (MS)"/>
                  <a:cs typeface="Calibri (MS)"/>
                  <a:sym typeface="Calibri (MS)"/>
                </a:rPr>
                <a:t>Determines if all necessary pieces of information were successfully retrieved by the system</a:t>
              </a:r>
            </a:p>
          </p:txBody>
        </p:sp>
      </p:grpSp>
      <p:grpSp>
        <p:nvGrpSpPr>
          <p:cNvPr name="Group 20" id="20"/>
          <p:cNvGrpSpPr/>
          <p:nvPr/>
        </p:nvGrpSpPr>
        <p:grpSpPr>
          <a:xfrm rot="0">
            <a:off x="4663440" y="5417820"/>
            <a:ext cx="438912" cy="548640"/>
            <a:chOff x="0" y="0"/>
            <a:chExt cx="585216" cy="731520"/>
          </a:xfrm>
        </p:grpSpPr>
        <p:sp>
          <p:nvSpPr>
            <p:cNvPr name="Freeform 21" id="21"/>
            <p:cNvSpPr/>
            <p:nvPr/>
          </p:nvSpPr>
          <p:spPr>
            <a:xfrm flipH="false" flipV="false" rot="0">
              <a:off x="0" y="0"/>
              <a:ext cx="585216" cy="731520"/>
            </a:xfrm>
            <a:custGeom>
              <a:avLst/>
              <a:gdLst/>
              <a:ahLst/>
              <a:cxnLst/>
              <a:rect r="r" b="b" t="t" l="l"/>
              <a:pathLst>
                <a:path h="731520" w="585216">
                  <a:moveTo>
                    <a:pt x="0" y="0"/>
                  </a:moveTo>
                  <a:lnTo>
                    <a:pt x="585216" y="0"/>
                  </a:lnTo>
                  <a:lnTo>
                    <a:pt x="585216" y="731520"/>
                  </a:lnTo>
                  <a:lnTo>
                    <a:pt x="0" y="731520"/>
                  </a:lnTo>
                  <a:close/>
                </a:path>
              </a:pathLst>
            </a:custGeom>
            <a:blipFill>
              <a:blip r:embed="rId2">
                <a:alphaModFix amt="0"/>
              </a:blip>
              <a:stretch>
                <a:fillRect l="-110379" t="0" r="-110379" b="0"/>
              </a:stretch>
            </a:blipFill>
          </p:spPr>
        </p:sp>
        <p:sp>
          <p:nvSpPr>
            <p:cNvPr name="TextBox 22" id="22"/>
            <p:cNvSpPr txBox="true"/>
            <p:nvPr/>
          </p:nvSpPr>
          <p:spPr>
            <a:xfrm>
              <a:off x="0" y="-57150"/>
              <a:ext cx="585216" cy="788670"/>
            </a:xfrm>
            <a:prstGeom prst="rect">
              <a:avLst/>
            </a:prstGeom>
          </p:spPr>
          <p:txBody>
            <a:bodyPr anchor="ctr" rtlCol="false" tIns="0" lIns="0" bIns="0" rIns="0"/>
            <a:lstStyle/>
            <a:p>
              <a:pPr algn="ctr">
                <a:lnSpc>
                  <a:spcPts val="3240"/>
                </a:lnSpc>
              </a:pPr>
              <a:r>
                <a:rPr lang="en-US" sz="2700" b="true">
                  <a:solidFill>
                    <a:srgbClr val="E8664F"/>
                  </a:solidFill>
                  <a:latin typeface="Calibri (MS) Bold"/>
                  <a:ea typeface="Calibri (MS) Bold"/>
                  <a:cs typeface="Calibri (MS) Bold"/>
                  <a:sym typeface="Calibri (MS) Bold"/>
                </a:rPr>
                <a:t>→</a:t>
              </a:r>
            </a:p>
          </p:txBody>
        </p:sp>
      </p:grpSp>
      <p:grpSp>
        <p:nvGrpSpPr>
          <p:cNvPr name="Group 23" id="23"/>
          <p:cNvGrpSpPr/>
          <p:nvPr/>
        </p:nvGrpSpPr>
        <p:grpSpPr>
          <a:xfrm rot="0">
            <a:off x="5033772" y="2948940"/>
            <a:ext cx="3771900" cy="5349240"/>
            <a:chOff x="0" y="0"/>
            <a:chExt cx="5029200" cy="7132320"/>
          </a:xfrm>
        </p:grpSpPr>
        <p:sp>
          <p:nvSpPr>
            <p:cNvPr name="Freeform 24" id="24"/>
            <p:cNvSpPr/>
            <p:nvPr/>
          </p:nvSpPr>
          <p:spPr>
            <a:xfrm flipH="false" flipV="false" rot="0">
              <a:off x="0" y="0"/>
              <a:ext cx="5029200" cy="7132320"/>
            </a:xfrm>
            <a:custGeom>
              <a:avLst/>
              <a:gdLst/>
              <a:ahLst/>
              <a:cxnLst/>
              <a:rect r="r" b="b" t="t" l="l"/>
              <a:pathLst>
                <a:path h="7132320" w="5029200">
                  <a:moveTo>
                    <a:pt x="0" y="182880"/>
                  </a:moveTo>
                  <a:cubicBezTo>
                    <a:pt x="0" y="81915"/>
                    <a:pt x="81915" y="0"/>
                    <a:pt x="182880" y="0"/>
                  </a:cubicBezTo>
                  <a:lnTo>
                    <a:pt x="4846320" y="0"/>
                  </a:lnTo>
                  <a:cubicBezTo>
                    <a:pt x="4947285" y="0"/>
                    <a:pt x="5029200" y="81915"/>
                    <a:pt x="5029200" y="182880"/>
                  </a:cubicBezTo>
                  <a:lnTo>
                    <a:pt x="5029200" y="6949440"/>
                  </a:lnTo>
                  <a:cubicBezTo>
                    <a:pt x="5029200" y="7050405"/>
                    <a:pt x="4947285" y="7132320"/>
                    <a:pt x="4846320" y="7132320"/>
                  </a:cubicBezTo>
                  <a:lnTo>
                    <a:pt x="182880" y="7132320"/>
                  </a:lnTo>
                  <a:cubicBezTo>
                    <a:pt x="81915" y="7132320"/>
                    <a:pt x="0" y="7050405"/>
                    <a:pt x="0" y="6949440"/>
                  </a:cubicBezTo>
                  <a:close/>
                </a:path>
              </a:pathLst>
            </a:custGeom>
            <a:solidFill>
              <a:srgbClr val="263172"/>
            </a:solidFill>
          </p:spPr>
        </p:sp>
      </p:grpSp>
      <p:grpSp>
        <p:nvGrpSpPr>
          <p:cNvPr name="Group 25" id="25"/>
          <p:cNvGrpSpPr/>
          <p:nvPr/>
        </p:nvGrpSpPr>
        <p:grpSpPr>
          <a:xfrm rot="0">
            <a:off x="6508242" y="3360420"/>
            <a:ext cx="822960" cy="822960"/>
            <a:chOff x="0" y="0"/>
            <a:chExt cx="1097280" cy="1097280"/>
          </a:xfrm>
        </p:grpSpPr>
        <p:sp>
          <p:nvSpPr>
            <p:cNvPr name="Freeform 26" id="26"/>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E8664F"/>
            </a:solidFill>
          </p:spPr>
        </p:sp>
      </p:grpSp>
      <p:grpSp>
        <p:nvGrpSpPr>
          <p:cNvPr name="Group 27" id="27"/>
          <p:cNvGrpSpPr/>
          <p:nvPr/>
        </p:nvGrpSpPr>
        <p:grpSpPr>
          <a:xfrm rot="0">
            <a:off x="6508242" y="3360420"/>
            <a:ext cx="822960" cy="822960"/>
            <a:chOff x="0" y="0"/>
            <a:chExt cx="1097280" cy="1097280"/>
          </a:xfrm>
        </p:grpSpPr>
        <p:sp>
          <p:nvSpPr>
            <p:cNvPr name="Freeform 28" id="28"/>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2">
                <a:alphaModFix amt="0"/>
              </a:blip>
              <a:stretch>
                <a:fillRect l="-78303" t="0" r="-78303" b="0"/>
              </a:stretch>
            </a:blipFill>
          </p:spPr>
        </p:sp>
        <p:sp>
          <p:nvSpPr>
            <p:cNvPr name="TextBox 29" id="29"/>
            <p:cNvSpPr txBox="true"/>
            <p:nvPr/>
          </p:nvSpPr>
          <p:spPr>
            <a:xfrm>
              <a:off x="0" y="-19050"/>
              <a:ext cx="1097280" cy="1116330"/>
            </a:xfrm>
            <a:prstGeom prst="rect">
              <a:avLst/>
            </a:prstGeom>
          </p:spPr>
          <p:txBody>
            <a:bodyPr anchor="ctr" rtlCol="false" tIns="0" lIns="0" bIns="0" rIns="0"/>
            <a:lstStyle/>
            <a:p>
              <a:pPr algn="ctr">
                <a:lnSpc>
                  <a:spcPts val="3600"/>
                </a:lnSpc>
              </a:pPr>
              <a:r>
                <a:rPr lang="en-US" sz="3000" b="true">
                  <a:solidFill>
                    <a:srgbClr val="FFFFFF"/>
                  </a:solidFill>
                  <a:latin typeface="Cambria Bold"/>
                  <a:ea typeface="Cambria Bold"/>
                  <a:cs typeface="Cambria Bold"/>
                  <a:sym typeface="Cambria Bold"/>
                </a:rPr>
                <a:t>2</a:t>
              </a:r>
            </a:p>
          </p:txBody>
        </p:sp>
      </p:grpSp>
      <p:grpSp>
        <p:nvGrpSpPr>
          <p:cNvPr name="Group 30" id="30"/>
          <p:cNvGrpSpPr/>
          <p:nvPr/>
        </p:nvGrpSpPr>
        <p:grpSpPr>
          <a:xfrm rot="0">
            <a:off x="5308092" y="4526280"/>
            <a:ext cx="3223260" cy="1651797"/>
            <a:chOff x="0" y="0"/>
            <a:chExt cx="4297680" cy="2202396"/>
          </a:xfrm>
        </p:grpSpPr>
        <p:sp>
          <p:nvSpPr>
            <p:cNvPr name="Freeform 31" id="31"/>
            <p:cNvSpPr/>
            <p:nvPr/>
          </p:nvSpPr>
          <p:spPr>
            <a:xfrm flipH="false" flipV="false" rot="0">
              <a:off x="0" y="0"/>
              <a:ext cx="4297680" cy="2202396"/>
            </a:xfrm>
            <a:custGeom>
              <a:avLst/>
              <a:gdLst/>
              <a:ahLst/>
              <a:cxnLst/>
              <a:rect r="r" b="b" t="t" l="l"/>
              <a:pathLst>
                <a:path h="2202396" w="4297680">
                  <a:moveTo>
                    <a:pt x="0" y="0"/>
                  </a:moveTo>
                  <a:lnTo>
                    <a:pt x="4297680" y="0"/>
                  </a:lnTo>
                  <a:lnTo>
                    <a:pt x="4297680" y="2202396"/>
                  </a:lnTo>
                  <a:lnTo>
                    <a:pt x="0" y="2202396"/>
                  </a:lnTo>
                  <a:close/>
                </a:path>
              </a:pathLst>
            </a:custGeom>
            <a:blipFill>
              <a:blip r:embed="rId2">
                <a:alphaModFix amt="0"/>
              </a:blip>
              <a:stretch>
                <a:fillRect l="0" t="-15187" r="0" b="39142"/>
              </a:stretch>
            </a:blipFill>
          </p:spPr>
        </p:sp>
        <p:sp>
          <p:nvSpPr>
            <p:cNvPr name="TextBox 32" id="32"/>
            <p:cNvSpPr txBox="true"/>
            <p:nvPr/>
          </p:nvSpPr>
          <p:spPr>
            <a:xfrm>
              <a:off x="0" y="-19050"/>
              <a:ext cx="4297680" cy="2221446"/>
            </a:xfrm>
            <a:prstGeom prst="rect">
              <a:avLst/>
            </a:prstGeom>
          </p:spPr>
          <p:txBody>
            <a:bodyPr anchor="ctr" rtlCol="false" tIns="0" lIns="0" bIns="0" rIns="0"/>
            <a:lstStyle/>
            <a:p>
              <a:pPr algn="ctr">
                <a:lnSpc>
                  <a:spcPts val="2700"/>
                </a:lnSpc>
              </a:pPr>
              <a:r>
                <a:rPr lang="en-US" sz="2250" b="true">
                  <a:solidFill>
                    <a:srgbClr val="FFFFFF"/>
                  </a:solidFill>
                  <a:latin typeface="Cambria Bold"/>
                  <a:ea typeface="Cambria Bold"/>
                  <a:cs typeface="Cambria Bold"/>
                  <a:sym typeface="Cambria Bold"/>
                </a:rPr>
                <a:t>Context relavance</a:t>
              </a:r>
            </a:p>
          </p:txBody>
        </p:sp>
      </p:grpSp>
      <p:grpSp>
        <p:nvGrpSpPr>
          <p:cNvPr name="Group 33" id="33"/>
          <p:cNvGrpSpPr/>
          <p:nvPr/>
        </p:nvGrpSpPr>
        <p:grpSpPr>
          <a:xfrm rot="0">
            <a:off x="5376672" y="5349240"/>
            <a:ext cx="3086100" cy="2606040"/>
            <a:chOff x="0" y="0"/>
            <a:chExt cx="4114800" cy="3474720"/>
          </a:xfrm>
        </p:grpSpPr>
        <p:sp>
          <p:nvSpPr>
            <p:cNvPr name="Freeform 34" id="34"/>
            <p:cNvSpPr/>
            <p:nvPr/>
          </p:nvSpPr>
          <p:spPr>
            <a:xfrm flipH="false" flipV="false" rot="0">
              <a:off x="0" y="0"/>
              <a:ext cx="4114800" cy="3474720"/>
            </a:xfrm>
            <a:custGeom>
              <a:avLst/>
              <a:gdLst/>
              <a:ahLst/>
              <a:cxnLst/>
              <a:rect r="r" b="b" t="t" l="l"/>
              <a:pathLst>
                <a:path h="3474720" w="4114800">
                  <a:moveTo>
                    <a:pt x="0" y="0"/>
                  </a:moveTo>
                  <a:lnTo>
                    <a:pt x="4114800" y="0"/>
                  </a:lnTo>
                  <a:lnTo>
                    <a:pt x="4114800" y="3474720"/>
                  </a:lnTo>
                  <a:lnTo>
                    <a:pt x="0" y="3474720"/>
                  </a:lnTo>
                  <a:close/>
                </a:path>
              </a:pathLst>
            </a:custGeom>
            <a:blipFill>
              <a:blip r:embed="rId2">
                <a:alphaModFix amt="0"/>
              </a:blip>
              <a:stretch>
                <a:fillRect l="-58345" t="0" r="-58345" b="0"/>
              </a:stretch>
            </a:blipFill>
          </p:spPr>
        </p:sp>
        <p:sp>
          <p:nvSpPr>
            <p:cNvPr name="TextBox 35" id="35"/>
            <p:cNvSpPr txBox="true"/>
            <p:nvPr/>
          </p:nvSpPr>
          <p:spPr>
            <a:xfrm>
              <a:off x="0" y="-57150"/>
              <a:ext cx="4114800" cy="3531870"/>
            </a:xfrm>
            <a:prstGeom prst="rect">
              <a:avLst/>
            </a:prstGeom>
          </p:spPr>
          <p:txBody>
            <a:bodyPr anchor="ctr" rtlCol="false" tIns="0" lIns="0" bIns="0" rIns="0"/>
            <a:lstStyle/>
            <a:p>
              <a:pPr algn="ctr">
                <a:lnSpc>
                  <a:spcPts val="2250"/>
                </a:lnSpc>
              </a:pPr>
              <a:r>
                <a:rPr lang="en-US" sz="1725">
                  <a:solidFill>
                    <a:srgbClr val="D6DCF5"/>
                  </a:solidFill>
                  <a:latin typeface="Calibri (MS)"/>
                  <a:ea typeface="Calibri (MS)"/>
                  <a:cs typeface="Calibri (MS)"/>
                  <a:sym typeface="Calibri (MS)"/>
                </a:rPr>
                <a:t> Assesses whether the retrieved chunks contain relevant information with minimal noise.</a:t>
              </a:r>
            </a:p>
          </p:txBody>
        </p:sp>
      </p:grpSp>
      <p:grpSp>
        <p:nvGrpSpPr>
          <p:cNvPr name="Group 36" id="36"/>
          <p:cNvGrpSpPr/>
          <p:nvPr/>
        </p:nvGrpSpPr>
        <p:grpSpPr>
          <a:xfrm rot="0">
            <a:off x="8737092" y="5417820"/>
            <a:ext cx="438912" cy="548640"/>
            <a:chOff x="0" y="0"/>
            <a:chExt cx="585216" cy="731520"/>
          </a:xfrm>
        </p:grpSpPr>
        <p:sp>
          <p:nvSpPr>
            <p:cNvPr name="Freeform 37" id="37"/>
            <p:cNvSpPr/>
            <p:nvPr/>
          </p:nvSpPr>
          <p:spPr>
            <a:xfrm flipH="false" flipV="false" rot="0">
              <a:off x="0" y="0"/>
              <a:ext cx="585216" cy="731520"/>
            </a:xfrm>
            <a:custGeom>
              <a:avLst/>
              <a:gdLst/>
              <a:ahLst/>
              <a:cxnLst/>
              <a:rect r="r" b="b" t="t" l="l"/>
              <a:pathLst>
                <a:path h="731520" w="585216">
                  <a:moveTo>
                    <a:pt x="0" y="0"/>
                  </a:moveTo>
                  <a:lnTo>
                    <a:pt x="585216" y="0"/>
                  </a:lnTo>
                  <a:lnTo>
                    <a:pt x="585216" y="731520"/>
                  </a:lnTo>
                  <a:lnTo>
                    <a:pt x="0" y="731520"/>
                  </a:lnTo>
                  <a:close/>
                </a:path>
              </a:pathLst>
            </a:custGeom>
            <a:blipFill>
              <a:blip r:embed="rId2">
                <a:alphaModFix amt="0"/>
              </a:blip>
              <a:stretch>
                <a:fillRect l="-110379" t="0" r="-110379" b="0"/>
              </a:stretch>
            </a:blipFill>
          </p:spPr>
        </p:sp>
        <p:sp>
          <p:nvSpPr>
            <p:cNvPr name="TextBox 38" id="38"/>
            <p:cNvSpPr txBox="true"/>
            <p:nvPr/>
          </p:nvSpPr>
          <p:spPr>
            <a:xfrm>
              <a:off x="0" y="-57150"/>
              <a:ext cx="585216" cy="788670"/>
            </a:xfrm>
            <a:prstGeom prst="rect">
              <a:avLst/>
            </a:prstGeom>
          </p:spPr>
          <p:txBody>
            <a:bodyPr anchor="ctr" rtlCol="false" tIns="0" lIns="0" bIns="0" rIns="0"/>
            <a:lstStyle/>
            <a:p>
              <a:pPr algn="ctr">
                <a:lnSpc>
                  <a:spcPts val="3240"/>
                </a:lnSpc>
              </a:pPr>
              <a:r>
                <a:rPr lang="en-US" sz="2700" b="true">
                  <a:solidFill>
                    <a:srgbClr val="E8664F"/>
                  </a:solidFill>
                  <a:latin typeface="Calibri (MS) Bold"/>
                  <a:ea typeface="Calibri (MS) Bold"/>
                  <a:cs typeface="Calibri (MS) Bold"/>
                  <a:sym typeface="Calibri (MS) Bold"/>
                </a:rPr>
                <a:t>→</a:t>
              </a:r>
            </a:p>
          </p:txBody>
        </p:sp>
      </p:grpSp>
      <p:grpSp>
        <p:nvGrpSpPr>
          <p:cNvPr name="Group 39" id="39"/>
          <p:cNvGrpSpPr/>
          <p:nvPr/>
        </p:nvGrpSpPr>
        <p:grpSpPr>
          <a:xfrm rot="0">
            <a:off x="9107424" y="2948940"/>
            <a:ext cx="3771900" cy="5349240"/>
            <a:chOff x="0" y="0"/>
            <a:chExt cx="5029200" cy="7132320"/>
          </a:xfrm>
        </p:grpSpPr>
        <p:sp>
          <p:nvSpPr>
            <p:cNvPr name="Freeform 40" id="40"/>
            <p:cNvSpPr/>
            <p:nvPr/>
          </p:nvSpPr>
          <p:spPr>
            <a:xfrm flipH="false" flipV="false" rot="0">
              <a:off x="0" y="0"/>
              <a:ext cx="5029200" cy="7132320"/>
            </a:xfrm>
            <a:custGeom>
              <a:avLst/>
              <a:gdLst/>
              <a:ahLst/>
              <a:cxnLst/>
              <a:rect r="r" b="b" t="t" l="l"/>
              <a:pathLst>
                <a:path h="7132320" w="5029200">
                  <a:moveTo>
                    <a:pt x="0" y="182880"/>
                  </a:moveTo>
                  <a:cubicBezTo>
                    <a:pt x="0" y="81915"/>
                    <a:pt x="81915" y="0"/>
                    <a:pt x="182880" y="0"/>
                  </a:cubicBezTo>
                  <a:lnTo>
                    <a:pt x="4846320" y="0"/>
                  </a:lnTo>
                  <a:cubicBezTo>
                    <a:pt x="4947285" y="0"/>
                    <a:pt x="5029200" y="81915"/>
                    <a:pt x="5029200" y="182880"/>
                  </a:cubicBezTo>
                  <a:lnTo>
                    <a:pt x="5029200" y="6949440"/>
                  </a:lnTo>
                  <a:cubicBezTo>
                    <a:pt x="5029200" y="7050405"/>
                    <a:pt x="4947285" y="7132320"/>
                    <a:pt x="4846320" y="7132320"/>
                  </a:cubicBezTo>
                  <a:lnTo>
                    <a:pt x="182880" y="7132320"/>
                  </a:lnTo>
                  <a:cubicBezTo>
                    <a:pt x="81915" y="7132320"/>
                    <a:pt x="0" y="7050405"/>
                    <a:pt x="0" y="6949440"/>
                  </a:cubicBezTo>
                  <a:close/>
                </a:path>
              </a:pathLst>
            </a:custGeom>
            <a:solidFill>
              <a:srgbClr val="263172"/>
            </a:solidFill>
          </p:spPr>
        </p:sp>
      </p:grpSp>
      <p:grpSp>
        <p:nvGrpSpPr>
          <p:cNvPr name="Group 41" id="41"/>
          <p:cNvGrpSpPr/>
          <p:nvPr/>
        </p:nvGrpSpPr>
        <p:grpSpPr>
          <a:xfrm rot="0">
            <a:off x="10581894" y="3360420"/>
            <a:ext cx="822960" cy="822960"/>
            <a:chOff x="0" y="0"/>
            <a:chExt cx="1097280" cy="1097280"/>
          </a:xfrm>
        </p:grpSpPr>
        <p:sp>
          <p:nvSpPr>
            <p:cNvPr name="Freeform 42" id="42"/>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E8664F"/>
            </a:solidFill>
          </p:spPr>
        </p:sp>
      </p:grpSp>
      <p:grpSp>
        <p:nvGrpSpPr>
          <p:cNvPr name="Group 43" id="43"/>
          <p:cNvGrpSpPr/>
          <p:nvPr/>
        </p:nvGrpSpPr>
        <p:grpSpPr>
          <a:xfrm rot="0">
            <a:off x="10581894" y="3360420"/>
            <a:ext cx="822960" cy="822960"/>
            <a:chOff x="0" y="0"/>
            <a:chExt cx="1097280" cy="1097280"/>
          </a:xfrm>
        </p:grpSpPr>
        <p:sp>
          <p:nvSpPr>
            <p:cNvPr name="Freeform 44" id="44"/>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2">
                <a:alphaModFix amt="0"/>
              </a:blip>
              <a:stretch>
                <a:fillRect l="-78303" t="0" r="-78303" b="0"/>
              </a:stretch>
            </a:blipFill>
          </p:spPr>
        </p:sp>
        <p:sp>
          <p:nvSpPr>
            <p:cNvPr name="TextBox 45" id="45"/>
            <p:cNvSpPr txBox="true"/>
            <p:nvPr/>
          </p:nvSpPr>
          <p:spPr>
            <a:xfrm>
              <a:off x="0" y="-19050"/>
              <a:ext cx="1097280" cy="1116330"/>
            </a:xfrm>
            <a:prstGeom prst="rect">
              <a:avLst/>
            </a:prstGeom>
          </p:spPr>
          <p:txBody>
            <a:bodyPr anchor="ctr" rtlCol="false" tIns="0" lIns="0" bIns="0" rIns="0"/>
            <a:lstStyle/>
            <a:p>
              <a:pPr algn="ctr">
                <a:lnSpc>
                  <a:spcPts val="3600"/>
                </a:lnSpc>
              </a:pPr>
              <a:r>
                <a:rPr lang="en-US" sz="3000" b="true">
                  <a:solidFill>
                    <a:srgbClr val="FFFFFF"/>
                  </a:solidFill>
                  <a:latin typeface="Cambria Bold"/>
                  <a:ea typeface="Cambria Bold"/>
                  <a:cs typeface="Cambria Bold"/>
                  <a:sym typeface="Cambria Bold"/>
                </a:rPr>
                <a:t>3</a:t>
              </a:r>
            </a:p>
          </p:txBody>
        </p:sp>
      </p:grpSp>
      <p:grpSp>
        <p:nvGrpSpPr>
          <p:cNvPr name="Group 46" id="46"/>
          <p:cNvGrpSpPr/>
          <p:nvPr/>
        </p:nvGrpSpPr>
        <p:grpSpPr>
          <a:xfrm rot="0">
            <a:off x="9381744" y="4526280"/>
            <a:ext cx="3223260" cy="1651797"/>
            <a:chOff x="0" y="0"/>
            <a:chExt cx="4297680" cy="2202396"/>
          </a:xfrm>
        </p:grpSpPr>
        <p:sp>
          <p:nvSpPr>
            <p:cNvPr name="Freeform 47" id="47"/>
            <p:cNvSpPr/>
            <p:nvPr/>
          </p:nvSpPr>
          <p:spPr>
            <a:xfrm flipH="false" flipV="false" rot="0">
              <a:off x="0" y="0"/>
              <a:ext cx="4297680" cy="2202396"/>
            </a:xfrm>
            <a:custGeom>
              <a:avLst/>
              <a:gdLst/>
              <a:ahLst/>
              <a:cxnLst/>
              <a:rect r="r" b="b" t="t" l="l"/>
              <a:pathLst>
                <a:path h="2202396" w="4297680">
                  <a:moveTo>
                    <a:pt x="0" y="0"/>
                  </a:moveTo>
                  <a:lnTo>
                    <a:pt x="4297680" y="0"/>
                  </a:lnTo>
                  <a:lnTo>
                    <a:pt x="4297680" y="2202396"/>
                  </a:lnTo>
                  <a:lnTo>
                    <a:pt x="0" y="2202396"/>
                  </a:lnTo>
                  <a:close/>
                </a:path>
              </a:pathLst>
            </a:custGeom>
            <a:blipFill>
              <a:blip r:embed="rId2">
                <a:alphaModFix amt="0"/>
              </a:blip>
              <a:stretch>
                <a:fillRect l="0" t="-15187" r="0" b="39142"/>
              </a:stretch>
            </a:blipFill>
          </p:spPr>
        </p:sp>
        <p:sp>
          <p:nvSpPr>
            <p:cNvPr name="TextBox 48" id="48"/>
            <p:cNvSpPr txBox="true"/>
            <p:nvPr/>
          </p:nvSpPr>
          <p:spPr>
            <a:xfrm>
              <a:off x="0" y="-19050"/>
              <a:ext cx="4297680" cy="2221446"/>
            </a:xfrm>
            <a:prstGeom prst="rect">
              <a:avLst/>
            </a:prstGeom>
          </p:spPr>
          <p:txBody>
            <a:bodyPr anchor="ctr" rtlCol="false" tIns="0" lIns="0" bIns="0" rIns="0"/>
            <a:lstStyle/>
            <a:p>
              <a:pPr algn="ctr">
                <a:lnSpc>
                  <a:spcPts val="2700"/>
                </a:lnSpc>
              </a:pPr>
              <a:r>
                <a:rPr lang="en-US" sz="2250" b="true">
                  <a:solidFill>
                    <a:srgbClr val="FFFFFF"/>
                  </a:solidFill>
                  <a:latin typeface="Cambria Bold"/>
                  <a:ea typeface="Cambria Bold"/>
                  <a:cs typeface="Cambria Bold"/>
                  <a:sym typeface="Cambria Bold"/>
                </a:rPr>
                <a:t>answer relevance</a:t>
              </a:r>
            </a:p>
          </p:txBody>
        </p:sp>
      </p:grpSp>
      <p:grpSp>
        <p:nvGrpSpPr>
          <p:cNvPr name="Group 49" id="49"/>
          <p:cNvGrpSpPr/>
          <p:nvPr/>
        </p:nvGrpSpPr>
        <p:grpSpPr>
          <a:xfrm rot="0">
            <a:off x="9450324" y="5349240"/>
            <a:ext cx="3086100" cy="2606040"/>
            <a:chOff x="0" y="0"/>
            <a:chExt cx="4114800" cy="3474720"/>
          </a:xfrm>
        </p:grpSpPr>
        <p:sp>
          <p:nvSpPr>
            <p:cNvPr name="Freeform 50" id="50"/>
            <p:cNvSpPr/>
            <p:nvPr/>
          </p:nvSpPr>
          <p:spPr>
            <a:xfrm flipH="false" flipV="false" rot="0">
              <a:off x="0" y="0"/>
              <a:ext cx="4114800" cy="3474720"/>
            </a:xfrm>
            <a:custGeom>
              <a:avLst/>
              <a:gdLst/>
              <a:ahLst/>
              <a:cxnLst/>
              <a:rect r="r" b="b" t="t" l="l"/>
              <a:pathLst>
                <a:path h="3474720" w="4114800">
                  <a:moveTo>
                    <a:pt x="0" y="0"/>
                  </a:moveTo>
                  <a:lnTo>
                    <a:pt x="4114800" y="0"/>
                  </a:lnTo>
                  <a:lnTo>
                    <a:pt x="4114800" y="3474720"/>
                  </a:lnTo>
                  <a:lnTo>
                    <a:pt x="0" y="3474720"/>
                  </a:lnTo>
                  <a:close/>
                </a:path>
              </a:pathLst>
            </a:custGeom>
            <a:blipFill>
              <a:blip r:embed="rId2">
                <a:alphaModFix amt="0"/>
              </a:blip>
              <a:stretch>
                <a:fillRect l="-58345" t="0" r="-58345" b="0"/>
              </a:stretch>
            </a:blipFill>
          </p:spPr>
        </p:sp>
        <p:sp>
          <p:nvSpPr>
            <p:cNvPr name="TextBox 51" id="51"/>
            <p:cNvSpPr txBox="true"/>
            <p:nvPr/>
          </p:nvSpPr>
          <p:spPr>
            <a:xfrm>
              <a:off x="0" y="-57150"/>
              <a:ext cx="4114800" cy="3531870"/>
            </a:xfrm>
            <a:prstGeom prst="rect">
              <a:avLst/>
            </a:prstGeom>
          </p:spPr>
          <p:txBody>
            <a:bodyPr anchor="ctr" rtlCol="false" tIns="0" lIns="0" bIns="0" rIns="0"/>
            <a:lstStyle/>
            <a:p>
              <a:pPr algn="ctr">
                <a:lnSpc>
                  <a:spcPts val="2250"/>
                </a:lnSpc>
              </a:pPr>
              <a:r>
                <a:rPr lang="en-US" sz="1725">
                  <a:solidFill>
                    <a:srgbClr val="D6DCF5"/>
                  </a:solidFill>
                  <a:latin typeface="Calibri (MS)"/>
                  <a:ea typeface="Calibri (MS)"/>
                  <a:cs typeface="Calibri (MS)"/>
                  <a:sym typeface="Calibri (MS)"/>
                </a:rPr>
                <a:t>Measures how directly the final answer addresses the user's initial query.</a:t>
              </a:r>
            </a:p>
          </p:txBody>
        </p:sp>
      </p:grpSp>
      <p:grpSp>
        <p:nvGrpSpPr>
          <p:cNvPr name="Group 52" id="52"/>
          <p:cNvGrpSpPr/>
          <p:nvPr/>
        </p:nvGrpSpPr>
        <p:grpSpPr>
          <a:xfrm rot="0">
            <a:off x="12810744" y="5417820"/>
            <a:ext cx="438912" cy="548640"/>
            <a:chOff x="0" y="0"/>
            <a:chExt cx="585216" cy="731520"/>
          </a:xfrm>
        </p:grpSpPr>
        <p:sp>
          <p:nvSpPr>
            <p:cNvPr name="Freeform 53" id="53"/>
            <p:cNvSpPr/>
            <p:nvPr/>
          </p:nvSpPr>
          <p:spPr>
            <a:xfrm flipH="false" flipV="false" rot="0">
              <a:off x="0" y="0"/>
              <a:ext cx="585216" cy="731520"/>
            </a:xfrm>
            <a:custGeom>
              <a:avLst/>
              <a:gdLst/>
              <a:ahLst/>
              <a:cxnLst/>
              <a:rect r="r" b="b" t="t" l="l"/>
              <a:pathLst>
                <a:path h="731520" w="585216">
                  <a:moveTo>
                    <a:pt x="0" y="0"/>
                  </a:moveTo>
                  <a:lnTo>
                    <a:pt x="585216" y="0"/>
                  </a:lnTo>
                  <a:lnTo>
                    <a:pt x="585216" y="731520"/>
                  </a:lnTo>
                  <a:lnTo>
                    <a:pt x="0" y="731520"/>
                  </a:lnTo>
                  <a:close/>
                </a:path>
              </a:pathLst>
            </a:custGeom>
            <a:blipFill>
              <a:blip r:embed="rId2">
                <a:alphaModFix amt="0"/>
              </a:blip>
              <a:stretch>
                <a:fillRect l="-110379" t="0" r="-110379" b="0"/>
              </a:stretch>
            </a:blipFill>
          </p:spPr>
        </p:sp>
        <p:sp>
          <p:nvSpPr>
            <p:cNvPr name="TextBox 54" id="54"/>
            <p:cNvSpPr txBox="true"/>
            <p:nvPr/>
          </p:nvSpPr>
          <p:spPr>
            <a:xfrm>
              <a:off x="0" y="-57150"/>
              <a:ext cx="585216" cy="788670"/>
            </a:xfrm>
            <a:prstGeom prst="rect">
              <a:avLst/>
            </a:prstGeom>
          </p:spPr>
          <p:txBody>
            <a:bodyPr anchor="ctr" rtlCol="false" tIns="0" lIns="0" bIns="0" rIns="0"/>
            <a:lstStyle/>
            <a:p>
              <a:pPr algn="ctr">
                <a:lnSpc>
                  <a:spcPts val="3240"/>
                </a:lnSpc>
              </a:pPr>
              <a:r>
                <a:rPr lang="en-US" sz="2700" b="true">
                  <a:solidFill>
                    <a:srgbClr val="E8664F"/>
                  </a:solidFill>
                  <a:latin typeface="Calibri (MS) Bold"/>
                  <a:ea typeface="Calibri (MS) Bold"/>
                  <a:cs typeface="Calibri (MS) Bold"/>
                  <a:sym typeface="Calibri (MS) Bold"/>
                </a:rPr>
                <a:t>→</a:t>
              </a:r>
            </a:p>
          </p:txBody>
        </p:sp>
      </p:grpSp>
      <p:grpSp>
        <p:nvGrpSpPr>
          <p:cNvPr name="Group 55" id="55"/>
          <p:cNvGrpSpPr/>
          <p:nvPr/>
        </p:nvGrpSpPr>
        <p:grpSpPr>
          <a:xfrm rot="0">
            <a:off x="13181076" y="2948940"/>
            <a:ext cx="3771900" cy="5349240"/>
            <a:chOff x="0" y="0"/>
            <a:chExt cx="5029200" cy="7132320"/>
          </a:xfrm>
        </p:grpSpPr>
        <p:sp>
          <p:nvSpPr>
            <p:cNvPr name="Freeform 56" id="56"/>
            <p:cNvSpPr/>
            <p:nvPr/>
          </p:nvSpPr>
          <p:spPr>
            <a:xfrm flipH="false" flipV="false" rot="0">
              <a:off x="0" y="0"/>
              <a:ext cx="5029200" cy="7132320"/>
            </a:xfrm>
            <a:custGeom>
              <a:avLst/>
              <a:gdLst/>
              <a:ahLst/>
              <a:cxnLst/>
              <a:rect r="r" b="b" t="t" l="l"/>
              <a:pathLst>
                <a:path h="7132320" w="5029200">
                  <a:moveTo>
                    <a:pt x="0" y="182880"/>
                  </a:moveTo>
                  <a:cubicBezTo>
                    <a:pt x="0" y="81915"/>
                    <a:pt x="81915" y="0"/>
                    <a:pt x="182880" y="0"/>
                  </a:cubicBezTo>
                  <a:lnTo>
                    <a:pt x="4846320" y="0"/>
                  </a:lnTo>
                  <a:cubicBezTo>
                    <a:pt x="4947285" y="0"/>
                    <a:pt x="5029200" y="81915"/>
                    <a:pt x="5029200" y="182880"/>
                  </a:cubicBezTo>
                  <a:lnTo>
                    <a:pt x="5029200" y="6949440"/>
                  </a:lnTo>
                  <a:cubicBezTo>
                    <a:pt x="5029200" y="7050405"/>
                    <a:pt x="4947285" y="7132320"/>
                    <a:pt x="4846320" y="7132320"/>
                  </a:cubicBezTo>
                  <a:lnTo>
                    <a:pt x="182880" y="7132320"/>
                  </a:lnTo>
                  <a:cubicBezTo>
                    <a:pt x="81915" y="7132320"/>
                    <a:pt x="0" y="7050405"/>
                    <a:pt x="0" y="6949440"/>
                  </a:cubicBezTo>
                  <a:close/>
                </a:path>
              </a:pathLst>
            </a:custGeom>
            <a:solidFill>
              <a:srgbClr val="263172"/>
            </a:solidFill>
          </p:spPr>
        </p:sp>
      </p:grpSp>
      <p:grpSp>
        <p:nvGrpSpPr>
          <p:cNvPr name="Group 57" id="57"/>
          <p:cNvGrpSpPr/>
          <p:nvPr/>
        </p:nvGrpSpPr>
        <p:grpSpPr>
          <a:xfrm rot="0">
            <a:off x="14655546" y="3360420"/>
            <a:ext cx="822960" cy="822960"/>
            <a:chOff x="0" y="0"/>
            <a:chExt cx="1097280" cy="1097280"/>
          </a:xfrm>
        </p:grpSpPr>
        <p:sp>
          <p:nvSpPr>
            <p:cNvPr name="Freeform 58" id="58"/>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E8664F"/>
            </a:solidFill>
          </p:spPr>
        </p:sp>
      </p:grpSp>
      <p:grpSp>
        <p:nvGrpSpPr>
          <p:cNvPr name="Group 59" id="59"/>
          <p:cNvGrpSpPr/>
          <p:nvPr/>
        </p:nvGrpSpPr>
        <p:grpSpPr>
          <a:xfrm rot="0">
            <a:off x="14655546" y="3360420"/>
            <a:ext cx="822960" cy="822960"/>
            <a:chOff x="0" y="0"/>
            <a:chExt cx="1097280" cy="1097280"/>
          </a:xfrm>
        </p:grpSpPr>
        <p:sp>
          <p:nvSpPr>
            <p:cNvPr name="Freeform 60" id="60"/>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2">
                <a:alphaModFix amt="0"/>
              </a:blip>
              <a:stretch>
                <a:fillRect l="-78303" t="0" r="-78303" b="0"/>
              </a:stretch>
            </a:blipFill>
          </p:spPr>
        </p:sp>
        <p:sp>
          <p:nvSpPr>
            <p:cNvPr name="TextBox 61" id="61"/>
            <p:cNvSpPr txBox="true"/>
            <p:nvPr/>
          </p:nvSpPr>
          <p:spPr>
            <a:xfrm>
              <a:off x="0" y="-19050"/>
              <a:ext cx="1097280" cy="1116330"/>
            </a:xfrm>
            <a:prstGeom prst="rect">
              <a:avLst/>
            </a:prstGeom>
          </p:spPr>
          <p:txBody>
            <a:bodyPr anchor="ctr" rtlCol="false" tIns="0" lIns="0" bIns="0" rIns="0"/>
            <a:lstStyle/>
            <a:p>
              <a:pPr algn="ctr">
                <a:lnSpc>
                  <a:spcPts val="3600"/>
                </a:lnSpc>
              </a:pPr>
              <a:r>
                <a:rPr lang="en-US" sz="3000" b="true">
                  <a:solidFill>
                    <a:srgbClr val="FFFFFF"/>
                  </a:solidFill>
                  <a:latin typeface="Cambria Bold"/>
                  <a:ea typeface="Cambria Bold"/>
                  <a:cs typeface="Cambria Bold"/>
                  <a:sym typeface="Cambria Bold"/>
                </a:rPr>
                <a:t>4</a:t>
              </a:r>
            </a:p>
          </p:txBody>
        </p:sp>
      </p:grpSp>
      <p:grpSp>
        <p:nvGrpSpPr>
          <p:cNvPr name="Group 62" id="62"/>
          <p:cNvGrpSpPr/>
          <p:nvPr/>
        </p:nvGrpSpPr>
        <p:grpSpPr>
          <a:xfrm rot="0">
            <a:off x="13455396" y="4526280"/>
            <a:ext cx="3223260" cy="1651797"/>
            <a:chOff x="0" y="0"/>
            <a:chExt cx="4297680" cy="2202396"/>
          </a:xfrm>
        </p:grpSpPr>
        <p:sp>
          <p:nvSpPr>
            <p:cNvPr name="Freeform 63" id="63"/>
            <p:cNvSpPr/>
            <p:nvPr/>
          </p:nvSpPr>
          <p:spPr>
            <a:xfrm flipH="false" flipV="false" rot="0">
              <a:off x="0" y="0"/>
              <a:ext cx="4297680" cy="2202396"/>
            </a:xfrm>
            <a:custGeom>
              <a:avLst/>
              <a:gdLst/>
              <a:ahLst/>
              <a:cxnLst/>
              <a:rect r="r" b="b" t="t" l="l"/>
              <a:pathLst>
                <a:path h="2202396" w="4297680">
                  <a:moveTo>
                    <a:pt x="0" y="0"/>
                  </a:moveTo>
                  <a:lnTo>
                    <a:pt x="4297680" y="0"/>
                  </a:lnTo>
                  <a:lnTo>
                    <a:pt x="4297680" y="2202396"/>
                  </a:lnTo>
                  <a:lnTo>
                    <a:pt x="0" y="2202396"/>
                  </a:lnTo>
                  <a:close/>
                </a:path>
              </a:pathLst>
            </a:custGeom>
            <a:blipFill>
              <a:blip r:embed="rId2">
                <a:alphaModFix amt="0"/>
              </a:blip>
              <a:stretch>
                <a:fillRect l="0" t="-15187" r="0" b="39142"/>
              </a:stretch>
            </a:blipFill>
          </p:spPr>
        </p:sp>
        <p:sp>
          <p:nvSpPr>
            <p:cNvPr name="TextBox 64" id="64"/>
            <p:cNvSpPr txBox="true"/>
            <p:nvPr/>
          </p:nvSpPr>
          <p:spPr>
            <a:xfrm>
              <a:off x="0" y="-19050"/>
              <a:ext cx="4297680" cy="2221446"/>
            </a:xfrm>
            <a:prstGeom prst="rect">
              <a:avLst/>
            </a:prstGeom>
          </p:spPr>
          <p:txBody>
            <a:bodyPr anchor="ctr" rtlCol="false" tIns="0" lIns="0" bIns="0" rIns="0"/>
            <a:lstStyle/>
            <a:p>
              <a:pPr algn="ctr">
                <a:lnSpc>
                  <a:spcPts val="2700"/>
                </a:lnSpc>
              </a:pPr>
              <a:r>
                <a:rPr lang="en-US" sz="2250" b="true">
                  <a:solidFill>
                    <a:srgbClr val="FFFFFF"/>
                  </a:solidFill>
                  <a:latin typeface="Cambria Bold"/>
                  <a:ea typeface="Cambria Bold"/>
                  <a:cs typeface="Cambria Bold"/>
                  <a:sym typeface="Cambria Bold"/>
                </a:rPr>
                <a:t>Faithfulness</a:t>
              </a:r>
            </a:p>
          </p:txBody>
        </p:sp>
      </p:grpSp>
      <p:grpSp>
        <p:nvGrpSpPr>
          <p:cNvPr name="Group 65" id="65"/>
          <p:cNvGrpSpPr/>
          <p:nvPr/>
        </p:nvGrpSpPr>
        <p:grpSpPr>
          <a:xfrm rot="0">
            <a:off x="13523976" y="5349240"/>
            <a:ext cx="3086100" cy="2606040"/>
            <a:chOff x="0" y="0"/>
            <a:chExt cx="4114800" cy="3474720"/>
          </a:xfrm>
        </p:grpSpPr>
        <p:sp>
          <p:nvSpPr>
            <p:cNvPr name="Freeform 66" id="66"/>
            <p:cNvSpPr/>
            <p:nvPr/>
          </p:nvSpPr>
          <p:spPr>
            <a:xfrm flipH="false" flipV="false" rot="0">
              <a:off x="0" y="0"/>
              <a:ext cx="4114800" cy="3474720"/>
            </a:xfrm>
            <a:custGeom>
              <a:avLst/>
              <a:gdLst/>
              <a:ahLst/>
              <a:cxnLst/>
              <a:rect r="r" b="b" t="t" l="l"/>
              <a:pathLst>
                <a:path h="3474720" w="4114800">
                  <a:moveTo>
                    <a:pt x="0" y="0"/>
                  </a:moveTo>
                  <a:lnTo>
                    <a:pt x="4114800" y="0"/>
                  </a:lnTo>
                  <a:lnTo>
                    <a:pt x="4114800" y="3474720"/>
                  </a:lnTo>
                  <a:lnTo>
                    <a:pt x="0" y="3474720"/>
                  </a:lnTo>
                  <a:close/>
                </a:path>
              </a:pathLst>
            </a:custGeom>
            <a:blipFill>
              <a:blip r:embed="rId2">
                <a:alphaModFix amt="0"/>
              </a:blip>
              <a:stretch>
                <a:fillRect l="-58345" t="0" r="-58345" b="0"/>
              </a:stretch>
            </a:blipFill>
          </p:spPr>
        </p:sp>
        <p:sp>
          <p:nvSpPr>
            <p:cNvPr name="TextBox 67" id="67"/>
            <p:cNvSpPr txBox="true"/>
            <p:nvPr/>
          </p:nvSpPr>
          <p:spPr>
            <a:xfrm>
              <a:off x="0" y="-57150"/>
              <a:ext cx="4114800" cy="3531870"/>
            </a:xfrm>
            <a:prstGeom prst="rect">
              <a:avLst/>
            </a:prstGeom>
          </p:spPr>
          <p:txBody>
            <a:bodyPr anchor="ctr" rtlCol="false" tIns="0" lIns="0" bIns="0" rIns="0"/>
            <a:lstStyle/>
            <a:p>
              <a:pPr algn="ctr">
                <a:lnSpc>
                  <a:spcPts val="2250"/>
                </a:lnSpc>
              </a:pPr>
              <a:r>
                <a:rPr lang="en-US" sz="1725">
                  <a:solidFill>
                    <a:srgbClr val="D6DCF5"/>
                  </a:solidFill>
                  <a:latin typeface="Calibri (MS)"/>
                  <a:ea typeface="Calibri (MS)"/>
                  <a:cs typeface="Calibri (MS)"/>
                  <a:sym typeface="Calibri (MS)"/>
                </a:rPr>
                <a:t>Checks if the generated response is strictly grounded in the retrieved context to reduce hallucinations.</a:t>
              </a:r>
            </a:p>
          </p:txBody>
        </p:sp>
      </p:grpSp>
      <p:grpSp>
        <p:nvGrpSpPr>
          <p:cNvPr name="Group 68" id="68"/>
          <p:cNvGrpSpPr/>
          <p:nvPr/>
        </p:nvGrpSpPr>
        <p:grpSpPr>
          <a:xfrm rot="0">
            <a:off x="17282160" y="9710928"/>
            <a:ext cx="685800" cy="411480"/>
            <a:chOff x="0" y="0"/>
            <a:chExt cx="914400" cy="548640"/>
          </a:xfrm>
        </p:grpSpPr>
        <p:sp>
          <p:nvSpPr>
            <p:cNvPr name="Freeform 69" id="69"/>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70" id="70"/>
            <p:cNvSpPr txBox="true"/>
            <p:nvPr/>
          </p:nvSpPr>
          <p:spPr>
            <a:xfrm>
              <a:off x="0" y="-38100"/>
              <a:ext cx="914400" cy="586740"/>
            </a:xfrm>
            <a:prstGeom prst="rect">
              <a:avLst/>
            </a:prstGeom>
          </p:spPr>
          <p:txBody>
            <a:bodyPr anchor="ctr" rtlCol="false" tIns="0" lIns="0" bIns="0" rIns="0"/>
            <a:lstStyle/>
            <a:p>
              <a:pPr algn="r">
                <a:lnSpc>
                  <a:spcPts val="1800"/>
                </a:lnSpc>
              </a:pPr>
              <a:r>
                <a:rPr lang="en-US" sz="1500">
                  <a:solidFill>
                    <a:srgbClr val="6E7591"/>
                  </a:solidFill>
                  <a:latin typeface="Calibri (MS)"/>
                  <a:ea typeface="Calibri (MS)"/>
                  <a:cs typeface="Calibri (MS)"/>
                  <a:sym typeface="Calibri (MS)"/>
                </a:rPr>
                <a:t>10</a:t>
              </a:r>
            </a:p>
          </p:txBody>
        </p:sp>
      </p:grpSp>
      <p:grpSp>
        <p:nvGrpSpPr>
          <p:cNvPr name="Group 71" id="71"/>
          <p:cNvGrpSpPr/>
          <p:nvPr/>
        </p:nvGrpSpPr>
        <p:grpSpPr>
          <a:xfrm rot="0">
            <a:off x="960120" y="1343133"/>
            <a:ext cx="8892642" cy="46196"/>
            <a:chOff x="0" y="0"/>
            <a:chExt cx="1860174" cy="9663"/>
          </a:xfrm>
        </p:grpSpPr>
        <p:sp>
          <p:nvSpPr>
            <p:cNvPr name="Freeform 72" id="72"/>
            <p:cNvSpPr/>
            <p:nvPr/>
          </p:nvSpPr>
          <p:spPr>
            <a:xfrm flipH="false" flipV="false" rot="0">
              <a:off x="0" y="0"/>
              <a:ext cx="1860174" cy="9663"/>
            </a:xfrm>
            <a:custGeom>
              <a:avLst/>
              <a:gdLst/>
              <a:ahLst/>
              <a:cxnLst/>
              <a:rect r="r" b="b" t="t" l="l"/>
              <a:pathLst>
                <a:path h="9663" w="1860174">
                  <a:moveTo>
                    <a:pt x="0" y="4832"/>
                  </a:moveTo>
                  <a:cubicBezTo>
                    <a:pt x="0" y="2163"/>
                    <a:pt x="416308" y="0"/>
                    <a:pt x="930087" y="0"/>
                  </a:cubicBezTo>
                  <a:cubicBezTo>
                    <a:pt x="1443866" y="0"/>
                    <a:pt x="1860174" y="2163"/>
                    <a:pt x="1860174" y="4832"/>
                  </a:cubicBezTo>
                  <a:cubicBezTo>
                    <a:pt x="1860174" y="7501"/>
                    <a:pt x="1443866" y="9663"/>
                    <a:pt x="930087" y="9663"/>
                  </a:cubicBezTo>
                  <a:cubicBezTo>
                    <a:pt x="416308" y="9663"/>
                    <a:pt x="0" y="7501"/>
                    <a:pt x="0" y="4832"/>
                  </a:cubicBezTo>
                  <a:close/>
                </a:path>
              </a:pathLst>
            </a:custGeom>
            <a:solidFill>
              <a:srgbClr val="E8664F"/>
            </a:solidFill>
          </p:spPr>
        </p:sp>
      </p:grpSp>
      <p:grpSp>
        <p:nvGrpSpPr>
          <p:cNvPr name="Group 73" id="73"/>
          <p:cNvGrpSpPr/>
          <p:nvPr/>
        </p:nvGrpSpPr>
        <p:grpSpPr>
          <a:xfrm rot="0">
            <a:off x="1552057" y="1846726"/>
            <a:ext cx="6910715" cy="824598"/>
            <a:chOff x="0" y="0"/>
            <a:chExt cx="18877573" cy="2252504"/>
          </a:xfrm>
        </p:grpSpPr>
        <p:sp>
          <p:nvSpPr>
            <p:cNvPr name="Freeform 74" id="74"/>
            <p:cNvSpPr/>
            <p:nvPr/>
          </p:nvSpPr>
          <p:spPr>
            <a:xfrm flipH="false" flipV="false" rot="0">
              <a:off x="0" y="0"/>
              <a:ext cx="18877573" cy="2252504"/>
            </a:xfrm>
            <a:custGeom>
              <a:avLst/>
              <a:gdLst/>
              <a:ahLst/>
              <a:cxnLst/>
              <a:rect r="r" b="b" t="t" l="l"/>
              <a:pathLst>
                <a:path h="2252504" w="18877573">
                  <a:moveTo>
                    <a:pt x="0" y="166852"/>
                  </a:moveTo>
                  <a:cubicBezTo>
                    <a:pt x="0" y="74736"/>
                    <a:pt x="108405" y="0"/>
                    <a:pt x="242020" y="0"/>
                  </a:cubicBezTo>
                  <a:lnTo>
                    <a:pt x="18635554" y="0"/>
                  </a:lnTo>
                  <a:cubicBezTo>
                    <a:pt x="18769168" y="0"/>
                    <a:pt x="18877573" y="74736"/>
                    <a:pt x="18877573" y="166852"/>
                  </a:cubicBezTo>
                  <a:lnTo>
                    <a:pt x="18877573" y="2085652"/>
                  </a:lnTo>
                  <a:cubicBezTo>
                    <a:pt x="18877573" y="2177768"/>
                    <a:pt x="18769168" y="2252504"/>
                    <a:pt x="18635554" y="2252504"/>
                  </a:cubicBezTo>
                  <a:lnTo>
                    <a:pt x="242020" y="2252504"/>
                  </a:lnTo>
                  <a:cubicBezTo>
                    <a:pt x="108405" y="2252504"/>
                    <a:pt x="0" y="2177768"/>
                    <a:pt x="0" y="2085652"/>
                  </a:cubicBezTo>
                  <a:close/>
                </a:path>
              </a:pathLst>
            </a:custGeom>
            <a:solidFill>
              <a:srgbClr val="E8664F"/>
            </a:solidFill>
          </p:spPr>
        </p:sp>
      </p:grpSp>
      <p:grpSp>
        <p:nvGrpSpPr>
          <p:cNvPr name="Group 75" id="75"/>
          <p:cNvGrpSpPr/>
          <p:nvPr/>
        </p:nvGrpSpPr>
        <p:grpSpPr>
          <a:xfrm rot="0">
            <a:off x="1354120" y="1028700"/>
            <a:ext cx="7057552" cy="2308688"/>
            <a:chOff x="0" y="0"/>
            <a:chExt cx="9326880" cy="3051038"/>
          </a:xfrm>
        </p:grpSpPr>
        <p:sp>
          <p:nvSpPr>
            <p:cNvPr name="Freeform 76" id="76"/>
            <p:cNvSpPr/>
            <p:nvPr/>
          </p:nvSpPr>
          <p:spPr>
            <a:xfrm flipH="false" flipV="false" rot="0">
              <a:off x="0" y="0"/>
              <a:ext cx="9326880" cy="3051038"/>
            </a:xfrm>
            <a:custGeom>
              <a:avLst/>
              <a:gdLst/>
              <a:ahLst/>
              <a:cxnLst/>
              <a:rect r="r" b="b" t="t" l="l"/>
              <a:pathLst>
                <a:path h="3051038" w="9326880">
                  <a:moveTo>
                    <a:pt x="0" y="0"/>
                  </a:moveTo>
                  <a:lnTo>
                    <a:pt x="9326880" y="0"/>
                  </a:lnTo>
                  <a:lnTo>
                    <a:pt x="9326880" y="3051038"/>
                  </a:lnTo>
                  <a:lnTo>
                    <a:pt x="0" y="3051038"/>
                  </a:lnTo>
                  <a:close/>
                </a:path>
              </a:pathLst>
            </a:custGeom>
            <a:blipFill>
              <a:blip r:embed="rId2">
                <a:alphaModFix amt="0"/>
              </a:blip>
              <a:stretch>
                <a:fillRect l="0" t="-43081" r="0" b="23951"/>
              </a:stretch>
            </a:blipFill>
          </p:spPr>
        </p:sp>
        <p:sp>
          <p:nvSpPr>
            <p:cNvPr name="TextBox 77" id="77"/>
            <p:cNvSpPr txBox="true"/>
            <p:nvPr/>
          </p:nvSpPr>
          <p:spPr>
            <a:xfrm>
              <a:off x="0" y="-19050"/>
              <a:ext cx="9326880" cy="3070088"/>
            </a:xfrm>
            <a:prstGeom prst="rect">
              <a:avLst/>
            </a:prstGeom>
          </p:spPr>
          <p:txBody>
            <a:bodyPr anchor="ctr" rtlCol="false" tIns="0" lIns="0" bIns="0" rIns="0"/>
            <a:lstStyle/>
            <a:p>
              <a:pPr algn="ctr">
                <a:lnSpc>
                  <a:spcPts val="3779"/>
                </a:lnSpc>
              </a:pPr>
              <a:r>
                <a:rPr lang="en-US" b="true" sz="3149" spc="209">
                  <a:solidFill>
                    <a:srgbClr val="FFFFFF"/>
                  </a:solidFill>
                  <a:latin typeface="Cambria Bold"/>
                  <a:ea typeface="Cambria Bold"/>
                  <a:cs typeface="Cambria Bold"/>
                  <a:sym typeface="Cambria Bold"/>
                </a:rPr>
                <a:t>Retrieval</a:t>
              </a:r>
            </a:p>
          </p:txBody>
        </p:sp>
      </p:grpSp>
      <p:grpSp>
        <p:nvGrpSpPr>
          <p:cNvPr name="Group 78" id="78"/>
          <p:cNvGrpSpPr/>
          <p:nvPr/>
        </p:nvGrpSpPr>
        <p:grpSpPr>
          <a:xfrm rot="0">
            <a:off x="9574842" y="1846726"/>
            <a:ext cx="6910715" cy="824598"/>
            <a:chOff x="0" y="0"/>
            <a:chExt cx="18877573" cy="2252504"/>
          </a:xfrm>
        </p:grpSpPr>
        <p:sp>
          <p:nvSpPr>
            <p:cNvPr name="Freeform 79" id="79"/>
            <p:cNvSpPr/>
            <p:nvPr/>
          </p:nvSpPr>
          <p:spPr>
            <a:xfrm flipH="false" flipV="false" rot="0">
              <a:off x="0" y="0"/>
              <a:ext cx="18877573" cy="2252504"/>
            </a:xfrm>
            <a:custGeom>
              <a:avLst/>
              <a:gdLst/>
              <a:ahLst/>
              <a:cxnLst/>
              <a:rect r="r" b="b" t="t" l="l"/>
              <a:pathLst>
                <a:path h="2252504" w="18877573">
                  <a:moveTo>
                    <a:pt x="0" y="166852"/>
                  </a:moveTo>
                  <a:cubicBezTo>
                    <a:pt x="0" y="74736"/>
                    <a:pt x="108405" y="0"/>
                    <a:pt x="242020" y="0"/>
                  </a:cubicBezTo>
                  <a:lnTo>
                    <a:pt x="18635554" y="0"/>
                  </a:lnTo>
                  <a:cubicBezTo>
                    <a:pt x="18769168" y="0"/>
                    <a:pt x="18877573" y="74736"/>
                    <a:pt x="18877573" y="166852"/>
                  </a:cubicBezTo>
                  <a:lnTo>
                    <a:pt x="18877573" y="2085652"/>
                  </a:lnTo>
                  <a:cubicBezTo>
                    <a:pt x="18877573" y="2177768"/>
                    <a:pt x="18769168" y="2252504"/>
                    <a:pt x="18635554" y="2252504"/>
                  </a:cubicBezTo>
                  <a:lnTo>
                    <a:pt x="242020" y="2252504"/>
                  </a:lnTo>
                  <a:cubicBezTo>
                    <a:pt x="108405" y="2252504"/>
                    <a:pt x="0" y="2177768"/>
                    <a:pt x="0" y="2085652"/>
                  </a:cubicBezTo>
                  <a:close/>
                </a:path>
              </a:pathLst>
            </a:custGeom>
            <a:solidFill>
              <a:srgbClr val="E8664F"/>
            </a:solidFill>
          </p:spPr>
        </p:sp>
      </p:grpSp>
      <p:grpSp>
        <p:nvGrpSpPr>
          <p:cNvPr name="Group 80" id="80"/>
          <p:cNvGrpSpPr/>
          <p:nvPr/>
        </p:nvGrpSpPr>
        <p:grpSpPr>
          <a:xfrm rot="0">
            <a:off x="9501424" y="1104681"/>
            <a:ext cx="7057552" cy="2308688"/>
            <a:chOff x="0" y="0"/>
            <a:chExt cx="9326880" cy="3051038"/>
          </a:xfrm>
        </p:grpSpPr>
        <p:sp>
          <p:nvSpPr>
            <p:cNvPr name="Freeform 81" id="81"/>
            <p:cNvSpPr/>
            <p:nvPr/>
          </p:nvSpPr>
          <p:spPr>
            <a:xfrm flipH="false" flipV="false" rot="0">
              <a:off x="0" y="0"/>
              <a:ext cx="9326880" cy="3051038"/>
            </a:xfrm>
            <a:custGeom>
              <a:avLst/>
              <a:gdLst/>
              <a:ahLst/>
              <a:cxnLst/>
              <a:rect r="r" b="b" t="t" l="l"/>
              <a:pathLst>
                <a:path h="3051038" w="9326880">
                  <a:moveTo>
                    <a:pt x="0" y="0"/>
                  </a:moveTo>
                  <a:lnTo>
                    <a:pt x="9326880" y="0"/>
                  </a:lnTo>
                  <a:lnTo>
                    <a:pt x="9326880" y="3051038"/>
                  </a:lnTo>
                  <a:lnTo>
                    <a:pt x="0" y="3051038"/>
                  </a:lnTo>
                  <a:close/>
                </a:path>
              </a:pathLst>
            </a:custGeom>
            <a:blipFill>
              <a:blip r:embed="rId2">
                <a:alphaModFix amt="0"/>
              </a:blip>
              <a:stretch>
                <a:fillRect l="0" t="-43081" r="0" b="23951"/>
              </a:stretch>
            </a:blipFill>
          </p:spPr>
        </p:sp>
        <p:sp>
          <p:nvSpPr>
            <p:cNvPr name="TextBox 82" id="82"/>
            <p:cNvSpPr txBox="true"/>
            <p:nvPr/>
          </p:nvSpPr>
          <p:spPr>
            <a:xfrm>
              <a:off x="0" y="-19050"/>
              <a:ext cx="9326880" cy="3070088"/>
            </a:xfrm>
            <a:prstGeom prst="rect">
              <a:avLst/>
            </a:prstGeom>
          </p:spPr>
          <p:txBody>
            <a:bodyPr anchor="ctr" rtlCol="false" tIns="0" lIns="0" bIns="0" rIns="0"/>
            <a:lstStyle/>
            <a:p>
              <a:pPr algn="ctr">
                <a:lnSpc>
                  <a:spcPts val="3779"/>
                </a:lnSpc>
              </a:pPr>
              <a:r>
                <a:rPr lang="en-US" b="true" sz="3149" spc="209">
                  <a:solidFill>
                    <a:srgbClr val="FFFFFF"/>
                  </a:solidFill>
                  <a:latin typeface="Cambria Bold"/>
                  <a:ea typeface="Cambria Bold"/>
                  <a:cs typeface="Cambria Bold"/>
                  <a:sym typeface="Cambria Bold"/>
                </a:rPr>
                <a:t>Generation</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4F6FC"/>
        </a:solidFill>
      </p:bgPr>
    </p:bg>
    <p:spTree>
      <p:nvGrpSpPr>
        <p:cNvPr id="1" name=""/>
        <p:cNvGrpSpPr/>
        <p:nvPr/>
      </p:nvGrpSpPr>
      <p:grpSpPr>
        <a:xfrm>
          <a:off x="0" y="0"/>
          <a:ext cx="0" cy="0"/>
          <a:chOff x="0" y="0"/>
          <a:chExt cx="0" cy="0"/>
        </a:xfrm>
      </p:grpSpPr>
      <p:grpSp>
        <p:nvGrpSpPr>
          <p:cNvPr name="Group 2" id="2"/>
          <p:cNvGrpSpPr/>
          <p:nvPr/>
        </p:nvGrpSpPr>
        <p:grpSpPr>
          <a:xfrm rot="0">
            <a:off x="960120" y="-856833"/>
            <a:ext cx="10972800" cy="3516213"/>
            <a:chOff x="0" y="0"/>
            <a:chExt cx="14630400" cy="4688284"/>
          </a:xfrm>
        </p:grpSpPr>
        <p:sp>
          <p:nvSpPr>
            <p:cNvPr name="Freeform 3" id="3"/>
            <p:cNvSpPr/>
            <p:nvPr/>
          </p:nvSpPr>
          <p:spPr>
            <a:xfrm flipH="false" flipV="false" rot="0">
              <a:off x="0" y="0"/>
              <a:ext cx="14630400" cy="4688284"/>
            </a:xfrm>
            <a:custGeom>
              <a:avLst/>
              <a:gdLst/>
              <a:ahLst/>
              <a:cxnLst/>
              <a:rect r="r" b="b" t="t" l="l"/>
              <a:pathLst>
                <a:path h="4688284" w="14630400">
                  <a:moveTo>
                    <a:pt x="0" y="0"/>
                  </a:moveTo>
                  <a:lnTo>
                    <a:pt x="14630400" y="0"/>
                  </a:lnTo>
                  <a:lnTo>
                    <a:pt x="14630400" y="4688284"/>
                  </a:lnTo>
                  <a:lnTo>
                    <a:pt x="0" y="4688284"/>
                  </a:lnTo>
                  <a:close/>
                </a:path>
              </a:pathLst>
            </a:custGeom>
            <a:blipFill>
              <a:blip r:embed="rId2">
                <a:alphaModFix amt="0"/>
              </a:blip>
              <a:stretch>
                <a:fillRect l="0" t="-49103" r="0" b="27492"/>
              </a:stretch>
            </a:blipFill>
          </p:spPr>
        </p:sp>
        <p:sp>
          <p:nvSpPr>
            <p:cNvPr name="TextBox 4" id="4"/>
            <p:cNvSpPr txBox="true"/>
            <p:nvPr/>
          </p:nvSpPr>
          <p:spPr>
            <a:xfrm>
              <a:off x="0" y="-9525"/>
              <a:ext cx="14630400" cy="4697809"/>
            </a:xfrm>
            <a:prstGeom prst="rect">
              <a:avLst/>
            </a:prstGeom>
          </p:spPr>
          <p:txBody>
            <a:bodyPr anchor="ctr" rtlCol="false" tIns="0" lIns="0" bIns="0" rIns="0"/>
            <a:lstStyle/>
            <a:p>
              <a:pPr algn="l">
                <a:lnSpc>
                  <a:spcPts val="5759"/>
                </a:lnSpc>
              </a:pPr>
              <a:r>
                <a:rPr lang="en-US" b="true" sz="4800">
                  <a:solidFill>
                    <a:srgbClr val="1E2761"/>
                  </a:solidFill>
                  <a:latin typeface="Cambria Bold"/>
                  <a:ea typeface="Cambria Bold"/>
                  <a:cs typeface="Cambria Bold"/>
                  <a:sym typeface="Cambria Bold"/>
                </a:rPr>
                <a:t>Evals</a:t>
              </a:r>
            </a:p>
          </p:txBody>
        </p:sp>
      </p:grpSp>
      <p:grpSp>
        <p:nvGrpSpPr>
          <p:cNvPr name="Group 5" id="5"/>
          <p:cNvGrpSpPr/>
          <p:nvPr/>
        </p:nvGrpSpPr>
        <p:grpSpPr>
          <a:xfrm rot="0">
            <a:off x="960120" y="1389329"/>
            <a:ext cx="13716000" cy="669976"/>
            <a:chOff x="0" y="0"/>
            <a:chExt cx="18288000" cy="893302"/>
          </a:xfrm>
        </p:grpSpPr>
        <p:sp>
          <p:nvSpPr>
            <p:cNvPr name="Freeform 6" id="6"/>
            <p:cNvSpPr/>
            <p:nvPr/>
          </p:nvSpPr>
          <p:spPr>
            <a:xfrm flipH="false" flipV="false" rot="0">
              <a:off x="0" y="0"/>
              <a:ext cx="18288000" cy="893302"/>
            </a:xfrm>
            <a:custGeom>
              <a:avLst/>
              <a:gdLst/>
              <a:ahLst/>
              <a:cxnLst/>
              <a:rect r="r" b="b" t="t" l="l"/>
              <a:pathLst>
                <a:path h="893302" w="18288000">
                  <a:moveTo>
                    <a:pt x="0" y="0"/>
                  </a:moveTo>
                  <a:lnTo>
                    <a:pt x="18288000" y="0"/>
                  </a:lnTo>
                  <a:lnTo>
                    <a:pt x="18288000" y="893302"/>
                  </a:lnTo>
                  <a:lnTo>
                    <a:pt x="0" y="893302"/>
                  </a:lnTo>
                  <a:close/>
                </a:path>
              </a:pathLst>
            </a:custGeom>
            <a:blipFill>
              <a:blip r:embed="rId2">
                <a:alphaModFix amt="0"/>
              </a:blip>
              <a:stretch>
                <a:fillRect l="0" t="-357960" r="0" b="-339849"/>
              </a:stretch>
            </a:blipFill>
          </p:spPr>
        </p:sp>
        <p:sp>
          <p:nvSpPr>
            <p:cNvPr name="TextBox 7" id="7"/>
            <p:cNvSpPr txBox="true"/>
            <p:nvPr/>
          </p:nvSpPr>
          <p:spPr>
            <a:xfrm>
              <a:off x="0" y="-66675"/>
              <a:ext cx="18288000" cy="959977"/>
            </a:xfrm>
            <a:prstGeom prst="rect">
              <a:avLst/>
            </a:prstGeom>
          </p:spPr>
          <p:txBody>
            <a:bodyPr anchor="ctr" rtlCol="false" tIns="0" lIns="0" bIns="0" rIns="0"/>
            <a:lstStyle/>
            <a:p>
              <a:pPr algn="l">
                <a:lnSpc>
                  <a:spcPts val="4019"/>
                </a:lnSpc>
              </a:pPr>
              <a:r>
                <a:rPr lang="en-US" sz="3349" i="true">
                  <a:solidFill>
                    <a:srgbClr val="1E2761"/>
                  </a:solidFill>
                  <a:latin typeface="Calibri (MS) Italics"/>
                  <a:ea typeface="Calibri (MS) Italics"/>
                  <a:cs typeface="Calibri (MS) Italics"/>
                  <a:sym typeface="Calibri (MS) Italics"/>
                </a:rPr>
                <a:t>Potential Eval frameworks</a:t>
              </a:r>
            </a:p>
          </p:txBody>
        </p:sp>
      </p:grpSp>
      <p:grpSp>
        <p:nvGrpSpPr>
          <p:cNvPr name="Group 8" id="8"/>
          <p:cNvGrpSpPr/>
          <p:nvPr/>
        </p:nvGrpSpPr>
        <p:grpSpPr>
          <a:xfrm rot="0">
            <a:off x="960120" y="1343133"/>
            <a:ext cx="8892642" cy="46196"/>
            <a:chOff x="0" y="0"/>
            <a:chExt cx="1860174" cy="9663"/>
          </a:xfrm>
        </p:grpSpPr>
        <p:sp>
          <p:nvSpPr>
            <p:cNvPr name="Freeform 9" id="9"/>
            <p:cNvSpPr/>
            <p:nvPr/>
          </p:nvSpPr>
          <p:spPr>
            <a:xfrm flipH="false" flipV="false" rot="0">
              <a:off x="0" y="0"/>
              <a:ext cx="1860174" cy="9663"/>
            </a:xfrm>
            <a:custGeom>
              <a:avLst/>
              <a:gdLst/>
              <a:ahLst/>
              <a:cxnLst/>
              <a:rect r="r" b="b" t="t" l="l"/>
              <a:pathLst>
                <a:path h="9663" w="1860174">
                  <a:moveTo>
                    <a:pt x="0" y="4832"/>
                  </a:moveTo>
                  <a:cubicBezTo>
                    <a:pt x="0" y="2163"/>
                    <a:pt x="416308" y="0"/>
                    <a:pt x="930087" y="0"/>
                  </a:cubicBezTo>
                  <a:cubicBezTo>
                    <a:pt x="1443866" y="0"/>
                    <a:pt x="1860174" y="2163"/>
                    <a:pt x="1860174" y="4832"/>
                  </a:cubicBezTo>
                  <a:cubicBezTo>
                    <a:pt x="1860174" y="7501"/>
                    <a:pt x="1443866" y="9663"/>
                    <a:pt x="930087" y="9663"/>
                  </a:cubicBezTo>
                  <a:cubicBezTo>
                    <a:pt x="416308" y="9663"/>
                    <a:pt x="0" y="7501"/>
                    <a:pt x="0" y="4832"/>
                  </a:cubicBezTo>
                  <a:close/>
                </a:path>
              </a:pathLst>
            </a:custGeom>
            <a:solidFill>
              <a:srgbClr val="E8664F"/>
            </a:solidFill>
          </p:spPr>
        </p:sp>
      </p:grpSp>
      <p:grpSp>
        <p:nvGrpSpPr>
          <p:cNvPr name="Group 10" id="10"/>
          <p:cNvGrpSpPr/>
          <p:nvPr/>
        </p:nvGrpSpPr>
        <p:grpSpPr>
          <a:xfrm rot="0">
            <a:off x="2760025" y="3006768"/>
            <a:ext cx="3666481" cy="5571067"/>
            <a:chOff x="0" y="0"/>
            <a:chExt cx="4888642" cy="7428089"/>
          </a:xfrm>
        </p:grpSpPr>
        <p:sp>
          <p:nvSpPr>
            <p:cNvPr name="Freeform 11" id="11"/>
            <p:cNvSpPr/>
            <p:nvPr/>
          </p:nvSpPr>
          <p:spPr>
            <a:xfrm flipH="false" flipV="false" rot="0">
              <a:off x="0" y="0"/>
              <a:ext cx="4888642" cy="7428088"/>
            </a:xfrm>
            <a:custGeom>
              <a:avLst/>
              <a:gdLst/>
              <a:ahLst/>
              <a:cxnLst/>
              <a:rect r="r" b="b" t="t" l="l"/>
              <a:pathLst>
                <a:path h="7428088" w="4888642">
                  <a:moveTo>
                    <a:pt x="0" y="550229"/>
                  </a:moveTo>
                  <a:cubicBezTo>
                    <a:pt x="0" y="246457"/>
                    <a:pt x="36495" y="0"/>
                    <a:pt x="81477" y="0"/>
                  </a:cubicBezTo>
                  <a:lnTo>
                    <a:pt x="4807164" y="0"/>
                  </a:lnTo>
                  <a:cubicBezTo>
                    <a:pt x="4852146" y="0"/>
                    <a:pt x="4888642" y="246457"/>
                    <a:pt x="4888642" y="550229"/>
                  </a:cubicBezTo>
                  <a:lnTo>
                    <a:pt x="4888642" y="6877860"/>
                  </a:lnTo>
                  <a:cubicBezTo>
                    <a:pt x="4888642" y="7181632"/>
                    <a:pt x="4852146" y="7428088"/>
                    <a:pt x="4807164" y="7428088"/>
                  </a:cubicBezTo>
                  <a:lnTo>
                    <a:pt x="81477" y="7428088"/>
                  </a:lnTo>
                  <a:cubicBezTo>
                    <a:pt x="36495" y="7428088"/>
                    <a:pt x="0" y="7181632"/>
                    <a:pt x="0" y="6877860"/>
                  </a:cubicBezTo>
                  <a:close/>
                </a:path>
              </a:pathLst>
            </a:custGeom>
            <a:solidFill>
              <a:srgbClr val="E8664F"/>
            </a:solidFill>
          </p:spPr>
        </p:sp>
      </p:grpSp>
      <p:grpSp>
        <p:nvGrpSpPr>
          <p:cNvPr name="Group 12" id="12"/>
          <p:cNvGrpSpPr/>
          <p:nvPr/>
        </p:nvGrpSpPr>
        <p:grpSpPr>
          <a:xfrm rot="0">
            <a:off x="3045439" y="3271562"/>
            <a:ext cx="3095654" cy="5090043"/>
            <a:chOff x="0" y="0"/>
            <a:chExt cx="5029200" cy="8269286"/>
          </a:xfrm>
        </p:grpSpPr>
        <p:sp>
          <p:nvSpPr>
            <p:cNvPr name="Freeform 13" id="13"/>
            <p:cNvSpPr/>
            <p:nvPr/>
          </p:nvSpPr>
          <p:spPr>
            <a:xfrm flipH="false" flipV="false" rot="0">
              <a:off x="0" y="0"/>
              <a:ext cx="5029200" cy="8269287"/>
            </a:xfrm>
            <a:custGeom>
              <a:avLst/>
              <a:gdLst/>
              <a:ahLst/>
              <a:cxnLst/>
              <a:rect r="r" b="b" t="t" l="l"/>
              <a:pathLst>
                <a:path h="8269287" w="5029200">
                  <a:moveTo>
                    <a:pt x="0" y="212033"/>
                  </a:moveTo>
                  <a:cubicBezTo>
                    <a:pt x="0" y="94973"/>
                    <a:pt x="81915" y="0"/>
                    <a:pt x="182880" y="0"/>
                  </a:cubicBezTo>
                  <a:lnTo>
                    <a:pt x="4846320" y="0"/>
                  </a:lnTo>
                  <a:cubicBezTo>
                    <a:pt x="4947285" y="0"/>
                    <a:pt x="5029200" y="94973"/>
                    <a:pt x="5029200" y="212033"/>
                  </a:cubicBezTo>
                  <a:lnTo>
                    <a:pt x="5029200" y="8057253"/>
                  </a:lnTo>
                  <a:cubicBezTo>
                    <a:pt x="5029200" y="8174313"/>
                    <a:pt x="4947285" y="8269287"/>
                    <a:pt x="4846320" y="8269287"/>
                  </a:cubicBezTo>
                  <a:lnTo>
                    <a:pt x="182880" y="8269287"/>
                  </a:lnTo>
                  <a:cubicBezTo>
                    <a:pt x="81915" y="8269286"/>
                    <a:pt x="0" y="8174313"/>
                    <a:pt x="0" y="8057253"/>
                  </a:cubicBezTo>
                  <a:close/>
                </a:path>
              </a:pathLst>
            </a:custGeom>
            <a:solidFill>
              <a:srgbClr val="F4F6FC"/>
            </a:solidFill>
          </p:spPr>
        </p:sp>
      </p:grpSp>
      <p:grpSp>
        <p:nvGrpSpPr>
          <p:cNvPr name="Group 14" id="14"/>
          <p:cNvGrpSpPr/>
          <p:nvPr/>
        </p:nvGrpSpPr>
        <p:grpSpPr>
          <a:xfrm rot="0">
            <a:off x="3179776" y="3943406"/>
            <a:ext cx="2826980" cy="3606581"/>
            <a:chOff x="0" y="0"/>
            <a:chExt cx="3769306" cy="4808775"/>
          </a:xfrm>
        </p:grpSpPr>
        <p:sp>
          <p:nvSpPr>
            <p:cNvPr name="Freeform 15" id="15"/>
            <p:cNvSpPr/>
            <p:nvPr/>
          </p:nvSpPr>
          <p:spPr>
            <a:xfrm flipH="false" flipV="false" rot="0">
              <a:off x="0" y="0"/>
              <a:ext cx="3769307" cy="4808775"/>
            </a:xfrm>
            <a:custGeom>
              <a:avLst/>
              <a:gdLst/>
              <a:ahLst/>
              <a:cxnLst/>
              <a:rect r="r" b="b" t="t" l="l"/>
              <a:pathLst>
                <a:path h="4808775" w="3769307">
                  <a:moveTo>
                    <a:pt x="0" y="0"/>
                  </a:moveTo>
                  <a:lnTo>
                    <a:pt x="3769307" y="0"/>
                  </a:lnTo>
                  <a:lnTo>
                    <a:pt x="3769307" y="4808775"/>
                  </a:lnTo>
                  <a:lnTo>
                    <a:pt x="0" y="4808775"/>
                  </a:lnTo>
                  <a:close/>
                </a:path>
              </a:pathLst>
            </a:custGeom>
            <a:blipFill>
              <a:blip r:embed="rId2">
                <a:alphaModFix amt="0"/>
              </a:blip>
              <a:stretch>
                <a:fillRect l="0" t="-22678" r="-123183" b="54503"/>
              </a:stretch>
            </a:blipFill>
          </p:spPr>
        </p:sp>
        <p:sp>
          <p:nvSpPr>
            <p:cNvPr name="TextBox 16" id="16"/>
            <p:cNvSpPr txBox="true"/>
            <p:nvPr/>
          </p:nvSpPr>
          <p:spPr>
            <a:xfrm>
              <a:off x="0" y="-19050"/>
              <a:ext cx="3769306" cy="4827825"/>
            </a:xfrm>
            <a:prstGeom prst="rect">
              <a:avLst/>
            </a:prstGeom>
          </p:spPr>
          <p:txBody>
            <a:bodyPr anchor="ctr" rtlCol="false" tIns="0" lIns="0" bIns="0" rIns="0"/>
            <a:lstStyle/>
            <a:p>
              <a:pPr algn="ctr">
                <a:lnSpc>
                  <a:spcPts val="5995"/>
                </a:lnSpc>
              </a:pPr>
              <a:r>
                <a:rPr lang="en-US" sz="4924">
                  <a:solidFill>
                    <a:srgbClr val="1E2761"/>
                  </a:solidFill>
                  <a:latin typeface="Cambria"/>
                  <a:ea typeface="Cambria"/>
                  <a:cs typeface="Cambria"/>
                  <a:sym typeface="Cambria"/>
                </a:rPr>
                <a:t>RAGAS</a:t>
              </a:r>
            </a:p>
          </p:txBody>
        </p:sp>
      </p:grpSp>
      <p:grpSp>
        <p:nvGrpSpPr>
          <p:cNvPr name="Group 17" id="17"/>
          <p:cNvGrpSpPr/>
          <p:nvPr/>
        </p:nvGrpSpPr>
        <p:grpSpPr>
          <a:xfrm rot="0">
            <a:off x="11009639" y="3031050"/>
            <a:ext cx="3666481" cy="5571067"/>
            <a:chOff x="0" y="0"/>
            <a:chExt cx="4888642" cy="7428089"/>
          </a:xfrm>
        </p:grpSpPr>
        <p:sp>
          <p:nvSpPr>
            <p:cNvPr name="Freeform 18" id="18"/>
            <p:cNvSpPr/>
            <p:nvPr/>
          </p:nvSpPr>
          <p:spPr>
            <a:xfrm flipH="false" flipV="false" rot="0">
              <a:off x="0" y="0"/>
              <a:ext cx="4888642" cy="7428088"/>
            </a:xfrm>
            <a:custGeom>
              <a:avLst/>
              <a:gdLst/>
              <a:ahLst/>
              <a:cxnLst/>
              <a:rect r="r" b="b" t="t" l="l"/>
              <a:pathLst>
                <a:path h="7428088" w="4888642">
                  <a:moveTo>
                    <a:pt x="0" y="550229"/>
                  </a:moveTo>
                  <a:cubicBezTo>
                    <a:pt x="0" y="246457"/>
                    <a:pt x="36495" y="0"/>
                    <a:pt x="81477" y="0"/>
                  </a:cubicBezTo>
                  <a:lnTo>
                    <a:pt x="4807164" y="0"/>
                  </a:lnTo>
                  <a:cubicBezTo>
                    <a:pt x="4852146" y="0"/>
                    <a:pt x="4888642" y="246457"/>
                    <a:pt x="4888642" y="550229"/>
                  </a:cubicBezTo>
                  <a:lnTo>
                    <a:pt x="4888642" y="6877860"/>
                  </a:lnTo>
                  <a:cubicBezTo>
                    <a:pt x="4888642" y="7181632"/>
                    <a:pt x="4852146" y="7428088"/>
                    <a:pt x="4807164" y="7428088"/>
                  </a:cubicBezTo>
                  <a:lnTo>
                    <a:pt x="81477" y="7428088"/>
                  </a:lnTo>
                  <a:cubicBezTo>
                    <a:pt x="36495" y="7428088"/>
                    <a:pt x="0" y="7181632"/>
                    <a:pt x="0" y="6877860"/>
                  </a:cubicBezTo>
                  <a:close/>
                </a:path>
              </a:pathLst>
            </a:custGeom>
            <a:solidFill>
              <a:srgbClr val="E8664F"/>
            </a:solidFill>
          </p:spPr>
        </p:sp>
      </p:grpSp>
      <p:grpSp>
        <p:nvGrpSpPr>
          <p:cNvPr name="Group 19" id="19"/>
          <p:cNvGrpSpPr/>
          <p:nvPr/>
        </p:nvGrpSpPr>
        <p:grpSpPr>
          <a:xfrm rot="0">
            <a:off x="11295053" y="3205674"/>
            <a:ext cx="3095654" cy="5082045"/>
            <a:chOff x="0" y="0"/>
            <a:chExt cx="5029200" cy="8256292"/>
          </a:xfrm>
        </p:grpSpPr>
        <p:sp>
          <p:nvSpPr>
            <p:cNvPr name="Freeform 20" id="20"/>
            <p:cNvSpPr/>
            <p:nvPr/>
          </p:nvSpPr>
          <p:spPr>
            <a:xfrm flipH="false" flipV="false" rot="0">
              <a:off x="0" y="0"/>
              <a:ext cx="5029200" cy="8256293"/>
            </a:xfrm>
            <a:custGeom>
              <a:avLst/>
              <a:gdLst/>
              <a:ahLst/>
              <a:cxnLst/>
              <a:rect r="r" b="b" t="t" l="l"/>
              <a:pathLst>
                <a:path h="8256293" w="5029200">
                  <a:moveTo>
                    <a:pt x="0" y="211700"/>
                  </a:moveTo>
                  <a:cubicBezTo>
                    <a:pt x="0" y="94824"/>
                    <a:pt x="81915" y="0"/>
                    <a:pt x="182880" y="0"/>
                  </a:cubicBezTo>
                  <a:lnTo>
                    <a:pt x="4846320" y="0"/>
                  </a:lnTo>
                  <a:cubicBezTo>
                    <a:pt x="4947285" y="0"/>
                    <a:pt x="5029200" y="94824"/>
                    <a:pt x="5029200" y="211700"/>
                  </a:cubicBezTo>
                  <a:lnTo>
                    <a:pt x="5029200" y="8044593"/>
                  </a:lnTo>
                  <a:cubicBezTo>
                    <a:pt x="5029200" y="8161469"/>
                    <a:pt x="4947285" y="8256293"/>
                    <a:pt x="4846320" y="8256293"/>
                  </a:cubicBezTo>
                  <a:lnTo>
                    <a:pt x="182880" y="8256293"/>
                  </a:lnTo>
                  <a:cubicBezTo>
                    <a:pt x="81915" y="8256292"/>
                    <a:pt x="0" y="8161469"/>
                    <a:pt x="0" y="8044593"/>
                  </a:cubicBezTo>
                  <a:close/>
                </a:path>
              </a:pathLst>
            </a:custGeom>
            <a:solidFill>
              <a:srgbClr val="F4F6FC"/>
            </a:solidFill>
          </p:spPr>
        </p:sp>
      </p:grpSp>
      <p:grpSp>
        <p:nvGrpSpPr>
          <p:cNvPr name="Group 21" id="21"/>
          <p:cNvGrpSpPr/>
          <p:nvPr/>
        </p:nvGrpSpPr>
        <p:grpSpPr>
          <a:xfrm rot="0">
            <a:off x="11429389" y="3919124"/>
            <a:ext cx="2826980" cy="3539106"/>
            <a:chOff x="0" y="0"/>
            <a:chExt cx="3769306" cy="4718807"/>
          </a:xfrm>
        </p:grpSpPr>
        <p:sp>
          <p:nvSpPr>
            <p:cNvPr name="Freeform 22" id="22"/>
            <p:cNvSpPr/>
            <p:nvPr/>
          </p:nvSpPr>
          <p:spPr>
            <a:xfrm flipH="false" flipV="false" rot="0">
              <a:off x="0" y="0"/>
              <a:ext cx="3769307" cy="4718807"/>
            </a:xfrm>
            <a:custGeom>
              <a:avLst/>
              <a:gdLst/>
              <a:ahLst/>
              <a:cxnLst/>
              <a:rect r="r" b="b" t="t" l="l"/>
              <a:pathLst>
                <a:path h="4718807" w="3769307">
                  <a:moveTo>
                    <a:pt x="0" y="0"/>
                  </a:moveTo>
                  <a:lnTo>
                    <a:pt x="3769307" y="0"/>
                  </a:lnTo>
                  <a:lnTo>
                    <a:pt x="3769307" y="4718807"/>
                  </a:lnTo>
                  <a:lnTo>
                    <a:pt x="0" y="4718807"/>
                  </a:lnTo>
                  <a:close/>
                </a:path>
              </a:pathLst>
            </a:custGeom>
            <a:blipFill>
              <a:blip r:embed="rId2">
                <a:alphaModFix amt="0"/>
              </a:blip>
              <a:stretch>
                <a:fillRect l="0" t="-23110" r="-123183" b="53636"/>
              </a:stretch>
            </a:blipFill>
          </p:spPr>
        </p:sp>
        <p:sp>
          <p:nvSpPr>
            <p:cNvPr name="TextBox 23" id="23"/>
            <p:cNvSpPr txBox="true"/>
            <p:nvPr/>
          </p:nvSpPr>
          <p:spPr>
            <a:xfrm>
              <a:off x="0" y="-19050"/>
              <a:ext cx="3769306" cy="4737857"/>
            </a:xfrm>
            <a:prstGeom prst="rect">
              <a:avLst/>
            </a:prstGeom>
          </p:spPr>
          <p:txBody>
            <a:bodyPr anchor="ctr" rtlCol="false" tIns="0" lIns="0" bIns="0" rIns="0"/>
            <a:lstStyle/>
            <a:p>
              <a:pPr algn="ctr">
                <a:lnSpc>
                  <a:spcPts val="5873"/>
                </a:lnSpc>
              </a:pPr>
              <a:r>
                <a:rPr lang="en-US" sz="4824">
                  <a:solidFill>
                    <a:srgbClr val="1E2761"/>
                  </a:solidFill>
                  <a:latin typeface="Cambria"/>
                  <a:ea typeface="Cambria"/>
                  <a:cs typeface="Cambria"/>
                  <a:sym typeface="Cambria"/>
                </a:rPr>
                <a:t>LangSmith</a:t>
              </a:r>
            </a:p>
          </p:txBody>
        </p:sp>
      </p:grpSp>
      <p:grpSp>
        <p:nvGrpSpPr>
          <p:cNvPr name="Group 24" id="24"/>
          <p:cNvGrpSpPr/>
          <p:nvPr/>
        </p:nvGrpSpPr>
        <p:grpSpPr>
          <a:xfrm rot="0">
            <a:off x="6975749" y="3006768"/>
            <a:ext cx="3666481" cy="5571067"/>
            <a:chOff x="0" y="0"/>
            <a:chExt cx="4888642" cy="7428089"/>
          </a:xfrm>
        </p:grpSpPr>
        <p:sp>
          <p:nvSpPr>
            <p:cNvPr name="Freeform 25" id="25"/>
            <p:cNvSpPr/>
            <p:nvPr/>
          </p:nvSpPr>
          <p:spPr>
            <a:xfrm flipH="false" flipV="false" rot="0">
              <a:off x="0" y="0"/>
              <a:ext cx="4888642" cy="7428088"/>
            </a:xfrm>
            <a:custGeom>
              <a:avLst/>
              <a:gdLst/>
              <a:ahLst/>
              <a:cxnLst/>
              <a:rect r="r" b="b" t="t" l="l"/>
              <a:pathLst>
                <a:path h="7428088" w="4888642">
                  <a:moveTo>
                    <a:pt x="0" y="550229"/>
                  </a:moveTo>
                  <a:cubicBezTo>
                    <a:pt x="0" y="246457"/>
                    <a:pt x="36495" y="0"/>
                    <a:pt x="81477" y="0"/>
                  </a:cubicBezTo>
                  <a:lnTo>
                    <a:pt x="4807164" y="0"/>
                  </a:lnTo>
                  <a:cubicBezTo>
                    <a:pt x="4852146" y="0"/>
                    <a:pt x="4888642" y="246457"/>
                    <a:pt x="4888642" y="550229"/>
                  </a:cubicBezTo>
                  <a:lnTo>
                    <a:pt x="4888642" y="6877860"/>
                  </a:lnTo>
                  <a:cubicBezTo>
                    <a:pt x="4888642" y="7181632"/>
                    <a:pt x="4852146" y="7428088"/>
                    <a:pt x="4807164" y="7428088"/>
                  </a:cubicBezTo>
                  <a:lnTo>
                    <a:pt x="81477" y="7428088"/>
                  </a:lnTo>
                  <a:cubicBezTo>
                    <a:pt x="36495" y="7428088"/>
                    <a:pt x="0" y="7181632"/>
                    <a:pt x="0" y="6877860"/>
                  </a:cubicBezTo>
                  <a:close/>
                </a:path>
              </a:pathLst>
            </a:custGeom>
            <a:solidFill>
              <a:srgbClr val="E8664F"/>
            </a:solidFill>
          </p:spPr>
        </p:sp>
      </p:grpSp>
      <p:grpSp>
        <p:nvGrpSpPr>
          <p:cNvPr name="Group 26" id="26"/>
          <p:cNvGrpSpPr/>
          <p:nvPr/>
        </p:nvGrpSpPr>
        <p:grpSpPr>
          <a:xfrm rot="0">
            <a:off x="7261163" y="3181392"/>
            <a:ext cx="3095654" cy="5082045"/>
            <a:chOff x="0" y="0"/>
            <a:chExt cx="5029200" cy="8256292"/>
          </a:xfrm>
        </p:grpSpPr>
        <p:sp>
          <p:nvSpPr>
            <p:cNvPr name="Freeform 27" id="27"/>
            <p:cNvSpPr/>
            <p:nvPr/>
          </p:nvSpPr>
          <p:spPr>
            <a:xfrm flipH="false" flipV="false" rot="0">
              <a:off x="0" y="0"/>
              <a:ext cx="5029200" cy="8256293"/>
            </a:xfrm>
            <a:custGeom>
              <a:avLst/>
              <a:gdLst/>
              <a:ahLst/>
              <a:cxnLst/>
              <a:rect r="r" b="b" t="t" l="l"/>
              <a:pathLst>
                <a:path h="8256293" w="5029200">
                  <a:moveTo>
                    <a:pt x="0" y="211700"/>
                  </a:moveTo>
                  <a:cubicBezTo>
                    <a:pt x="0" y="94824"/>
                    <a:pt x="81915" y="0"/>
                    <a:pt x="182880" y="0"/>
                  </a:cubicBezTo>
                  <a:lnTo>
                    <a:pt x="4846320" y="0"/>
                  </a:lnTo>
                  <a:cubicBezTo>
                    <a:pt x="4947285" y="0"/>
                    <a:pt x="5029200" y="94824"/>
                    <a:pt x="5029200" y="211700"/>
                  </a:cubicBezTo>
                  <a:lnTo>
                    <a:pt x="5029200" y="8044593"/>
                  </a:lnTo>
                  <a:cubicBezTo>
                    <a:pt x="5029200" y="8161469"/>
                    <a:pt x="4947285" y="8256293"/>
                    <a:pt x="4846320" y="8256293"/>
                  </a:cubicBezTo>
                  <a:lnTo>
                    <a:pt x="182880" y="8256293"/>
                  </a:lnTo>
                  <a:cubicBezTo>
                    <a:pt x="81915" y="8256292"/>
                    <a:pt x="0" y="8161469"/>
                    <a:pt x="0" y="8044593"/>
                  </a:cubicBezTo>
                  <a:close/>
                </a:path>
              </a:pathLst>
            </a:custGeom>
            <a:solidFill>
              <a:srgbClr val="F4F6FC"/>
            </a:solidFill>
          </p:spPr>
        </p:sp>
      </p:grpSp>
      <p:grpSp>
        <p:nvGrpSpPr>
          <p:cNvPr name="Group 28" id="28"/>
          <p:cNvGrpSpPr/>
          <p:nvPr/>
        </p:nvGrpSpPr>
        <p:grpSpPr>
          <a:xfrm rot="0">
            <a:off x="7447290" y="3919124"/>
            <a:ext cx="2826980" cy="3606581"/>
            <a:chOff x="0" y="0"/>
            <a:chExt cx="3769306" cy="4808775"/>
          </a:xfrm>
        </p:grpSpPr>
        <p:sp>
          <p:nvSpPr>
            <p:cNvPr name="Freeform 29" id="29"/>
            <p:cNvSpPr/>
            <p:nvPr/>
          </p:nvSpPr>
          <p:spPr>
            <a:xfrm flipH="false" flipV="false" rot="0">
              <a:off x="0" y="0"/>
              <a:ext cx="3769307" cy="4808775"/>
            </a:xfrm>
            <a:custGeom>
              <a:avLst/>
              <a:gdLst/>
              <a:ahLst/>
              <a:cxnLst/>
              <a:rect r="r" b="b" t="t" l="l"/>
              <a:pathLst>
                <a:path h="4808775" w="3769307">
                  <a:moveTo>
                    <a:pt x="0" y="0"/>
                  </a:moveTo>
                  <a:lnTo>
                    <a:pt x="3769307" y="0"/>
                  </a:lnTo>
                  <a:lnTo>
                    <a:pt x="3769307" y="4808775"/>
                  </a:lnTo>
                  <a:lnTo>
                    <a:pt x="0" y="4808775"/>
                  </a:lnTo>
                  <a:close/>
                </a:path>
              </a:pathLst>
            </a:custGeom>
            <a:blipFill>
              <a:blip r:embed="rId2">
                <a:alphaModFix amt="0"/>
              </a:blip>
              <a:stretch>
                <a:fillRect l="0" t="-22678" r="-123183" b="54503"/>
              </a:stretch>
            </a:blipFill>
          </p:spPr>
        </p:sp>
        <p:sp>
          <p:nvSpPr>
            <p:cNvPr name="TextBox 30" id="30"/>
            <p:cNvSpPr txBox="true"/>
            <p:nvPr/>
          </p:nvSpPr>
          <p:spPr>
            <a:xfrm>
              <a:off x="0" y="-19050"/>
              <a:ext cx="3769306" cy="4827825"/>
            </a:xfrm>
            <a:prstGeom prst="rect">
              <a:avLst/>
            </a:prstGeom>
          </p:spPr>
          <p:txBody>
            <a:bodyPr anchor="ctr" rtlCol="false" tIns="0" lIns="0" bIns="0" rIns="0"/>
            <a:lstStyle/>
            <a:p>
              <a:pPr algn="ctr">
                <a:lnSpc>
                  <a:spcPts val="5995"/>
                </a:lnSpc>
              </a:pPr>
              <a:r>
                <a:rPr lang="en-US" sz="4924">
                  <a:solidFill>
                    <a:srgbClr val="1E2761"/>
                  </a:solidFill>
                  <a:latin typeface="Cambria"/>
                  <a:ea typeface="Cambria"/>
                  <a:cs typeface="Cambria"/>
                  <a:sym typeface="Cambria"/>
                </a:rPr>
                <a:t>DeepEval</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14127480" y="-3017520"/>
            <a:ext cx="8915400" cy="8915400"/>
            <a:chOff x="0" y="0"/>
            <a:chExt cx="11887200" cy="11887200"/>
          </a:xfrm>
        </p:grpSpPr>
        <p:sp>
          <p:nvSpPr>
            <p:cNvPr name="Freeform 3" id="3"/>
            <p:cNvSpPr/>
            <p:nvPr/>
          </p:nvSpPr>
          <p:spPr>
            <a:xfrm flipH="false" flipV="false" rot="0">
              <a:off x="0" y="0"/>
              <a:ext cx="11887200" cy="11887200"/>
            </a:xfrm>
            <a:custGeom>
              <a:avLst/>
              <a:gdLst/>
              <a:ahLst/>
              <a:cxnLst/>
              <a:rect r="r" b="b" t="t" l="l"/>
              <a:pathLst>
                <a:path h="11887200" w="11887200">
                  <a:moveTo>
                    <a:pt x="0" y="5943600"/>
                  </a:moveTo>
                  <a:cubicBezTo>
                    <a:pt x="0" y="2661031"/>
                    <a:pt x="2661031" y="0"/>
                    <a:pt x="5943600" y="0"/>
                  </a:cubicBezTo>
                  <a:cubicBezTo>
                    <a:pt x="9226169" y="0"/>
                    <a:pt x="11887200" y="2661031"/>
                    <a:pt x="11887200" y="5943600"/>
                  </a:cubicBezTo>
                  <a:cubicBezTo>
                    <a:pt x="11887200" y="9226169"/>
                    <a:pt x="9226169" y="11887200"/>
                    <a:pt x="5943600" y="11887200"/>
                  </a:cubicBezTo>
                  <a:cubicBezTo>
                    <a:pt x="2661031" y="11887200"/>
                    <a:pt x="0" y="9226169"/>
                    <a:pt x="0" y="5943600"/>
                  </a:cubicBezTo>
                  <a:close/>
                </a:path>
              </a:pathLst>
            </a:custGeom>
            <a:solidFill>
              <a:srgbClr val="263172"/>
            </a:solidFill>
          </p:spPr>
        </p:sp>
      </p:grpSp>
      <p:grpSp>
        <p:nvGrpSpPr>
          <p:cNvPr name="Group 4" id="4"/>
          <p:cNvGrpSpPr/>
          <p:nvPr/>
        </p:nvGrpSpPr>
        <p:grpSpPr>
          <a:xfrm rot="0">
            <a:off x="15910560" y="6309360"/>
            <a:ext cx="4937760" cy="4937760"/>
            <a:chOff x="0" y="0"/>
            <a:chExt cx="6583680" cy="6583680"/>
          </a:xfrm>
        </p:grpSpPr>
        <p:sp>
          <p:nvSpPr>
            <p:cNvPr name="Freeform 5" id="5"/>
            <p:cNvSpPr/>
            <p:nvPr/>
          </p:nvSpPr>
          <p:spPr>
            <a:xfrm flipH="false" flipV="false" rot="0">
              <a:off x="0" y="0"/>
              <a:ext cx="6583680" cy="6583680"/>
            </a:xfrm>
            <a:custGeom>
              <a:avLst/>
              <a:gdLst/>
              <a:ahLst/>
              <a:cxnLst/>
              <a:rect r="r" b="b" t="t" l="l"/>
              <a:pathLst>
                <a:path h="6583680" w="6583680">
                  <a:moveTo>
                    <a:pt x="0" y="3291840"/>
                  </a:moveTo>
                  <a:cubicBezTo>
                    <a:pt x="0" y="1473835"/>
                    <a:pt x="1473835" y="0"/>
                    <a:pt x="3291840" y="0"/>
                  </a:cubicBezTo>
                  <a:cubicBezTo>
                    <a:pt x="5109845" y="0"/>
                    <a:pt x="6583680" y="1473835"/>
                    <a:pt x="6583680" y="3291840"/>
                  </a:cubicBezTo>
                  <a:cubicBezTo>
                    <a:pt x="6583680" y="5109845"/>
                    <a:pt x="5109845" y="6583680"/>
                    <a:pt x="3291840" y="6583680"/>
                  </a:cubicBezTo>
                  <a:cubicBezTo>
                    <a:pt x="1473835" y="6583680"/>
                    <a:pt x="0" y="5109845"/>
                    <a:pt x="0" y="3291840"/>
                  </a:cubicBezTo>
                  <a:close/>
                </a:path>
              </a:pathLst>
            </a:custGeom>
            <a:solidFill>
              <a:srgbClr val="263172"/>
            </a:solidFill>
          </p:spPr>
        </p:sp>
      </p:grpSp>
      <p:grpSp>
        <p:nvGrpSpPr>
          <p:cNvPr name="Group 6" id="6"/>
          <p:cNvGrpSpPr/>
          <p:nvPr/>
        </p:nvGrpSpPr>
        <p:grpSpPr>
          <a:xfrm rot="0">
            <a:off x="6931841" y="2541467"/>
            <a:ext cx="4424318" cy="5204066"/>
            <a:chOff x="0" y="0"/>
            <a:chExt cx="5899091" cy="6938754"/>
          </a:xfrm>
        </p:grpSpPr>
        <p:sp>
          <p:nvSpPr>
            <p:cNvPr name="Freeform 7" id="7"/>
            <p:cNvSpPr/>
            <p:nvPr/>
          </p:nvSpPr>
          <p:spPr>
            <a:xfrm flipH="false" flipV="false" rot="0">
              <a:off x="0" y="0"/>
              <a:ext cx="5899091" cy="6938754"/>
            </a:xfrm>
            <a:custGeom>
              <a:avLst/>
              <a:gdLst/>
              <a:ahLst/>
              <a:cxnLst/>
              <a:rect r="r" b="b" t="t" l="l"/>
              <a:pathLst>
                <a:path h="6938754" w="5899091">
                  <a:moveTo>
                    <a:pt x="0" y="0"/>
                  </a:moveTo>
                  <a:lnTo>
                    <a:pt x="5899091" y="0"/>
                  </a:lnTo>
                  <a:lnTo>
                    <a:pt x="5899091" y="6938754"/>
                  </a:lnTo>
                  <a:lnTo>
                    <a:pt x="0" y="6938754"/>
                  </a:lnTo>
                  <a:close/>
                </a:path>
              </a:pathLst>
            </a:custGeom>
            <a:blipFill>
              <a:blip r:embed="rId2">
                <a:alphaModFix amt="0"/>
              </a:blip>
              <a:stretch>
                <a:fillRect l="0" t="-9253" r="-194513" b="11677"/>
              </a:stretch>
            </a:blipFill>
          </p:spPr>
        </p:sp>
        <p:sp>
          <p:nvSpPr>
            <p:cNvPr name="TextBox 8" id="8"/>
            <p:cNvSpPr txBox="true"/>
            <p:nvPr/>
          </p:nvSpPr>
          <p:spPr>
            <a:xfrm>
              <a:off x="0" y="19050"/>
              <a:ext cx="5899091" cy="6919704"/>
            </a:xfrm>
            <a:prstGeom prst="rect">
              <a:avLst/>
            </a:prstGeom>
          </p:spPr>
          <p:txBody>
            <a:bodyPr anchor="ctr" rtlCol="false" tIns="0" lIns="0" bIns="0" rIns="0"/>
            <a:lstStyle/>
            <a:p>
              <a:pPr algn="l">
                <a:lnSpc>
                  <a:spcPts val="8164"/>
                </a:lnSpc>
              </a:pPr>
              <a:r>
                <a:rPr lang="en-US" sz="7099" b="true">
                  <a:solidFill>
                    <a:srgbClr val="FFFFFF"/>
                  </a:solidFill>
                  <a:latin typeface="Cambria Bold"/>
                  <a:ea typeface="Cambria Bold"/>
                  <a:cs typeface="Cambria Bold"/>
                  <a:sym typeface="Cambria Bold"/>
                </a:rPr>
                <a:t>Thank you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DAHTpVOoMRE</dc:identifier>
  <dcterms:modified xsi:type="dcterms:W3CDTF">2011-08-01T06:04:30Z</dcterms:modified>
  <cp:revision>1</cp:revision>
  <dc:title>Hallucination Across Retrieval-Augmented Generation Strategies</dc:title>
</cp:coreProperties>
</file>