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011680"/>
            <a:ext cx="5943600" cy="5943600"/>
          </a:xfrm>
          <a:prstGeom prst="ellipse">
            <a:avLst/>
          </a:prstGeom>
          <a:solidFill>
            <a:srgbClr val="263172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291840" cy="3291840"/>
          </a:xfrm>
          <a:prstGeom prst="ellipse">
            <a:avLst/>
          </a:prstGeom>
          <a:solidFill>
            <a:srgbClr val="26317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777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DISSERTATION INTRODUCTION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371600"/>
            <a:ext cx="8686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Hallucination Across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Retrieval-Augmented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Generation Strategies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160520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comparative, diagnostic study of how RAG architecture choices influence factual reliability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5074920"/>
            <a:ext cx="2011680" cy="0"/>
          </a:xfrm>
          <a:prstGeom prst="line">
            <a:avLst/>
          </a:prstGeom>
          <a:noFill/>
          <a:ln w="31750">
            <a:solidFill>
              <a:srgbClr val="E866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5257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proposal walkthrough  •  RAG taxonomy → hallucination framing → methodology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was supposed to solve hallucination. It didn't.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840480" cy="4114800"/>
          </a:xfrm>
          <a:prstGeom prst="roundRect">
            <a:avLst>
              <a:gd name="adj" fmla="val 2857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10312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59%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0040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complex multi-hop questions caused hallucination in a zero-shot LLM with no retrieval at all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68680" y="4709160"/>
            <a:ext cx="3291840" cy="0"/>
          </a:xfrm>
          <a:prstGeom prst="line">
            <a:avLst/>
          </a:prstGeom>
          <a:noFill/>
          <a:ln w="12700">
            <a:solidFill>
              <a:srgbClr val="44509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89204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7D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helps — but architecture-dependent gaps remain, and no single number tells you why.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92040" y="1828800"/>
            <a:ext cx="457200" cy="457200"/>
          </a:xfrm>
          <a:prstGeom prst="ellipse">
            <a:avLst/>
          </a:prstGeom>
          <a:solidFill>
            <a:srgbClr val="F4F6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9204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532120" y="178308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Grounding isn't automatic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532120" y="2148840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Handing an LLM context doesn't guarantee it uses it faithfully — retrieval quality varies wildly by architecture.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892040" y="3154680"/>
            <a:ext cx="457200" cy="457200"/>
          </a:xfrm>
          <a:prstGeom prst="ellipse">
            <a:avLst/>
          </a:prstGeom>
          <a:solidFill>
            <a:srgbClr val="F4F6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89204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5532120" y="310896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 RAG designs, different risk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532120" y="3474720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Naive, Graph, Hybrid, and Agentic RAG fail in different ways — and at different rates.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892040" y="4480560"/>
            <a:ext cx="457200" cy="457200"/>
          </a:xfrm>
          <a:prstGeom prst="ellipse">
            <a:avLst/>
          </a:prstGeom>
          <a:solidFill>
            <a:srgbClr val="F4F6F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892040" y="4480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532120" y="443484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Ranking &gt; single-number claims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532120" y="4800600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RAG hallucinates least” needs a diagnostic answer, not a leaderboard entry.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RAG, in One Picture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decides what the model even gets to see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CE2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945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8803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29184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question comes in, needing information beyond the model's parameters.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3200400" y="306324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6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474720" y="192024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CE2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03320" y="21945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70332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703320" y="28803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703320" y="329184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index (vectors, keywords, or a graph) pulls candidate passages from a corpus.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306324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6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309360" y="192024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CE2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37960" y="21945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3796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537960" y="28803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Augment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537960" y="329184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passages are inserted into the model's context window.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869680" y="306324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6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9144000" y="192024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CE2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372600" y="21945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37260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9372600" y="28803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9372600" y="329184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writes an answer — ideally grounded in what it was handed.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0080" y="489204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1E276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14400" y="50749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 claim this dissertation tests: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3931920" y="5029200"/>
            <a:ext cx="7315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hallucination rate changes when only the RAG strategy changes — LLM held constant — that's direct evidence retrieval design drives hallucination, not just the model.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RAG Landscape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8755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dimensions the literature uses to classify RAG systems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606040" cy="4343400"/>
          </a:xfrm>
          <a:prstGeom prst="roundRect">
            <a:avLst>
              <a:gd name="adj" fmla="val 3509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600200"/>
            <a:ext cx="2606040" cy="594360"/>
          </a:xfrm>
          <a:prstGeom prst="roundRect">
            <a:avLst>
              <a:gd name="adj" fmla="val 15385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60020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2505456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51560" y="2423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RAG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68680" y="3072384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" y="299008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RAG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68680" y="3639312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51560" y="355701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RAG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68680" y="4206240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51560" y="412394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RAG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474720" y="1600200"/>
            <a:ext cx="2606040" cy="4343400"/>
          </a:xfrm>
          <a:prstGeom prst="roundRect">
            <a:avLst>
              <a:gd name="adj" fmla="val 3509"/>
            </a:avLst>
          </a:prstGeom>
          <a:solidFill>
            <a:srgbClr val="F4F6FC"/>
          </a:solidFill>
          <a:ln/>
        </p:spPr>
      </p:sp>
      <p:sp>
        <p:nvSpPr>
          <p:cNvPr id="16" name="Shape 14"/>
          <p:cNvSpPr/>
          <p:nvPr/>
        </p:nvSpPr>
        <p:spPr>
          <a:xfrm>
            <a:off x="3474720" y="1600200"/>
            <a:ext cx="2606040" cy="594360"/>
          </a:xfrm>
          <a:prstGeom prst="roundRect">
            <a:avLst>
              <a:gd name="adj" fmla="val 15385"/>
            </a:avLst>
          </a:prstGeom>
          <a:solidFill>
            <a:srgbClr val="324A9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611880" y="160020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 mechanism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703320" y="2505456"/>
            <a:ext cx="82296" cy="82296"/>
          </a:xfrm>
          <a:prstGeom prst="ellipse">
            <a:avLst/>
          </a:prstGeom>
          <a:solidFill>
            <a:srgbClr val="324A9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886200" y="2423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(BM25)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703320" y="3072384"/>
            <a:ext cx="82296" cy="82296"/>
          </a:xfrm>
          <a:prstGeom prst="ellipse">
            <a:avLst/>
          </a:prstGeom>
          <a:solidFill>
            <a:srgbClr val="324A9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886200" y="299008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(embeddings)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703320" y="3639312"/>
            <a:ext cx="82296" cy="82296"/>
          </a:xfrm>
          <a:prstGeom prst="ellipse">
            <a:avLst/>
          </a:prstGeom>
          <a:solidFill>
            <a:srgbClr val="324A9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886200" y="355701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(fused)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309360" y="1600200"/>
            <a:ext cx="2606040" cy="4343400"/>
          </a:xfrm>
          <a:prstGeom prst="roundRect">
            <a:avLst>
              <a:gd name="adj" fmla="val 3509"/>
            </a:avLst>
          </a:prstGeom>
          <a:solidFill>
            <a:srgbClr val="F4F6FC"/>
          </a:solidFill>
          <a:ln/>
        </p:spPr>
      </p:sp>
      <p:sp>
        <p:nvSpPr>
          <p:cNvPr id="25" name="Shape 23"/>
          <p:cNvSpPr/>
          <p:nvPr/>
        </p:nvSpPr>
        <p:spPr>
          <a:xfrm>
            <a:off x="6309360" y="1600200"/>
            <a:ext cx="2606040" cy="594360"/>
          </a:xfrm>
          <a:prstGeom prst="roundRect">
            <a:avLst>
              <a:gd name="adj" fmla="val 15385"/>
            </a:avLst>
          </a:prstGeom>
          <a:solidFill>
            <a:srgbClr val="5E76C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46520" y="160020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structure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537960" y="2505456"/>
            <a:ext cx="82296" cy="82296"/>
          </a:xfrm>
          <a:prstGeom prst="ellipse">
            <a:avLst/>
          </a:prstGeom>
          <a:solidFill>
            <a:srgbClr val="5E76C7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720840" y="2423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/ chunked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537960" y="3072384"/>
            <a:ext cx="82296" cy="82296"/>
          </a:xfrm>
          <a:prstGeom prst="ellipse">
            <a:avLst/>
          </a:prstGeom>
          <a:solidFill>
            <a:srgbClr val="5E76C7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720840" y="299008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(RAPTOR)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537960" y="3639312"/>
            <a:ext cx="82296" cy="82296"/>
          </a:xfrm>
          <a:prstGeom prst="ellipse">
            <a:avLst/>
          </a:prstGeom>
          <a:solidFill>
            <a:srgbClr val="5E76C7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720840" y="355701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RAG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9144000" y="1600200"/>
            <a:ext cx="2606040" cy="4343400"/>
          </a:xfrm>
          <a:prstGeom prst="roundRect">
            <a:avLst>
              <a:gd name="adj" fmla="val 3509"/>
            </a:avLst>
          </a:prstGeom>
          <a:solidFill>
            <a:srgbClr val="F4F6FC"/>
          </a:solidFill>
          <a:ln/>
        </p:spPr>
      </p:sp>
      <p:sp>
        <p:nvSpPr>
          <p:cNvPr id="34" name="Shape 32"/>
          <p:cNvSpPr/>
          <p:nvPr/>
        </p:nvSpPr>
        <p:spPr>
          <a:xfrm>
            <a:off x="9144000" y="1600200"/>
            <a:ext cx="2606040" cy="594360"/>
          </a:xfrm>
          <a:prstGeom prst="roundRect">
            <a:avLst>
              <a:gd name="adj" fmla="val 15385"/>
            </a:avLst>
          </a:prstGeom>
          <a:solidFill>
            <a:srgbClr val="E8664F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281160" y="160020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behavior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9372600" y="2505456"/>
            <a:ext cx="82296" cy="82296"/>
          </a:xfrm>
          <a:prstGeom prst="ellipse">
            <a:avLst/>
          </a:prstGeom>
          <a:solidFill>
            <a:srgbClr val="E8664F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555480" y="2423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Self-RAG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9372600" y="3072384"/>
            <a:ext cx="82296" cy="82296"/>
          </a:xfrm>
          <a:prstGeom prst="ellipse">
            <a:avLst/>
          </a:prstGeom>
          <a:solidFill>
            <a:srgbClr val="E8664F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9555480" y="299008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Corrective RAG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9372600" y="3639312"/>
            <a:ext cx="82296" cy="82296"/>
          </a:xfrm>
          <a:prstGeom prst="ellipse">
            <a:avLst/>
          </a:prstGeom>
          <a:solidFill>
            <a:srgbClr val="E8664F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9555480" y="355701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FLARE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9372600" y="4206240"/>
            <a:ext cx="82296" cy="82296"/>
          </a:xfrm>
          <a:prstGeom prst="ellipse">
            <a:avLst/>
          </a:prstGeom>
          <a:solidFill>
            <a:srgbClr val="E8664F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9555480" y="412394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RAG</a:t>
            </a:r>
            <a:endParaRPr lang="en-US" sz="1250" dirty="0"/>
          </a:p>
        </p:txBody>
      </p:sp>
      <p:sp>
        <p:nvSpPr>
          <p:cNvPr id="44" name="Text 42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Defining Hallucination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axes — not one blanket term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  vs.  FACTUALITY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53035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2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240280"/>
            <a:ext cx="201168" cy="20116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234440" y="2176272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Faithful + Factual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69748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context, and true. The goal state.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2011680"/>
            <a:ext cx="53035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2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2240280"/>
            <a:ext cx="201168" cy="201168"/>
          </a:xfrm>
          <a:prstGeom prst="ellipse">
            <a:avLst/>
          </a:prstGeom>
          <a:solidFill>
            <a:srgbClr val="5E76C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12280" y="2176272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Faithful, not Factual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69748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the retrieved context exactly — but the source itself was wrong or stale.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160520"/>
            <a:ext cx="53035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2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4389120"/>
            <a:ext cx="201168" cy="201168"/>
          </a:xfrm>
          <a:prstGeom prst="ellipse">
            <a:avLst/>
          </a:prstGeom>
          <a:solidFill>
            <a:srgbClr val="324A9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234440" y="4325112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Factual, not Faithful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484632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happens to be true, but ignores or contradicts what was retrieved.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17920" y="4160520"/>
            <a:ext cx="53035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2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0" y="4389120"/>
            <a:ext cx="201168" cy="201168"/>
          </a:xfrm>
          <a:prstGeom prst="ellipse">
            <a:avLst/>
          </a:prstGeom>
          <a:solidFill>
            <a:srgbClr val="E8664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812280" y="4325112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Neither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484632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Contradicts context AND reality — the clearest hallucination case.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Evals vs. Hallucination Evals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Overlapping circles, not separate boxes — they meet at faithfulness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12080" cy="4297680"/>
          </a:xfrm>
          <a:prstGeom prst="roundRect">
            <a:avLst>
              <a:gd name="adj" fmla="val 2128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691640"/>
            <a:ext cx="521208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69164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EVALS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31343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the whole pipeline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14400" y="2816352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97280" y="2670048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precision — are retrieved chunks relevant?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3611880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97280" y="3465576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recall — was everything needed retrieved?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4407408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97280" y="4261104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 — does the answer match retrieved context?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5202936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97280" y="5056632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relevance — does it address the query?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1691640"/>
            <a:ext cx="5212080" cy="4297680"/>
          </a:xfrm>
          <a:prstGeom prst="roundRect">
            <a:avLst>
              <a:gd name="adj" fmla="val 2128"/>
            </a:avLst>
          </a:prstGeom>
          <a:solidFill>
            <a:srgbClr val="F4F6FC"/>
          </a:solidFill>
          <a:ln/>
        </p:spPr>
      </p:sp>
      <p:sp>
        <p:nvSpPr>
          <p:cNvPr id="17" name="Shape 15"/>
          <p:cNvSpPr/>
          <p:nvPr/>
        </p:nvSpPr>
        <p:spPr>
          <a:xfrm>
            <a:off x="6309360" y="1691640"/>
            <a:ext cx="5212080" cy="502920"/>
          </a:xfrm>
          <a:prstGeom prst="roundRect">
            <a:avLst>
              <a:gd name="adj" fmla="val 18182"/>
            </a:avLst>
          </a:prstGeom>
          <a:solidFill>
            <a:srgbClr val="E8664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83680" y="169164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HALLUCINATION EVALS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231343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the output on its own terms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83680" y="2816352"/>
            <a:ext cx="82296" cy="82296"/>
          </a:xfrm>
          <a:prstGeom prst="ellipse">
            <a:avLst/>
          </a:prstGeom>
          <a:solidFill>
            <a:srgbClr val="E866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766560" y="2670048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TruthfulQA — common-misconception factuality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83680" y="3611880"/>
            <a:ext cx="82296" cy="82296"/>
          </a:xfrm>
          <a:prstGeom prst="ellipse">
            <a:avLst/>
          </a:prstGeom>
          <a:solidFill>
            <a:srgbClr val="E866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766560" y="3465576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HaluEval — paired correct / hallucinated samples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83680" y="4407408"/>
            <a:ext cx="82296" cy="82296"/>
          </a:xfrm>
          <a:prstGeom prst="ellipse">
            <a:avLst/>
          </a:prstGeom>
          <a:solidFill>
            <a:srgbClr val="E8664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766560" y="4261104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SelfCheckGPT — consistency across samples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583680" y="5202936"/>
            <a:ext cx="82296" cy="82296"/>
          </a:xfrm>
          <a:prstGeom prst="ellipse">
            <a:avLst/>
          </a:prstGeom>
          <a:solidFill>
            <a:srgbClr val="E8664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766560" y="5056632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RAGTruth — word-level hallucination spans in RAG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point: faithfulness = a RAG-flavored, context-grounded hallucination metric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Methodology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three-layer diagnostic funnel — not a single hallucination score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691640" y="1874520"/>
            <a:ext cx="8778240" cy="1234440"/>
          </a:xfrm>
          <a:prstGeom prst="roundRect">
            <a:avLst>
              <a:gd name="adj" fmla="val 7407"/>
            </a:avLst>
          </a:prstGeom>
          <a:solidFill>
            <a:srgbClr val="5E76C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920240" y="2011680"/>
            <a:ext cx="822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7D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2743200" y="2011680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 Accuracy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2743200" y="2496312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EA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precision &amp; recall — did the strategy fetch the right information at all?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514600" y="3337560"/>
            <a:ext cx="7132320" cy="1234440"/>
          </a:xfrm>
          <a:prstGeom prst="roundRect">
            <a:avLst>
              <a:gd name="adj" fmla="val 7407"/>
            </a:avLst>
          </a:prstGeom>
          <a:solidFill>
            <a:srgbClr val="324A9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743200" y="3474720"/>
            <a:ext cx="822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7D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3474720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Faithfulness | Retrieval Correct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3959352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EA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correct context, did generation stay grounded — isolating pure LLM behavior?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337560" y="4800600"/>
            <a:ext cx="5486400" cy="1234440"/>
          </a:xfrm>
          <a:prstGeom prst="roundRect">
            <a:avLst>
              <a:gd name="adj" fmla="val 7407"/>
            </a:avLst>
          </a:prstGeom>
          <a:solidFill>
            <a:srgbClr val="E8664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66160" y="4937760"/>
            <a:ext cx="822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7D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4389120" y="493776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Factuality vs. Truth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389120" y="5422392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EA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 metric — claim-level accuracy against reality, blending both failure sources.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AA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generator LLM across all conditions  •  results reported per question-type (simple vs. multi-hop)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Gap Is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general question has been studied — the specific angle is what's open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7568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0756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196596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specificity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1965960"/>
            <a:ext cx="6675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comparisons run on generic QA (Wikipedia, SQuAD). Domain corpora — legal, medical, technical — behave very differently.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97180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317296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31729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306324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merge question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063240"/>
            <a:ext cx="6675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retrieval modes isn't automatically better — some hybrid configurations score worse due to diluted, verbose context.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06908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F4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" y="427024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42702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416052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Newer architectures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4160520"/>
            <a:ext cx="6675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RAG introduces new failure modes (cross-source synthesis errors) that are thinly characterized so far.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516636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868680" y="536752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53675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691640" y="525780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Diagnostic depth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4663440" y="5257800"/>
            <a:ext cx="6675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studies report one hallucination number. A layered funnel (retrieval → faithfulness → factuality) explains why, not just which.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Research Questions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— to be sharpened once the literature matrix is complete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CE2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74520"/>
            <a:ext cx="1188720" cy="1325880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874520"/>
            <a:ext cx="11887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2057400" y="1984248"/>
            <a:ext cx="9281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hallucination rate differ across RAG architectures (Naive, Hybrid, Graph, Agentic) when the generator LLM is held constant?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410712"/>
            <a:ext cx="1088136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CE2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3410712"/>
            <a:ext cx="1188720" cy="1325880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3410712"/>
            <a:ext cx="11887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2057400" y="3520440"/>
            <a:ext cx="9281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of that difference is attributable to retrieval accuracy vs. generation faithfulness?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946904"/>
            <a:ext cx="1088136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CE2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4946904"/>
            <a:ext cx="1188720" cy="1325880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46904"/>
            <a:ext cx="11887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2057400" y="5056632"/>
            <a:ext cx="9281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effect vary systematically between simple factoid and multi-hop questions?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this proposal to a locked-in study design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263172"/>
          </a:solidFill>
          <a:ln/>
        </p:spPr>
      </p:sp>
      <p:sp>
        <p:nvSpPr>
          <p:cNvPr id="5" name="Shape 3"/>
          <p:cNvSpPr/>
          <p:nvPr/>
        </p:nvSpPr>
        <p:spPr>
          <a:xfrm>
            <a:off x="1623060" y="2240280"/>
            <a:ext cx="548640" cy="548640"/>
          </a:xfrm>
          <a:prstGeom prst="ellipse">
            <a:avLst/>
          </a:prstGeom>
          <a:solidFill>
            <a:srgbClr val="E8664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62306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1752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matrix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566160"/>
            <a:ext cx="2057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6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running table of 15–20 papers: RAG type, dataset, metric, gap — confirm the novelty angle.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3108960" y="3611880"/>
            <a:ext cx="292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6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355848" y="196596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263172"/>
          </a:solidFill>
          <a:ln/>
        </p:spPr>
      </p:sp>
      <p:sp>
        <p:nvSpPr>
          <p:cNvPr id="11" name="Shape 9"/>
          <p:cNvSpPr/>
          <p:nvPr/>
        </p:nvSpPr>
        <p:spPr>
          <a:xfrm>
            <a:off x="4338828" y="2240280"/>
            <a:ext cx="548640" cy="548640"/>
          </a:xfrm>
          <a:prstGeom prst="ellipse">
            <a:avLst/>
          </a:prstGeom>
          <a:solidFill>
            <a:srgbClr val="E8664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338828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538728" y="301752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&amp; dataset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584448" y="3566160"/>
            <a:ext cx="2057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6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specific corpus/domain not already saturated in existing comparisons.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824728" y="3611880"/>
            <a:ext cx="292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6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071616" y="196596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263172"/>
          </a:solidFill>
          <a:ln/>
        </p:spPr>
      </p:sp>
      <p:sp>
        <p:nvSpPr>
          <p:cNvPr id="17" name="Shape 15"/>
          <p:cNvSpPr/>
          <p:nvPr/>
        </p:nvSpPr>
        <p:spPr>
          <a:xfrm>
            <a:off x="7054596" y="2240280"/>
            <a:ext cx="548640" cy="548640"/>
          </a:xfrm>
          <a:prstGeom prst="ellipse">
            <a:avLst/>
          </a:prstGeom>
          <a:solidFill>
            <a:srgbClr val="E8664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054596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254496" y="301752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build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300216" y="3566160"/>
            <a:ext cx="2057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6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3–4 RAG strategies on a fixed generator LLM.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540496" y="3611880"/>
            <a:ext cx="292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6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787384" y="196596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263172"/>
          </a:solidFill>
          <a:ln/>
        </p:spPr>
      </p:sp>
      <p:sp>
        <p:nvSpPr>
          <p:cNvPr id="23" name="Shape 21"/>
          <p:cNvSpPr/>
          <p:nvPr/>
        </p:nvSpPr>
        <p:spPr>
          <a:xfrm>
            <a:off x="9770364" y="2240280"/>
            <a:ext cx="548640" cy="548640"/>
          </a:xfrm>
          <a:prstGeom prst="ellipse">
            <a:avLst/>
          </a:prstGeom>
          <a:solidFill>
            <a:srgbClr val="E8664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770364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8970264" y="301752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Diagnostic evaluation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015984" y="3566160"/>
            <a:ext cx="2057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6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3-layer funnel: retrieval accuracy → faithfulness → factuality.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AA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welcome on scope, domain choice, and the diagnostic framework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2026-08-29T05:57:03Z</dcterms:created>
  <dcterms:modified xsi:type="dcterms:W3CDTF">2026-08-29T05:57:03Z</dcterms:modified>
</cp:coreProperties>
</file>