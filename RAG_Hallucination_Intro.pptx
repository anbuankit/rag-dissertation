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2"/>
    </p:embeddedFont>
    <p:embeddedFont>
      <p:font typeface="Cambria Bold" charset="1" panose="02040803050406030204"/>
      <p:regular r:id="rId13"/>
    </p:embeddedFont>
    <p:embeddedFont>
      <p:font typeface="Calibri (MS) Italics" charset="1" panose="020F05020202040A0204"/>
      <p:regular r:id="rId14"/>
    </p:embeddedFont>
    <p:embeddedFont>
      <p:font typeface="Calibri (MS)" charset="1" panose="020F0502020204030204"/>
      <p:regular r:id="rId15"/>
    </p:embeddedFont>
    <p:embeddedFont>
      <p:font typeface="DM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27480" y="-301752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10560" y="6309360"/>
            <a:ext cx="4937760" cy="4937760"/>
            <a:chOff x="0" y="0"/>
            <a:chExt cx="6583680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116586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449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DISSERTATION INTRODUCTION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1485" y="776525"/>
            <a:ext cx="13030200" cy="7033692"/>
            <a:chOff x="0" y="0"/>
            <a:chExt cx="17373600" cy="9378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9378255"/>
            </a:xfrm>
            <a:custGeom>
              <a:avLst/>
              <a:gdLst/>
              <a:ahLst/>
              <a:cxnLst/>
              <a:rect r="r" b="b" t="t" l="l"/>
              <a:pathLst>
                <a:path h="937825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378255"/>
                  </a:lnTo>
                  <a:lnTo>
                    <a:pt x="0" y="9378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46" r="0" b="3465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7373600" cy="9359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Hallucination Across</a:t>
              </a:r>
            </a:p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various Retrieval </a:t>
              </a:r>
            </a:p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Augmented Generation </a:t>
              </a:r>
            </a:p>
            <a:p>
              <a:pPr algn="l">
                <a:lnSpc>
                  <a:spcPts val="69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(RAG) Strategies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6240780"/>
            <a:ext cx="11384280" cy="960120"/>
            <a:chOff x="0" y="0"/>
            <a:chExt cx="1517904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790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036" r="0" b="-1810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17904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comparative study on how different RAG architecture influence LLM hallucinations.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53400">
            <a:off x="936127" y="7598093"/>
            <a:ext cx="3065516" cy="0"/>
          </a:xfrm>
          <a:prstGeom prst="line">
            <a:avLst/>
          </a:prstGeom>
          <a:ln cap="rnd" w="28575">
            <a:solidFill>
              <a:srgbClr val="E8664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60120" y="7886700"/>
            <a:ext cx="8183880" cy="891540"/>
            <a:chOff x="0" y="0"/>
            <a:chExt cx="16459200" cy="17930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0" cy="1793041"/>
            </a:xfrm>
            <a:custGeom>
              <a:avLst/>
              <a:gdLst/>
              <a:ahLst/>
              <a:cxnLst/>
              <a:rect r="r" b="b" t="t" l="l"/>
              <a:pathLst>
                <a:path h="1793041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793041"/>
                  </a:lnTo>
                  <a:lnTo>
                    <a:pt x="0" y="17930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463" r="0" b="-9926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6459200" cy="185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9AA6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ANKIT MAHTO - 13454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77872" y="-876271"/>
            <a:ext cx="4811821" cy="3516213"/>
            <a:chOff x="0" y="0"/>
            <a:chExt cx="6415761" cy="4688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15761" cy="4688284"/>
            </a:xfrm>
            <a:custGeom>
              <a:avLst/>
              <a:gdLst/>
              <a:ahLst/>
              <a:cxnLst/>
              <a:rect r="r" b="b" t="t" l="l"/>
              <a:pathLst>
                <a:path h="4688284" w="6415761">
                  <a:moveTo>
                    <a:pt x="0" y="0"/>
                  </a:moveTo>
                  <a:lnTo>
                    <a:pt x="6415761" y="0"/>
                  </a:lnTo>
                  <a:lnTo>
                    <a:pt x="6415761" y="4688284"/>
                  </a:lnTo>
                  <a:lnTo>
                    <a:pt x="0" y="46882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03" r="-128038" b="274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415761" cy="4697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95555" y="2115295"/>
            <a:ext cx="5760720" cy="6172200"/>
            <a:chOff x="0" y="0"/>
            <a:chExt cx="7680960" cy="822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80961" cy="8229600"/>
            </a:xfrm>
            <a:custGeom>
              <a:avLst/>
              <a:gdLst/>
              <a:ahLst/>
              <a:cxnLst/>
              <a:rect r="r" b="b" t="t" l="l"/>
              <a:pathLst>
                <a:path h="8229600" w="76809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461504" y="0"/>
                  </a:lnTo>
                  <a:cubicBezTo>
                    <a:pt x="7582662" y="0"/>
                    <a:pt x="7680961" y="98298"/>
                    <a:pt x="7680961" y="219456"/>
                  </a:cubicBezTo>
                  <a:lnTo>
                    <a:pt x="7680961" y="8010144"/>
                  </a:lnTo>
                  <a:cubicBezTo>
                    <a:pt x="7680961" y="8131301"/>
                    <a:pt x="7582662" y="8229600"/>
                    <a:pt x="7461504" y="8229600"/>
                  </a:cubicBezTo>
                  <a:lnTo>
                    <a:pt x="219456" y="8229600"/>
                  </a:lnTo>
                  <a:cubicBezTo>
                    <a:pt x="98298" y="8229600"/>
                    <a:pt x="0" y="8131302"/>
                    <a:pt x="0" y="801014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70080" y="2115295"/>
            <a:ext cx="5212080" cy="1645920"/>
            <a:chOff x="0" y="0"/>
            <a:chExt cx="694944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49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9494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59%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70080" y="3761215"/>
            <a:ext cx="5074920" cy="2057400"/>
            <a:chOff x="0" y="0"/>
            <a:chExt cx="6766560" cy="274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665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14" t="0" r="-201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76656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complex multi-hop questions caused hallucination in a zero-shot LLM with no retrieval at all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2129134" y="6014838"/>
            <a:ext cx="4956812" cy="19033"/>
          </a:xfrm>
          <a:prstGeom prst="line">
            <a:avLst/>
          </a:prstGeom>
          <a:ln cap="rnd" w="9525">
            <a:solidFill>
              <a:srgbClr val="44509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2070080" y="6298675"/>
            <a:ext cx="5074920" cy="1234440"/>
            <a:chOff x="0" y="0"/>
            <a:chExt cx="676656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76656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C7D0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Retrieval helps — but architecture-dependent gaps remain, and no single number tells you why.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526775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2526775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968806" y="1990621"/>
            <a:ext cx="8778240" cy="1758107"/>
            <a:chOff x="0" y="0"/>
            <a:chExt cx="11704320" cy="23441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0" cy="2344142"/>
            </a:xfrm>
            <a:custGeom>
              <a:avLst/>
              <a:gdLst/>
              <a:ahLst/>
              <a:cxnLst/>
              <a:rect r="r" b="b" t="t" l="l"/>
              <a:pathLst>
                <a:path h="234414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85" r="0" b="-1289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1704320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is retrieval-augmentation generation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68806" y="2639943"/>
            <a:ext cx="8778240" cy="1573285"/>
            <a:chOff x="0" y="0"/>
            <a:chExt cx="11704320" cy="20977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704320" cy="2097714"/>
            </a:xfrm>
            <a:custGeom>
              <a:avLst/>
              <a:gdLst/>
              <a:ahLst/>
              <a:cxnLst/>
              <a:rect r="r" b="b" t="t" l="l"/>
              <a:pathLst>
                <a:path h="209771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097714"/>
                  </a:lnTo>
                  <a:lnTo>
                    <a:pt x="0" y="2097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486" r="0" b="-4794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1704320" cy="2154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Handing an LLM context doesn't guarantee it uses it faithfully — retrieval quality varies wildly by architecture.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4515595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8700" y="4447015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88752" y="3910861"/>
            <a:ext cx="8778240" cy="1758107"/>
            <a:chOff x="0" y="0"/>
            <a:chExt cx="11704320" cy="23441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704320" cy="2344142"/>
            </a:xfrm>
            <a:custGeom>
              <a:avLst/>
              <a:gdLst/>
              <a:ahLst/>
              <a:cxnLst/>
              <a:rect r="r" b="b" t="t" l="l"/>
              <a:pathLst>
                <a:path h="234414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85" r="0" b="-1289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1704320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Different RAG designs, different risk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968806" y="4940674"/>
            <a:ext cx="8778240" cy="1234440"/>
            <a:chOff x="0" y="0"/>
            <a:chExt cx="11704320" cy="1645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704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17043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Naive, Graph, Hybrid, and Agentic RAG fail in different ways — and at different rates.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28700" y="6504415"/>
            <a:ext cx="685800" cy="685800"/>
            <a:chOff x="0" y="0"/>
            <a:chExt cx="91440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28700" y="655966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88752" y="6902560"/>
            <a:ext cx="8778240" cy="548640"/>
            <a:chOff x="0" y="0"/>
            <a:chExt cx="117043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043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17043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Ranking &gt; single-number claims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88752" y="7785022"/>
            <a:ext cx="8778240" cy="1234440"/>
            <a:chOff x="0" y="0"/>
            <a:chExt cx="11704320" cy="1645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04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17043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“Which RAG hallucinates least” needs a diagnostic answer, not a leaderboard entry.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282160" y="9710928"/>
            <a:ext cx="685800" cy="411480"/>
            <a:chOff x="0" y="0"/>
            <a:chExt cx="9144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E75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16908" y="-1147134"/>
            <a:ext cx="4522664" cy="3303594"/>
            <a:chOff x="0" y="0"/>
            <a:chExt cx="6030219" cy="4404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30219" cy="4404792"/>
            </a:xfrm>
            <a:custGeom>
              <a:avLst/>
              <a:gdLst/>
              <a:ahLst/>
              <a:cxnLst/>
              <a:rect r="r" b="b" t="t" l="l"/>
              <a:pathLst>
                <a:path h="4404792" w="6030219">
                  <a:moveTo>
                    <a:pt x="0" y="0"/>
                  </a:moveTo>
                  <a:lnTo>
                    <a:pt x="6030219" y="0"/>
                  </a:lnTo>
                  <a:lnTo>
                    <a:pt x="6030219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443" r="-203272" b="66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030219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4850" y="2156460"/>
            <a:ext cx="16064965" cy="770825"/>
            <a:chOff x="0" y="0"/>
            <a:chExt cx="18288000" cy="877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877491"/>
            </a:xfrm>
            <a:custGeom>
              <a:avLst/>
              <a:gdLst/>
              <a:ahLst/>
              <a:cxnLst/>
              <a:rect r="r" b="b" t="t" l="l"/>
              <a:pathLst>
                <a:path h="877491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77491"/>
                  </a:lnTo>
                  <a:lnTo>
                    <a:pt x="0" y="8774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4410" r="0" b="-3477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8288000" cy="963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19"/>
                </a:lnSpc>
              </a:pPr>
              <a:r>
                <a:rPr lang="en-US" sz="3849" i="true">
                  <a:solidFill>
                    <a:srgbClr val="6E75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RAG E</a:t>
              </a:r>
              <a:r>
                <a:rPr lang="en-US" sz="3849" i="true">
                  <a:solidFill>
                    <a:srgbClr val="6E75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vals vs. Hallucination Evals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449574"/>
            <a:ext cx="7818120" cy="6446520"/>
            <a:chOff x="0" y="0"/>
            <a:chExt cx="1042416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41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8412480"/>
                  </a:lnTo>
                  <a:cubicBezTo>
                    <a:pt x="10424160" y="8513445"/>
                    <a:pt x="10342245" y="8595360"/>
                    <a:pt x="1024128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449574"/>
            <a:ext cx="7818120" cy="754380"/>
            <a:chOff x="0" y="0"/>
            <a:chExt cx="1042416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822960"/>
                  </a:lnTo>
                  <a:cubicBezTo>
                    <a:pt x="10424160" y="923925"/>
                    <a:pt x="10342245" y="1005840"/>
                    <a:pt x="1024128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3449574"/>
            <a:ext cx="6995160" cy="754380"/>
            <a:chOff x="0" y="0"/>
            <a:chExt cx="932688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26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679" r="0" b="-13067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3268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1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RAG EVALS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95044" y="4203954"/>
            <a:ext cx="6995160" cy="480060"/>
            <a:chOff x="0" y="0"/>
            <a:chExt cx="932688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E75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Score the whole pipeline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4224528"/>
            <a:ext cx="123444" cy="123444"/>
            <a:chOff x="0" y="0"/>
            <a:chExt cx="164592" cy="164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14500" y="4917186"/>
            <a:ext cx="6652260" cy="1028700"/>
            <a:chOff x="0" y="0"/>
            <a:chExt cx="886968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69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03" r="0" b="-7600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8696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800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 precision — are retrieved chunks relevant?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1600" y="5417820"/>
            <a:ext cx="123444" cy="123444"/>
            <a:chOff x="0" y="0"/>
            <a:chExt cx="164592" cy="164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14500" y="6110478"/>
            <a:ext cx="6652260" cy="1028700"/>
            <a:chOff x="0" y="0"/>
            <a:chExt cx="886968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69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03" r="0" b="-7600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8696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800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 recall — was everything needed retrieved?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" y="6611112"/>
            <a:ext cx="123444" cy="123444"/>
            <a:chOff x="0" y="0"/>
            <a:chExt cx="164592" cy="164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14500" y="7303770"/>
            <a:ext cx="6652260" cy="1028700"/>
            <a:chOff x="0" y="0"/>
            <a:chExt cx="886968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69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03" r="0" b="-7600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8696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800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Faithfulness — does the answer match retrieved context?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1600" y="7804404"/>
            <a:ext cx="123444" cy="123444"/>
            <a:chOff x="0" y="0"/>
            <a:chExt cx="164592" cy="164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14500" y="8497062"/>
            <a:ext cx="6652260" cy="1028700"/>
            <a:chOff x="0" y="0"/>
            <a:chExt cx="886968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69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03" r="0" b="-7600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8696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800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 relevance — does it address the query?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32620" y="3449574"/>
            <a:ext cx="7818120" cy="6446520"/>
            <a:chOff x="0" y="0"/>
            <a:chExt cx="10424160" cy="859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2416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8412480"/>
                  </a:lnTo>
                  <a:cubicBezTo>
                    <a:pt x="10424160" y="8513445"/>
                    <a:pt x="10342245" y="8595360"/>
                    <a:pt x="1024128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F4F6F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32620" y="3449574"/>
            <a:ext cx="7818120" cy="754380"/>
            <a:chOff x="0" y="0"/>
            <a:chExt cx="1042416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24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822960"/>
                  </a:lnTo>
                  <a:cubicBezTo>
                    <a:pt x="10424160" y="923925"/>
                    <a:pt x="10342245" y="1005840"/>
                    <a:pt x="1024128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E8664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944100" y="3449574"/>
            <a:ext cx="6995160" cy="754380"/>
            <a:chOff x="0" y="0"/>
            <a:chExt cx="932688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326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679" r="0" b="-13067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93268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1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HALLUCINATION EVALS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44100" y="4382262"/>
            <a:ext cx="6995160" cy="480060"/>
            <a:chOff x="0" y="0"/>
            <a:chExt cx="932688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E75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Score the output on its own terms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944100" y="5136642"/>
            <a:ext cx="123444" cy="123444"/>
            <a:chOff x="0" y="0"/>
            <a:chExt cx="164592" cy="164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E8664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218420" y="4917186"/>
            <a:ext cx="6652260" cy="1028700"/>
            <a:chOff x="0" y="0"/>
            <a:chExt cx="8869680" cy="1371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869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03" r="0" b="-7600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8696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800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TruthfulQA — common-misconception factuality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44100" y="6329934"/>
            <a:ext cx="123444" cy="123444"/>
            <a:chOff x="0" y="0"/>
            <a:chExt cx="164592" cy="164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E8664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218420" y="6110478"/>
            <a:ext cx="6652260" cy="1028700"/>
            <a:chOff x="0" y="0"/>
            <a:chExt cx="8869680" cy="1371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869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03" r="0" b="-7600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8696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800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HaluEval — paired correct / hallucinated samples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944100" y="7523226"/>
            <a:ext cx="123444" cy="123444"/>
            <a:chOff x="0" y="0"/>
            <a:chExt cx="164592" cy="164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E8664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218420" y="7303770"/>
            <a:ext cx="6652260" cy="1028700"/>
            <a:chOff x="0" y="0"/>
            <a:chExt cx="8869680" cy="1371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869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03" r="0" b="-7600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8696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800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SelfCheckGPT — consistency across samples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944100" y="8716518"/>
            <a:ext cx="123444" cy="123444"/>
            <a:chOff x="0" y="0"/>
            <a:chExt cx="164592" cy="164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E8664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18420" y="8497062"/>
            <a:ext cx="6652260" cy="1028700"/>
            <a:chOff x="0" y="0"/>
            <a:chExt cx="8869680" cy="1371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869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03" r="0" b="-7600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86968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800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RAGTruth — word-level hallucination spans in RAG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282160" y="9710928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E75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24850" y="-235020"/>
            <a:ext cx="4522664" cy="3303594"/>
            <a:chOff x="0" y="0"/>
            <a:chExt cx="6030219" cy="44047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30219" cy="4404792"/>
            </a:xfrm>
            <a:custGeom>
              <a:avLst/>
              <a:gdLst/>
              <a:ahLst/>
              <a:cxnLst/>
              <a:rect r="r" b="b" t="t" l="l"/>
              <a:pathLst>
                <a:path h="4404792" w="6030219">
                  <a:moveTo>
                    <a:pt x="0" y="0"/>
                  </a:moveTo>
                  <a:lnTo>
                    <a:pt x="6030219" y="0"/>
                  </a:lnTo>
                  <a:lnTo>
                    <a:pt x="6030219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443" r="-203272" b="664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030219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Approach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822960"/>
            <a:chOff x="0" y="0"/>
            <a:chExt cx="146304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Proposed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57734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2880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three-layer diagnostic funnel — not a single hallucination score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37460" y="2811780"/>
            <a:ext cx="13167360" cy="1851660"/>
            <a:chOff x="0" y="0"/>
            <a:chExt cx="17556480" cy="246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56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755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7373600" y="0"/>
                  </a:lnTo>
                  <a:cubicBezTo>
                    <a:pt x="17474564" y="0"/>
                    <a:pt x="17556480" y="81915"/>
                    <a:pt x="17556480" y="182880"/>
                  </a:cubicBezTo>
                  <a:lnTo>
                    <a:pt x="17556480" y="2286000"/>
                  </a:lnTo>
                  <a:cubicBezTo>
                    <a:pt x="17556480" y="2386965"/>
                    <a:pt x="17474564" y="2468880"/>
                    <a:pt x="17373600" y="2468880"/>
                  </a:cubicBezTo>
                  <a:lnTo>
                    <a:pt x="182880" y="2468880"/>
                  </a:lnTo>
                  <a:cubicBezTo>
                    <a:pt x="81915" y="2468880"/>
                    <a:pt x="0" y="2386965"/>
                    <a:pt x="0" y="2286000"/>
                  </a:cubicBezTo>
                  <a:close/>
                </a:path>
              </a:pathLst>
            </a:custGeom>
            <a:solidFill>
              <a:srgbClr val="5E76C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80360" y="3017520"/>
            <a:ext cx="1234440" cy="1440180"/>
            <a:chOff x="0" y="0"/>
            <a:chExt cx="1645920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7D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114800" y="3017520"/>
            <a:ext cx="11247120" cy="576072"/>
            <a:chOff x="0" y="0"/>
            <a:chExt cx="1499616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96161" cy="768096"/>
            </a:xfrm>
            <a:custGeom>
              <a:avLst/>
              <a:gdLst/>
              <a:ahLst/>
              <a:cxnLst/>
              <a:rect r="r" b="b" t="t" l="l"/>
              <a:pathLst>
                <a:path h="768096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0422" r="0" b="-3304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499616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Retrieval Accuracy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14800" y="3744468"/>
            <a:ext cx="11247120" cy="822960"/>
            <a:chOff x="0" y="0"/>
            <a:chExt cx="1499616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961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9961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EAEE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 precision &amp; recall — did the strategy fetch the right information at all?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771900" y="5006340"/>
            <a:ext cx="10698480" cy="1851660"/>
            <a:chOff x="0" y="0"/>
            <a:chExt cx="14264640" cy="2468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264641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264641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4081761" y="0"/>
                  </a:lnTo>
                  <a:cubicBezTo>
                    <a:pt x="14182725" y="0"/>
                    <a:pt x="14264641" y="81915"/>
                    <a:pt x="14264641" y="182880"/>
                  </a:cubicBezTo>
                  <a:lnTo>
                    <a:pt x="14264641" y="2286000"/>
                  </a:lnTo>
                  <a:cubicBezTo>
                    <a:pt x="14264641" y="2386965"/>
                    <a:pt x="14182725" y="2468880"/>
                    <a:pt x="14081761" y="2468880"/>
                  </a:cubicBezTo>
                  <a:lnTo>
                    <a:pt x="182880" y="2468880"/>
                  </a:lnTo>
                  <a:cubicBezTo>
                    <a:pt x="81915" y="2468880"/>
                    <a:pt x="0" y="2386965"/>
                    <a:pt x="0" y="2286000"/>
                  </a:cubicBezTo>
                  <a:close/>
                </a:path>
              </a:pathLst>
            </a:custGeom>
            <a:solidFill>
              <a:srgbClr val="324A9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114800" y="5212080"/>
            <a:ext cx="1234440" cy="1440180"/>
            <a:chOff x="0" y="0"/>
            <a:chExt cx="1645920" cy="1920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7D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49240" y="5212080"/>
            <a:ext cx="8778240" cy="576072"/>
            <a:chOff x="0" y="0"/>
            <a:chExt cx="1170432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04320" cy="768096"/>
            </a:xfrm>
            <a:custGeom>
              <a:avLst/>
              <a:gdLst/>
              <a:ahLst/>
              <a:cxnLst/>
              <a:rect r="r" b="b" t="t" l="l"/>
              <a:pathLst>
                <a:path h="76809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14" r="0" b="-24691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17043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Faithfulness | Retrieval Correct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49240" y="5939028"/>
            <a:ext cx="8778240" cy="822960"/>
            <a:chOff x="0" y="0"/>
            <a:chExt cx="1170432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4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704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EAEE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Given correct context, did generation stay grounded — isolating pure LLM behavior?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06340" y="7200900"/>
            <a:ext cx="8229600" cy="1851660"/>
            <a:chOff x="0" y="0"/>
            <a:chExt cx="10972800" cy="2468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972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89920" y="0"/>
                  </a:lnTo>
                  <a:cubicBezTo>
                    <a:pt x="10890885" y="0"/>
                    <a:pt x="10972800" y="81915"/>
                    <a:pt x="10972800" y="182880"/>
                  </a:cubicBezTo>
                  <a:lnTo>
                    <a:pt x="10972800" y="2286000"/>
                  </a:lnTo>
                  <a:cubicBezTo>
                    <a:pt x="10972800" y="2386965"/>
                    <a:pt x="10890885" y="2468880"/>
                    <a:pt x="10789920" y="2468880"/>
                  </a:cubicBezTo>
                  <a:lnTo>
                    <a:pt x="182880" y="2468880"/>
                  </a:lnTo>
                  <a:cubicBezTo>
                    <a:pt x="81915" y="2468880"/>
                    <a:pt x="0" y="2386965"/>
                    <a:pt x="0" y="2286000"/>
                  </a:cubicBezTo>
                  <a:close/>
                </a:path>
              </a:pathLst>
            </a:custGeom>
            <a:solidFill>
              <a:srgbClr val="E8664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49240" y="7406640"/>
            <a:ext cx="1234440" cy="1440180"/>
            <a:chOff x="0" y="0"/>
            <a:chExt cx="1645920" cy="192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64592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C7D0F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83680" y="7406640"/>
            <a:ext cx="6309360" cy="576072"/>
            <a:chOff x="0" y="0"/>
            <a:chExt cx="841248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412480" cy="768096"/>
            </a:xfrm>
            <a:custGeom>
              <a:avLst/>
              <a:gdLst/>
              <a:ahLst/>
              <a:cxnLst/>
              <a:rect r="r" b="b" t="t" l="l"/>
              <a:pathLst>
                <a:path h="76809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407" r="0" b="-16340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41248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Factuality vs. Truth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83680" y="8133588"/>
            <a:ext cx="6309360" cy="822960"/>
            <a:chOff x="0" y="0"/>
            <a:chExt cx="84124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4124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EAEE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headline metric — claim-level accuracy against reality, blending both failure sources.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" y="9532620"/>
            <a:ext cx="16322040" cy="548640"/>
            <a:chOff x="0" y="0"/>
            <a:chExt cx="217627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762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AA6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Fixed generator LLM across all conditions  •  results reported per question-type (simple vs. multi-hop)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282160" y="9710928"/>
            <a:ext cx="685800" cy="411480"/>
            <a:chOff x="0" y="0"/>
            <a:chExt cx="914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E75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0024" y="-498693"/>
            <a:ext cx="10972800" cy="3516213"/>
            <a:chOff x="0" y="0"/>
            <a:chExt cx="14630400" cy="4688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4688284"/>
            </a:xfrm>
            <a:custGeom>
              <a:avLst/>
              <a:gdLst/>
              <a:ahLst/>
              <a:cxnLst/>
              <a:rect r="r" b="b" t="t" l="l"/>
              <a:pathLst>
                <a:path h="468828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688284"/>
                  </a:lnTo>
                  <a:lnTo>
                    <a:pt x="0" y="46882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103" r="0" b="274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4697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LLM Models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0024" y="1657395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2880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Top Open source models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3076" y="2678888"/>
            <a:ext cx="3771900" cy="3229137"/>
            <a:chOff x="0" y="0"/>
            <a:chExt cx="5029200" cy="43055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29200" cy="4305516"/>
            </a:xfrm>
            <a:custGeom>
              <a:avLst/>
              <a:gdLst/>
              <a:ahLst/>
              <a:cxnLst/>
              <a:rect r="r" b="b" t="t" l="l"/>
              <a:pathLst>
                <a:path h="4305516" w="5029200">
                  <a:moveTo>
                    <a:pt x="0" y="110398"/>
                  </a:moveTo>
                  <a:cubicBezTo>
                    <a:pt x="0" y="49449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49449"/>
                    <a:pt x="5029200" y="110398"/>
                  </a:cubicBezTo>
                  <a:lnTo>
                    <a:pt x="5029200" y="4195118"/>
                  </a:lnTo>
                  <a:cubicBezTo>
                    <a:pt x="5029200" y="4256067"/>
                    <a:pt x="4947285" y="4305516"/>
                    <a:pt x="4846320" y="4305516"/>
                  </a:cubicBezTo>
                  <a:lnTo>
                    <a:pt x="182880" y="4305516"/>
                  </a:lnTo>
                  <a:cubicBezTo>
                    <a:pt x="81915" y="4305515"/>
                    <a:pt x="0" y="4256067"/>
                    <a:pt x="0" y="4195118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77396" y="2332016"/>
            <a:ext cx="3223260" cy="1651797"/>
            <a:chOff x="0" y="0"/>
            <a:chExt cx="4297680" cy="22023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976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87" r="0" b="3914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2976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KIMI K3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5156" y="3157915"/>
            <a:ext cx="3487740" cy="2606040"/>
            <a:chOff x="0" y="0"/>
            <a:chExt cx="4650320" cy="3474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503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650320">
                  <a:moveTo>
                    <a:pt x="0" y="0"/>
                  </a:moveTo>
                  <a:lnTo>
                    <a:pt x="4650320" y="0"/>
                  </a:lnTo>
                  <a:lnTo>
                    <a:pt x="46503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626" t="0" r="-4011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65032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Parameters:  2.8 Trillion</a:t>
              </a:r>
            </a:p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Context length: 1 million token</a:t>
              </a:r>
            </a:p>
            <a:p>
              <a:pPr algn="ctr">
                <a:lnSpc>
                  <a:spcPts val="2771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Disk size: 1.56 TB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82160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E75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25118" y="2678888"/>
            <a:ext cx="3771900" cy="3229137"/>
            <a:chOff x="0" y="0"/>
            <a:chExt cx="5029200" cy="43055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29200" cy="4305516"/>
            </a:xfrm>
            <a:custGeom>
              <a:avLst/>
              <a:gdLst/>
              <a:ahLst/>
              <a:cxnLst/>
              <a:rect r="r" b="b" t="t" l="l"/>
              <a:pathLst>
                <a:path h="4305516" w="5029200">
                  <a:moveTo>
                    <a:pt x="0" y="110398"/>
                  </a:moveTo>
                  <a:cubicBezTo>
                    <a:pt x="0" y="49449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49449"/>
                    <a:pt x="5029200" y="110398"/>
                  </a:cubicBezTo>
                  <a:lnTo>
                    <a:pt x="5029200" y="4195118"/>
                  </a:lnTo>
                  <a:cubicBezTo>
                    <a:pt x="5029200" y="4256067"/>
                    <a:pt x="4947285" y="4305516"/>
                    <a:pt x="4846320" y="4305516"/>
                  </a:cubicBezTo>
                  <a:lnTo>
                    <a:pt x="182880" y="4305516"/>
                  </a:lnTo>
                  <a:cubicBezTo>
                    <a:pt x="81915" y="4305515"/>
                    <a:pt x="0" y="4256067"/>
                    <a:pt x="0" y="4195118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99438" y="2332016"/>
            <a:ext cx="3223260" cy="1651797"/>
            <a:chOff x="0" y="0"/>
            <a:chExt cx="4297680" cy="22023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976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87" r="0" b="3914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2976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GLM 5.2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67198" y="3157915"/>
            <a:ext cx="3487740" cy="2606040"/>
            <a:chOff x="0" y="0"/>
            <a:chExt cx="4650320" cy="3474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503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650320">
                  <a:moveTo>
                    <a:pt x="0" y="0"/>
                  </a:moveTo>
                  <a:lnTo>
                    <a:pt x="4650320" y="0"/>
                  </a:lnTo>
                  <a:lnTo>
                    <a:pt x="46503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626" t="0" r="-4011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65032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Parameters:  753 Billion</a:t>
              </a:r>
            </a:p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Context length: 1 million token</a:t>
              </a:r>
            </a:p>
            <a:p>
              <a:pPr algn="ctr">
                <a:lnSpc>
                  <a:spcPts val="2771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Disk size: 1.51 TB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19071" y="2678888"/>
            <a:ext cx="3771900" cy="3229137"/>
            <a:chOff x="0" y="0"/>
            <a:chExt cx="5029200" cy="43055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29200" cy="4305516"/>
            </a:xfrm>
            <a:custGeom>
              <a:avLst/>
              <a:gdLst/>
              <a:ahLst/>
              <a:cxnLst/>
              <a:rect r="r" b="b" t="t" l="l"/>
              <a:pathLst>
                <a:path h="4305516" w="5029200">
                  <a:moveTo>
                    <a:pt x="0" y="110398"/>
                  </a:moveTo>
                  <a:cubicBezTo>
                    <a:pt x="0" y="49449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49449"/>
                    <a:pt x="5029200" y="110398"/>
                  </a:cubicBezTo>
                  <a:lnTo>
                    <a:pt x="5029200" y="4195118"/>
                  </a:lnTo>
                  <a:cubicBezTo>
                    <a:pt x="5029200" y="4256067"/>
                    <a:pt x="4947285" y="4305516"/>
                    <a:pt x="4846320" y="4305516"/>
                  </a:cubicBezTo>
                  <a:lnTo>
                    <a:pt x="182880" y="4305516"/>
                  </a:lnTo>
                  <a:cubicBezTo>
                    <a:pt x="81915" y="4305515"/>
                    <a:pt x="0" y="4256067"/>
                    <a:pt x="0" y="4195118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93391" y="2332016"/>
            <a:ext cx="3223260" cy="1651797"/>
            <a:chOff x="0" y="0"/>
            <a:chExt cx="4297680" cy="22023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976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87" r="0" b="391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2976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Gemma 4 26B A4B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61151" y="3157915"/>
            <a:ext cx="3487740" cy="2606040"/>
            <a:chOff x="0" y="0"/>
            <a:chExt cx="4650320" cy="3474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503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650320">
                  <a:moveTo>
                    <a:pt x="0" y="0"/>
                  </a:moveTo>
                  <a:lnTo>
                    <a:pt x="4650320" y="0"/>
                  </a:lnTo>
                  <a:lnTo>
                    <a:pt x="46503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626" t="0" r="-4011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65032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Parameters:  26 Billion</a:t>
              </a:r>
            </a:p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Context length: 256K token</a:t>
              </a:r>
            </a:p>
            <a:p>
              <a:pPr algn="ctr">
                <a:lnSpc>
                  <a:spcPts val="2771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Disk size: 48 GB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13024" y="2678888"/>
            <a:ext cx="3771900" cy="3229137"/>
            <a:chOff x="0" y="0"/>
            <a:chExt cx="5029200" cy="43055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29200" cy="4305516"/>
            </a:xfrm>
            <a:custGeom>
              <a:avLst/>
              <a:gdLst/>
              <a:ahLst/>
              <a:cxnLst/>
              <a:rect r="r" b="b" t="t" l="l"/>
              <a:pathLst>
                <a:path h="4305516" w="5029200">
                  <a:moveTo>
                    <a:pt x="0" y="110398"/>
                  </a:moveTo>
                  <a:cubicBezTo>
                    <a:pt x="0" y="49449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49449"/>
                    <a:pt x="5029200" y="110398"/>
                  </a:cubicBezTo>
                  <a:lnTo>
                    <a:pt x="5029200" y="4195118"/>
                  </a:lnTo>
                  <a:cubicBezTo>
                    <a:pt x="5029200" y="4256067"/>
                    <a:pt x="4947285" y="4305516"/>
                    <a:pt x="4846320" y="4305516"/>
                  </a:cubicBezTo>
                  <a:lnTo>
                    <a:pt x="182880" y="4305516"/>
                  </a:lnTo>
                  <a:cubicBezTo>
                    <a:pt x="81915" y="4305515"/>
                    <a:pt x="0" y="4256067"/>
                    <a:pt x="0" y="4195118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887344" y="2332016"/>
            <a:ext cx="3223260" cy="1651797"/>
            <a:chOff x="0" y="0"/>
            <a:chExt cx="4297680" cy="22023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976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87" r="0" b="3914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2976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Deepseek V4 Pro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55104" y="3157915"/>
            <a:ext cx="3487740" cy="2606040"/>
            <a:chOff x="0" y="0"/>
            <a:chExt cx="4650320" cy="3474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503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650320">
                  <a:moveTo>
                    <a:pt x="0" y="0"/>
                  </a:moveTo>
                  <a:lnTo>
                    <a:pt x="4650320" y="0"/>
                  </a:lnTo>
                  <a:lnTo>
                    <a:pt x="46503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626" t="0" r="-4011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65032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Parameters:  1.6 Trillion</a:t>
              </a:r>
            </a:p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Context length: 1 million token</a:t>
              </a:r>
            </a:p>
            <a:p>
              <a:pPr algn="ctr">
                <a:lnSpc>
                  <a:spcPts val="2771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Disk size: 893 GB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044095" y="6380878"/>
            <a:ext cx="3771900" cy="3229137"/>
            <a:chOff x="0" y="0"/>
            <a:chExt cx="5029200" cy="43055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29200" cy="4305516"/>
            </a:xfrm>
            <a:custGeom>
              <a:avLst/>
              <a:gdLst/>
              <a:ahLst/>
              <a:cxnLst/>
              <a:rect r="r" b="b" t="t" l="l"/>
              <a:pathLst>
                <a:path h="4305516" w="5029200">
                  <a:moveTo>
                    <a:pt x="0" y="110398"/>
                  </a:moveTo>
                  <a:cubicBezTo>
                    <a:pt x="0" y="49449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49449"/>
                    <a:pt x="5029200" y="110398"/>
                  </a:cubicBezTo>
                  <a:lnTo>
                    <a:pt x="5029200" y="4195118"/>
                  </a:lnTo>
                  <a:cubicBezTo>
                    <a:pt x="5029200" y="4256067"/>
                    <a:pt x="4947285" y="4305516"/>
                    <a:pt x="4846320" y="4305516"/>
                  </a:cubicBezTo>
                  <a:lnTo>
                    <a:pt x="182880" y="4305516"/>
                  </a:lnTo>
                  <a:cubicBezTo>
                    <a:pt x="81915" y="4305515"/>
                    <a:pt x="0" y="4256067"/>
                    <a:pt x="0" y="4195118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318415" y="6034007"/>
            <a:ext cx="3223260" cy="1651797"/>
            <a:chOff x="0" y="0"/>
            <a:chExt cx="4297680" cy="22023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976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87" r="0" b="391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2976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Qwen 3.8-Max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186175" y="6859905"/>
            <a:ext cx="3487740" cy="2606040"/>
            <a:chOff x="0" y="0"/>
            <a:chExt cx="4650320" cy="3474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503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650320">
                  <a:moveTo>
                    <a:pt x="0" y="0"/>
                  </a:moveTo>
                  <a:lnTo>
                    <a:pt x="4650320" y="0"/>
                  </a:lnTo>
                  <a:lnTo>
                    <a:pt x="46503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626" t="0" r="-4011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65032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Parameters:  2.4 Trillion</a:t>
              </a:r>
            </a:p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Context length: 1 million token</a:t>
              </a:r>
            </a:p>
            <a:p>
              <a:pPr algn="ctr">
                <a:lnSpc>
                  <a:spcPts val="2771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Disk size: 1.2 TB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421625" y="6380878"/>
            <a:ext cx="3771900" cy="3229137"/>
            <a:chOff x="0" y="0"/>
            <a:chExt cx="5029200" cy="43055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29200" cy="4305516"/>
            </a:xfrm>
            <a:custGeom>
              <a:avLst/>
              <a:gdLst/>
              <a:ahLst/>
              <a:cxnLst/>
              <a:rect r="r" b="b" t="t" l="l"/>
              <a:pathLst>
                <a:path h="4305516" w="5029200">
                  <a:moveTo>
                    <a:pt x="0" y="110398"/>
                  </a:moveTo>
                  <a:cubicBezTo>
                    <a:pt x="0" y="49449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49449"/>
                    <a:pt x="5029200" y="110398"/>
                  </a:cubicBezTo>
                  <a:lnTo>
                    <a:pt x="5029200" y="4195118"/>
                  </a:lnTo>
                  <a:cubicBezTo>
                    <a:pt x="5029200" y="4256067"/>
                    <a:pt x="4947285" y="4305516"/>
                    <a:pt x="4846320" y="4305516"/>
                  </a:cubicBezTo>
                  <a:lnTo>
                    <a:pt x="182880" y="4305516"/>
                  </a:lnTo>
                  <a:cubicBezTo>
                    <a:pt x="81915" y="4305515"/>
                    <a:pt x="0" y="4256067"/>
                    <a:pt x="0" y="4195118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695945" y="6034007"/>
            <a:ext cx="3223260" cy="1651797"/>
            <a:chOff x="0" y="0"/>
            <a:chExt cx="4297680" cy="22023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976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87" r="0" b="391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2976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Llama 4 Maverick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63705" y="6859905"/>
            <a:ext cx="3487740" cy="2606040"/>
            <a:chOff x="0" y="0"/>
            <a:chExt cx="4650320" cy="3474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503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650320">
                  <a:moveTo>
                    <a:pt x="0" y="0"/>
                  </a:moveTo>
                  <a:lnTo>
                    <a:pt x="4650320" y="0"/>
                  </a:lnTo>
                  <a:lnTo>
                    <a:pt x="46503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626" t="0" r="-4011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465032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Parameters:  400 Billion</a:t>
              </a:r>
            </a:p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Context length: 1 million token</a:t>
              </a:r>
            </a:p>
            <a:p>
              <a:pPr algn="ctr">
                <a:lnSpc>
                  <a:spcPts val="2771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Disk size: 800 GB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72005" y="6380878"/>
            <a:ext cx="3771900" cy="3229137"/>
            <a:chOff x="0" y="0"/>
            <a:chExt cx="5029200" cy="43055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029200" cy="4305516"/>
            </a:xfrm>
            <a:custGeom>
              <a:avLst/>
              <a:gdLst/>
              <a:ahLst/>
              <a:cxnLst/>
              <a:rect r="r" b="b" t="t" l="l"/>
              <a:pathLst>
                <a:path h="4305516" w="5029200">
                  <a:moveTo>
                    <a:pt x="0" y="110398"/>
                  </a:moveTo>
                  <a:cubicBezTo>
                    <a:pt x="0" y="49449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49449"/>
                    <a:pt x="5029200" y="110398"/>
                  </a:cubicBezTo>
                  <a:lnTo>
                    <a:pt x="5029200" y="4195118"/>
                  </a:lnTo>
                  <a:cubicBezTo>
                    <a:pt x="5029200" y="4256067"/>
                    <a:pt x="4947285" y="4305516"/>
                    <a:pt x="4846320" y="4305516"/>
                  </a:cubicBezTo>
                  <a:lnTo>
                    <a:pt x="182880" y="4305516"/>
                  </a:lnTo>
                  <a:cubicBezTo>
                    <a:pt x="81915" y="4305515"/>
                    <a:pt x="0" y="4256067"/>
                    <a:pt x="0" y="4195118"/>
                  </a:cubicBezTo>
                  <a:close/>
                </a:path>
              </a:pathLst>
            </a:custGeom>
            <a:solidFill>
              <a:srgbClr val="26317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746325" y="6034007"/>
            <a:ext cx="3223260" cy="1651797"/>
            <a:chOff x="0" y="0"/>
            <a:chExt cx="4297680" cy="22023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97680" cy="2202396"/>
            </a:xfrm>
            <a:custGeom>
              <a:avLst/>
              <a:gdLst/>
              <a:ahLst/>
              <a:cxnLst/>
              <a:rect r="r" b="b" t="t" l="l"/>
              <a:pathLst>
                <a:path h="22023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87" r="0" b="391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297680" cy="2221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Min-Max M3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614085" y="6859905"/>
            <a:ext cx="3487740" cy="2606040"/>
            <a:chOff x="0" y="0"/>
            <a:chExt cx="4650320" cy="3474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503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650320">
                  <a:moveTo>
                    <a:pt x="0" y="0"/>
                  </a:moveTo>
                  <a:lnTo>
                    <a:pt x="4650320" y="0"/>
                  </a:lnTo>
                  <a:lnTo>
                    <a:pt x="46503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626" t="0" r="-4011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4650320" cy="349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Parameters:  428 Billion</a:t>
              </a:r>
            </a:p>
            <a:p>
              <a:pPr algn="ctr">
                <a:lnSpc>
                  <a:spcPts val="2770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Context length: 1 million token</a:t>
              </a:r>
            </a:p>
            <a:p>
              <a:pPr algn="ctr">
                <a:lnSpc>
                  <a:spcPts val="2771"/>
                </a:lnSpc>
              </a:pPr>
              <a:r>
                <a:rPr lang="en-US" sz="2124">
                  <a:solidFill>
                    <a:srgbClr val="D6DCF5"/>
                  </a:solidFill>
                  <a:latin typeface="DM Sans"/>
                  <a:ea typeface="DM Sans"/>
                  <a:cs typeface="DM Sans"/>
                  <a:sym typeface="DM Sans"/>
                </a:rPr>
                <a:t>Disk size: 128 GB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822960"/>
            <a:chOff x="0" y="0"/>
            <a:chExt cx="146304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Defining Hallucination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577340"/>
            <a:ext cx="12344400" cy="548640"/>
            <a:chOff x="0" y="0"/>
            <a:chExt cx="164592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45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6E75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Two independent axes — not one blanket term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00300"/>
            <a:ext cx="8229600" cy="480060"/>
            <a:chOff x="0" y="0"/>
            <a:chExt cx="109728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6E75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FAITHFULNESS  vs.  FACTUALITY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3007995"/>
            <a:ext cx="7974330" cy="2967990"/>
            <a:chOff x="0" y="0"/>
            <a:chExt cx="10632440" cy="3957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244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63244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448417" y="0"/>
                  </a:lnTo>
                  <a:cubicBezTo>
                    <a:pt x="10550017" y="0"/>
                    <a:pt x="10632440" y="82423"/>
                    <a:pt x="10632440" y="184023"/>
                  </a:cubicBezTo>
                  <a:lnTo>
                    <a:pt x="10632440" y="3773297"/>
                  </a:lnTo>
                  <a:cubicBezTo>
                    <a:pt x="10632440" y="3874897"/>
                    <a:pt x="10550017" y="3957320"/>
                    <a:pt x="10448417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F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1600" y="3360420"/>
            <a:ext cx="301752" cy="301752"/>
            <a:chOff x="0" y="0"/>
            <a:chExt cx="402336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51660" y="3264408"/>
            <a:ext cx="6652260" cy="548640"/>
            <a:chOff x="0" y="0"/>
            <a:chExt cx="88696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8869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Faithful + Factual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4046220"/>
            <a:ext cx="7132320" cy="1645920"/>
            <a:chOff x="0" y="0"/>
            <a:chExt cx="9509760" cy="219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5097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Grounded in context, and true. The goal state.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17355" y="3007995"/>
            <a:ext cx="7974330" cy="2967990"/>
            <a:chOff x="0" y="0"/>
            <a:chExt cx="10632440" cy="3957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3244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63244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448417" y="0"/>
                  </a:lnTo>
                  <a:cubicBezTo>
                    <a:pt x="10550017" y="0"/>
                    <a:pt x="10632440" y="82423"/>
                    <a:pt x="10632440" y="184023"/>
                  </a:cubicBezTo>
                  <a:lnTo>
                    <a:pt x="10632440" y="3773297"/>
                  </a:lnTo>
                  <a:cubicBezTo>
                    <a:pt x="10632440" y="3874897"/>
                    <a:pt x="10550017" y="3957320"/>
                    <a:pt x="10448417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F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738360" y="3360420"/>
            <a:ext cx="301752" cy="301752"/>
            <a:chOff x="0" y="0"/>
            <a:chExt cx="402336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5E76C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18420" y="3264408"/>
            <a:ext cx="6652260" cy="548640"/>
            <a:chOff x="0" y="0"/>
            <a:chExt cx="886968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869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Faithful, not Factual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38360" y="4046220"/>
            <a:ext cx="7132320" cy="1645920"/>
            <a:chOff x="0" y="0"/>
            <a:chExt cx="9509760" cy="2194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5097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Matches the retrieved context exactly — but the source itself was wrong or stale.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0595" y="6231255"/>
            <a:ext cx="7974330" cy="2967990"/>
            <a:chOff x="0" y="0"/>
            <a:chExt cx="10632440" cy="39573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3244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63244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448417" y="0"/>
                  </a:lnTo>
                  <a:cubicBezTo>
                    <a:pt x="10550017" y="0"/>
                    <a:pt x="10632440" y="82423"/>
                    <a:pt x="10632440" y="184023"/>
                  </a:cubicBezTo>
                  <a:lnTo>
                    <a:pt x="10632440" y="3773297"/>
                  </a:lnTo>
                  <a:cubicBezTo>
                    <a:pt x="10632440" y="3874897"/>
                    <a:pt x="10550017" y="3957320"/>
                    <a:pt x="10448417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F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71600" y="6583680"/>
            <a:ext cx="301752" cy="301752"/>
            <a:chOff x="0" y="0"/>
            <a:chExt cx="402336" cy="402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324A9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851660" y="6487668"/>
            <a:ext cx="6652260" cy="548640"/>
            <a:chOff x="0" y="0"/>
            <a:chExt cx="886968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869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Factual, not Faithful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600" y="7269480"/>
            <a:ext cx="7132320" cy="1645920"/>
            <a:chOff x="0" y="0"/>
            <a:chExt cx="9509760" cy="2194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5097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answer happens to be true, but ignores or contradicts what was retrieved.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17355" y="6231255"/>
            <a:ext cx="7974330" cy="2967990"/>
            <a:chOff x="0" y="0"/>
            <a:chExt cx="10632440" cy="39573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32440" cy="3957320"/>
            </a:xfrm>
            <a:custGeom>
              <a:avLst/>
              <a:gdLst/>
              <a:ahLst/>
              <a:cxnLst/>
              <a:rect r="r" b="b" t="t" l="l"/>
              <a:pathLst>
                <a:path h="3957320" w="1063244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448417" y="0"/>
                  </a:lnTo>
                  <a:cubicBezTo>
                    <a:pt x="10550017" y="0"/>
                    <a:pt x="10632440" y="82423"/>
                    <a:pt x="10632440" y="184023"/>
                  </a:cubicBezTo>
                  <a:lnTo>
                    <a:pt x="10632440" y="3773297"/>
                  </a:lnTo>
                  <a:cubicBezTo>
                    <a:pt x="10632440" y="3874897"/>
                    <a:pt x="10550017" y="3957320"/>
                    <a:pt x="10448417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2F5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738360" y="6583680"/>
            <a:ext cx="301752" cy="301752"/>
            <a:chOff x="0" y="0"/>
            <a:chExt cx="402336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8664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218420" y="6487668"/>
            <a:ext cx="6652260" cy="548640"/>
            <a:chOff x="0" y="0"/>
            <a:chExt cx="886968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869680" cy="731520"/>
            </a:xfrm>
            <a:custGeom>
              <a:avLst/>
              <a:gdLst/>
              <a:ahLst/>
              <a:cxnLst/>
              <a:rect r="r" b="b" t="t" l="l"/>
              <a:pathLst>
                <a:path h="73152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88696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Neither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738360" y="7269480"/>
            <a:ext cx="7132320" cy="1645920"/>
            <a:chOff x="0" y="0"/>
            <a:chExt cx="9509760" cy="2194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95097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2B2B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Contradicts context AND reality — the clearest hallucination case.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282160" y="9710928"/>
            <a:ext cx="685800" cy="411480"/>
            <a:chOff x="0" y="0"/>
            <a:chExt cx="914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E759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DAHTpVOoMRE</dc:identifier>
  <dcterms:modified xsi:type="dcterms:W3CDTF">2011-08-01T06:04:30Z</dcterms:modified>
  <cp:revision>1</cp:revision>
  <dc:title>Hallucination Across Retrieval-Augmented Generation Strategies</dc:title>
</cp:coreProperties>
</file>